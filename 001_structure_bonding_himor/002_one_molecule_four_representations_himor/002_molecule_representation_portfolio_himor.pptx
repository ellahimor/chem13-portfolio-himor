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0693400" cy="7556500"/>
  <p:notesSz cx="6858000" cy="9144000"/>
  <p:embeddedFontLst>
    <p:embeddedFont>
      <p:font typeface="Open Sauce" charset="1" panose="00000500000000000000"/>
      <p:regular r:id="rId16"/>
    </p:embeddedFont>
    <p:embeddedFont>
      <p:font typeface="Canva Sans Bold" charset="1" panose="020B0803030501040103"/>
      <p:regular r:id="rId17"/>
    </p:embeddedFont>
    <p:embeddedFont>
      <p:font typeface="Horizon" charset="1" panose="02000500000000000000"/>
      <p:regular r:id="rId18"/>
    </p:embeddedFont>
    <p:embeddedFont>
      <p:font typeface="Archivo Black" charset="1" panose="020B0A03020202020B04"/>
      <p:regular r:id="rId19"/>
    </p:embeddedFont>
    <p:embeddedFont>
      <p:font typeface="Impact" charset="1" panose="020B0806030902050204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3E4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63023" y="1414346"/>
            <a:ext cx="8565953" cy="5366374"/>
            <a:chOff x="0" y="0"/>
            <a:chExt cx="11421271" cy="7155165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232350"/>
              <a:ext cx="5556832" cy="3078532"/>
              <a:chOff x="0" y="0"/>
              <a:chExt cx="635000" cy="351795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635000" cy="351795"/>
              </a:xfrm>
              <a:custGeom>
                <a:avLst/>
                <a:gdLst/>
                <a:ahLst/>
                <a:cxnLst/>
                <a:rect r="r" b="b" t="t" l="l"/>
                <a:pathLst>
                  <a:path h="351795" w="635000">
                    <a:moveTo>
                      <a:pt x="42087" y="0"/>
                    </a:moveTo>
                    <a:lnTo>
                      <a:pt x="592913" y="0"/>
                    </a:lnTo>
                    <a:cubicBezTo>
                      <a:pt x="616157" y="0"/>
                      <a:pt x="635000" y="18843"/>
                      <a:pt x="635000" y="42087"/>
                    </a:cubicBezTo>
                    <a:lnTo>
                      <a:pt x="635000" y="309708"/>
                    </a:lnTo>
                    <a:cubicBezTo>
                      <a:pt x="635000" y="332952"/>
                      <a:pt x="616157" y="351795"/>
                      <a:pt x="592913" y="351795"/>
                    </a:cubicBezTo>
                    <a:lnTo>
                      <a:pt x="42087" y="351795"/>
                    </a:lnTo>
                    <a:cubicBezTo>
                      <a:pt x="18843" y="351795"/>
                      <a:pt x="0" y="332952"/>
                      <a:pt x="0" y="309708"/>
                    </a:cubicBezTo>
                    <a:lnTo>
                      <a:pt x="0" y="42087"/>
                    </a:lnTo>
                    <a:cubicBezTo>
                      <a:pt x="0" y="18843"/>
                      <a:pt x="18843" y="0"/>
                      <a:pt x="4208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rnd">
                <a:noFill/>
                <a:prstDash val="sysDot"/>
                <a:round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38100"/>
                <a:ext cx="635000" cy="38989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820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849109" y="0"/>
              <a:ext cx="3799999" cy="495222"/>
              <a:chOff x="0" y="0"/>
              <a:chExt cx="1061224" cy="138301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1061224" cy="138301"/>
              </a:xfrm>
              <a:custGeom>
                <a:avLst/>
                <a:gdLst/>
                <a:ahLst/>
                <a:cxnLst/>
                <a:rect r="r" b="b" t="t" l="l"/>
                <a:pathLst>
                  <a:path h="138301" w="1061224">
                    <a:moveTo>
                      <a:pt x="69150" y="0"/>
                    </a:moveTo>
                    <a:lnTo>
                      <a:pt x="992073" y="0"/>
                    </a:lnTo>
                    <a:cubicBezTo>
                      <a:pt x="1010413" y="0"/>
                      <a:pt x="1028002" y="7285"/>
                      <a:pt x="1040970" y="20254"/>
                    </a:cubicBezTo>
                    <a:cubicBezTo>
                      <a:pt x="1053938" y="33222"/>
                      <a:pt x="1061224" y="50810"/>
                      <a:pt x="1061224" y="69150"/>
                    </a:cubicBezTo>
                    <a:lnTo>
                      <a:pt x="1061224" y="69150"/>
                    </a:lnTo>
                    <a:cubicBezTo>
                      <a:pt x="1061224" y="87490"/>
                      <a:pt x="1053938" y="105079"/>
                      <a:pt x="1040970" y="118047"/>
                    </a:cubicBezTo>
                    <a:cubicBezTo>
                      <a:pt x="1028002" y="131015"/>
                      <a:pt x="1010413" y="138301"/>
                      <a:pt x="992073" y="138301"/>
                    </a:cubicBezTo>
                    <a:lnTo>
                      <a:pt x="69150" y="138301"/>
                    </a:lnTo>
                    <a:cubicBezTo>
                      <a:pt x="50810" y="138301"/>
                      <a:pt x="33222" y="131015"/>
                      <a:pt x="20254" y="118047"/>
                    </a:cubicBezTo>
                    <a:cubicBezTo>
                      <a:pt x="7285" y="105079"/>
                      <a:pt x="0" y="87490"/>
                      <a:pt x="0" y="69150"/>
                    </a:cubicBezTo>
                    <a:lnTo>
                      <a:pt x="0" y="69150"/>
                    </a:lnTo>
                    <a:cubicBezTo>
                      <a:pt x="0" y="50810"/>
                      <a:pt x="7285" y="33222"/>
                      <a:pt x="20254" y="20254"/>
                    </a:cubicBezTo>
                    <a:cubicBezTo>
                      <a:pt x="33222" y="7285"/>
                      <a:pt x="50810" y="0"/>
                      <a:pt x="69150" y="0"/>
                    </a:cubicBezTo>
                    <a:close/>
                  </a:path>
                </a:pathLst>
              </a:custGeom>
              <a:solidFill>
                <a:srgbClr val="004AAD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38100"/>
                <a:ext cx="1061224" cy="176401"/>
              </a:xfrm>
              <a:prstGeom prst="rect">
                <a:avLst/>
              </a:prstGeom>
            </p:spPr>
            <p:txBody>
              <a:bodyPr anchor="ctr" rtlCol="false" tIns="48892" lIns="48892" bIns="48892" rIns="48892"/>
              <a:lstStyle/>
              <a:p>
                <a:pPr algn="ctr">
                  <a:lnSpc>
                    <a:spcPts val="1820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9" id="9"/>
            <p:cNvSpPr txBox="true"/>
            <p:nvPr/>
          </p:nvSpPr>
          <p:spPr>
            <a:xfrm rot="0">
              <a:off x="994956" y="8931"/>
              <a:ext cx="3436342" cy="42994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701"/>
                </a:lnSpc>
                <a:spcBef>
                  <a:spcPct val="0"/>
                </a:spcBef>
              </a:pPr>
              <a:r>
                <a:rPr lang="en-US" sz="1929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Molecular Formula</a:t>
              </a:r>
            </a:p>
          </p:txBody>
        </p:sp>
        <p:grpSp>
          <p:nvGrpSpPr>
            <p:cNvPr name="Group 10" id="10"/>
            <p:cNvGrpSpPr/>
            <p:nvPr/>
          </p:nvGrpSpPr>
          <p:grpSpPr>
            <a:xfrm rot="0">
              <a:off x="5864439" y="232350"/>
              <a:ext cx="5556832" cy="3078532"/>
              <a:chOff x="0" y="0"/>
              <a:chExt cx="635000" cy="351795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635000" cy="351795"/>
              </a:xfrm>
              <a:custGeom>
                <a:avLst/>
                <a:gdLst/>
                <a:ahLst/>
                <a:cxnLst/>
                <a:rect r="r" b="b" t="t" l="l"/>
                <a:pathLst>
                  <a:path h="351795" w="635000">
                    <a:moveTo>
                      <a:pt x="42087" y="0"/>
                    </a:moveTo>
                    <a:lnTo>
                      <a:pt x="592913" y="0"/>
                    </a:lnTo>
                    <a:cubicBezTo>
                      <a:pt x="616157" y="0"/>
                      <a:pt x="635000" y="18843"/>
                      <a:pt x="635000" y="42087"/>
                    </a:cubicBezTo>
                    <a:lnTo>
                      <a:pt x="635000" y="309708"/>
                    </a:lnTo>
                    <a:cubicBezTo>
                      <a:pt x="635000" y="332952"/>
                      <a:pt x="616157" y="351795"/>
                      <a:pt x="592913" y="351795"/>
                    </a:cubicBezTo>
                    <a:lnTo>
                      <a:pt x="42087" y="351795"/>
                    </a:lnTo>
                    <a:cubicBezTo>
                      <a:pt x="18843" y="351795"/>
                      <a:pt x="0" y="332952"/>
                      <a:pt x="0" y="309708"/>
                    </a:cubicBezTo>
                    <a:lnTo>
                      <a:pt x="0" y="42087"/>
                    </a:lnTo>
                    <a:cubicBezTo>
                      <a:pt x="0" y="18843"/>
                      <a:pt x="18843" y="0"/>
                      <a:pt x="4208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rnd">
                <a:noFill/>
                <a:prstDash val="sysDot"/>
                <a:round/>
              </a:ln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28575"/>
                <a:ext cx="635000" cy="38037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60"/>
                  </a:lnSpc>
                </a:pPr>
              </a:p>
            </p:txBody>
          </p:sp>
        </p:grpSp>
        <p:grpSp>
          <p:nvGrpSpPr>
            <p:cNvPr name="Group 13" id="13"/>
            <p:cNvGrpSpPr/>
            <p:nvPr/>
          </p:nvGrpSpPr>
          <p:grpSpPr>
            <a:xfrm rot="0">
              <a:off x="6713548" y="0"/>
              <a:ext cx="3799999" cy="495222"/>
              <a:chOff x="0" y="0"/>
              <a:chExt cx="1061224" cy="138301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1061224" cy="138301"/>
              </a:xfrm>
              <a:custGeom>
                <a:avLst/>
                <a:gdLst/>
                <a:ahLst/>
                <a:cxnLst/>
                <a:rect r="r" b="b" t="t" l="l"/>
                <a:pathLst>
                  <a:path h="138301" w="1061224">
                    <a:moveTo>
                      <a:pt x="69150" y="0"/>
                    </a:moveTo>
                    <a:lnTo>
                      <a:pt x="992073" y="0"/>
                    </a:lnTo>
                    <a:cubicBezTo>
                      <a:pt x="1010413" y="0"/>
                      <a:pt x="1028002" y="7285"/>
                      <a:pt x="1040970" y="20254"/>
                    </a:cubicBezTo>
                    <a:cubicBezTo>
                      <a:pt x="1053938" y="33222"/>
                      <a:pt x="1061224" y="50810"/>
                      <a:pt x="1061224" y="69150"/>
                    </a:cubicBezTo>
                    <a:lnTo>
                      <a:pt x="1061224" y="69150"/>
                    </a:lnTo>
                    <a:cubicBezTo>
                      <a:pt x="1061224" y="87490"/>
                      <a:pt x="1053938" y="105079"/>
                      <a:pt x="1040970" y="118047"/>
                    </a:cubicBezTo>
                    <a:cubicBezTo>
                      <a:pt x="1028002" y="131015"/>
                      <a:pt x="1010413" y="138301"/>
                      <a:pt x="992073" y="138301"/>
                    </a:cubicBezTo>
                    <a:lnTo>
                      <a:pt x="69150" y="138301"/>
                    </a:lnTo>
                    <a:cubicBezTo>
                      <a:pt x="50810" y="138301"/>
                      <a:pt x="33222" y="131015"/>
                      <a:pt x="20254" y="118047"/>
                    </a:cubicBezTo>
                    <a:cubicBezTo>
                      <a:pt x="7285" y="105079"/>
                      <a:pt x="0" y="87490"/>
                      <a:pt x="0" y="69150"/>
                    </a:cubicBezTo>
                    <a:lnTo>
                      <a:pt x="0" y="69150"/>
                    </a:lnTo>
                    <a:cubicBezTo>
                      <a:pt x="0" y="50810"/>
                      <a:pt x="7285" y="33222"/>
                      <a:pt x="20254" y="20254"/>
                    </a:cubicBezTo>
                    <a:cubicBezTo>
                      <a:pt x="33222" y="7285"/>
                      <a:pt x="50810" y="0"/>
                      <a:pt x="69150" y="0"/>
                    </a:cubicBezTo>
                    <a:close/>
                  </a:path>
                </a:pathLst>
              </a:custGeom>
              <a:solidFill>
                <a:srgbClr val="004AAD"/>
              </a:solidFill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0" y="-28575"/>
                <a:ext cx="1061224" cy="166876"/>
              </a:xfrm>
              <a:prstGeom prst="rect">
                <a:avLst/>
              </a:prstGeom>
            </p:spPr>
            <p:txBody>
              <a:bodyPr anchor="ctr" rtlCol="false" tIns="48892" lIns="48892" bIns="48892" rIns="48892"/>
              <a:lstStyle/>
              <a:p>
                <a:pPr algn="ctr">
                  <a:lnSpc>
                    <a:spcPts val="1960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16" id="16"/>
            <p:cNvSpPr txBox="true"/>
            <p:nvPr/>
          </p:nvSpPr>
          <p:spPr>
            <a:xfrm rot="0">
              <a:off x="6859395" y="8931"/>
              <a:ext cx="3436342" cy="42994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701"/>
                </a:lnSpc>
                <a:spcBef>
                  <a:spcPct val="0"/>
                </a:spcBef>
              </a:pPr>
              <a:r>
                <a:rPr lang="en-US" sz="1929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Lewis Structure</a:t>
              </a:r>
            </a:p>
          </p:txBody>
        </p:sp>
        <p:grpSp>
          <p:nvGrpSpPr>
            <p:cNvPr name="Group 17" id="17"/>
            <p:cNvGrpSpPr/>
            <p:nvPr/>
          </p:nvGrpSpPr>
          <p:grpSpPr>
            <a:xfrm rot="0">
              <a:off x="0" y="4076632"/>
              <a:ext cx="5556832" cy="3078532"/>
              <a:chOff x="0" y="0"/>
              <a:chExt cx="635000" cy="351795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635000" cy="351795"/>
              </a:xfrm>
              <a:custGeom>
                <a:avLst/>
                <a:gdLst/>
                <a:ahLst/>
                <a:cxnLst/>
                <a:rect r="r" b="b" t="t" l="l"/>
                <a:pathLst>
                  <a:path h="351795" w="635000">
                    <a:moveTo>
                      <a:pt x="42087" y="0"/>
                    </a:moveTo>
                    <a:lnTo>
                      <a:pt x="592913" y="0"/>
                    </a:lnTo>
                    <a:cubicBezTo>
                      <a:pt x="616157" y="0"/>
                      <a:pt x="635000" y="18843"/>
                      <a:pt x="635000" y="42087"/>
                    </a:cubicBezTo>
                    <a:lnTo>
                      <a:pt x="635000" y="309708"/>
                    </a:lnTo>
                    <a:cubicBezTo>
                      <a:pt x="635000" y="332952"/>
                      <a:pt x="616157" y="351795"/>
                      <a:pt x="592913" y="351795"/>
                    </a:cubicBezTo>
                    <a:lnTo>
                      <a:pt x="42087" y="351795"/>
                    </a:lnTo>
                    <a:cubicBezTo>
                      <a:pt x="18843" y="351795"/>
                      <a:pt x="0" y="332952"/>
                      <a:pt x="0" y="309708"/>
                    </a:cubicBezTo>
                    <a:lnTo>
                      <a:pt x="0" y="42087"/>
                    </a:lnTo>
                    <a:cubicBezTo>
                      <a:pt x="0" y="18843"/>
                      <a:pt x="18843" y="0"/>
                      <a:pt x="4208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rnd">
                <a:noFill/>
                <a:prstDash val="sysDot"/>
                <a:round/>
              </a:ln>
            </p:spPr>
          </p:sp>
          <p:sp>
            <p:nvSpPr>
              <p:cNvPr name="TextBox 19" id="19"/>
              <p:cNvSpPr txBox="true"/>
              <p:nvPr/>
            </p:nvSpPr>
            <p:spPr>
              <a:xfrm>
                <a:off x="0" y="-28575"/>
                <a:ext cx="635000" cy="38037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60"/>
                  </a:lnSpc>
                </a:pPr>
              </a:p>
            </p:txBody>
          </p:sp>
        </p:grpSp>
        <p:grpSp>
          <p:nvGrpSpPr>
            <p:cNvPr name="Group 20" id="20"/>
            <p:cNvGrpSpPr/>
            <p:nvPr/>
          </p:nvGrpSpPr>
          <p:grpSpPr>
            <a:xfrm rot="0">
              <a:off x="510787" y="3891314"/>
              <a:ext cx="4535257" cy="495222"/>
              <a:chOff x="0" y="0"/>
              <a:chExt cx="1266559" cy="138301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0" y="0"/>
                <a:ext cx="1266559" cy="138301"/>
              </a:xfrm>
              <a:custGeom>
                <a:avLst/>
                <a:gdLst/>
                <a:ahLst/>
                <a:cxnLst/>
                <a:rect r="r" b="b" t="t" l="l"/>
                <a:pathLst>
                  <a:path h="138301" w="1266559">
                    <a:moveTo>
                      <a:pt x="69150" y="0"/>
                    </a:moveTo>
                    <a:lnTo>
                      <a:pt x="1197409" y="0"/>
                    </a:lnTo>
                    <a:cubicBezTo>
                      <a:pt x="1235599" y="0"/>
                      <a:pt x="1266559" y="30960"/>
                      <a:pt x="1266559" y="69150"/>
                    </a:cubicBezTo>
                    <a:lnTo>
                      <a:pt x="1266559" y="69150"/>
                    </a:lnTo>
                    <a:cubicBezTo>
                      <a:pt x="1266559" y="87490"/>
                      <a:pt x="1259273" y="105079"/>
                      <a:pt x="1246305" y="118047"/>
                    </a:cubicBezTo>
                    <a:cubicBezTo>
                      <a:pt x="1233337" y="131015"/>
                      <a:pt x="1215748" y="138301"/>
                      <a:pt x="1197409" y="138301"/>
                    </a:cubicBezTo>
                    <a:lnTo>
                      <a:pt x="69150" y="138301"/>
                    </a:lnTo>
                    <a:cubicBezTo>
                      <a:pt x="50810" y="138301"/>
                      <a:pt x="33222" y="131015"/>
                      <a:pt x="20254" y="118047"/>
                    </a:cubicBezTo>
                    <a:cubicBezTo>
                      <a:pt x="7285" y="105079"/>
                      <a:pt x="0" y="87490"/>
                      <a:pt x="0" y="69150"/>
                    </a:cubicBezTo>
                    <a:lnTo>
                      <a:pt x="0" y="69150"/>
                    </a:lnTo>
                    <a:cubicBezTo>
                      <a:pt x="0" y="50810"/>
                      <a:pt x="7285" y="33222"/>
                      <a:pt x="20254" y="20254"/>
                    </a:cubicBezTo>
                    <a:cubicBezTo>
                      <a:pt x="33222" y="7285"/>
                      <a:pt x="50810" y="0"/>
                      <a:pt x="69150" y="0"/>
                    </a:cubicBezTo>
                    <a:close/>
                  </a:path>
                </a:pathLst>
              </a:custGeom>
              <a:solidFill>
                <a:srgbClr val="004AAD"/>
              </a:solidFill>
            </p:spPr>
          </p:sp>
          <p:sp>
            <p:nvSpPr>
              <p:cNvPr name="TextBox 22" id="22"/>
              <p:cNvSpPr txBox="true"/>
              <p:nvPr/>
            </p:nvSpPr>
            <p:spPr>
              <a:xfrm>
                <a:off x="0" y="-28575"/>
                <a:ext cx="1266559" cy="166876"/>
              </a:xfrm>
              <a:prstGeom prst="rect">
                <a:avLst/>
              </a:prstGeom>
            </p:spPr>
            <p:txBody>
              <a:bodyPr anchor="ctr" rtlCol="false" tIns="48892" lIns="48892" bIns="48892" rIns="48892"/>
              <a:lstStyle/>
              <a:p>
                <a:pPr algn="ctr">
                  <a:lnSpc>
                    <a:spcPts val="1960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23" id="23"/>
            <p:cNvSpPr txBox="true"/>
            <p:nvPr/>
          </p:nvSpPr>
          <p:spPr>
            <a:xfrm rot="0">
              <a:off x="636817" y="3937400"/>
              <a:ext cx="4283198" cy="3649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315"/>
                </a:lnSpc>
                <a:spcBef>
                  <a:spcPct val="0"/>
                </a:spcBef>
              </a:pPr>
              <a:r>
                <a:rPr lang="en-US" sz="1653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Condensed Structural Formula</a:t>
              </a:r>
            </a:p>
          </p:txBody>
        </p:sp>
        <p:grpSp>
          <p:nvGrpSpPr>
            <p:cNvPr name="Group 24" id="24"/>
            <p:cNvGrpSpPr/>
            <p:nvPr/>
          </p:nvGrpSpPr>
          <p:grpSpPr>
            <a:xfrm rot="0">
              <a:off x="5864439" y="4076632"/>
              <a:ext cx="5556832" cy="3078532"/>
              <a:chOff x="0" y="0"/>
              <a:chExt cx="635000" cy="351795"/>
            </a:xfrm>
          </p:grpSpPr>
          <p:sp>
            <p:nvSpPr>
              <p:cNvPr name="Freeform 25" id="25"/>
              <p:cNvSpPr/>
              <p:nvPr/>
            </p:nvSpPr>
            <p:spPr>
              <a:xfrm flipH="false" flipV="false" rot="0">
                <a:off x="0" y="0"/>
                <a:ext cx="635000" cy="351795"/>
              </a:xfrm>
              <a:custGeom>
                <a:avLst/>
                <a:gdLst/>
                <a:ahLst/>
                <a:cxnLst/>
                <a:rect r="r" b="b" t="t" l="l"/>
                <a:pathLst>
                  <a:path h="351795" w="635000">
                    <a:moveTo>
                      <a:pt x="42087" y="0"/>
                    </a:moveTo>
                    <a:lnTo>
                      <a:pt x="592913" y="0"/>
                    </a:lnTo>
                    <a:cubicBezTo>
                      <a:pt x="616157" y="0"/>
                      <a:pt x="635000" y="18843"/>
                      <a:pt x="635000" y="42087"/>
                    </a:cubicBezTo>
                    <a:lnTo>
                      <a:pt x="635000" y="309708"/>
                    </a:lnTo>
                    <a:cubicBezTo>
                      <a:pt x="635000" y="332952"/>
                      <a:pt x="616157" y="351795"/>
                      <a:pt x="592913" y="351795"/>
                    </a:cubicBezTo>
                    <a:lnTo>
                      <a:pt x="42087" y="351795"/>
                    </a:lnTo>
                    <a:cubicBezTo>
                      <a:pt x="18843" y="351795"/>
                      <a:pt x="0" y="332952"/>
                      <a:pt x="0" y="309708"/>
                    </a:cubicBezTo>
                    <a:lnTo>
                      <a:pt x="0" y="42087"/>
                    </a:lnTo>
                    <a:cubicBezTo>
                      <a:pt x="0" y="18843"/>
                      <a:pt x="18843" y="0"/>
                      <a:pt x="4208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rnd">
                <a:noFill/>
                <a:prstDash val="sysDot"/>
                <a:round/>
              </a:ln>
            </p:spPr>
          </p:sp>
          <p:sp>
            <p:nvSpPr>
              <p:cNvPr name="TextBox 26" id="26"/>
              <p:cNvSpPr txBox="true"/>
              <p:nvPr/>
            </p:nvSpPr>
            <p:spPr>
              <a:xfrm>
                <a:off x="0" y="-28575"/>
                <a:ext cx="635000" cy="38037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60"/>
                  </a:lnSpc>
                </a:pPr>
              </a:p>
            </p:txBody>
          </p:sp>
        </p:grpSp>
        <p:grpSp>
          <p:nvGrpSpPr>
            <p:cNvPr name="Group 27" id="27"/>
            <p:cNvGrpSpPr/>
            <p:nvPr/>
          </p:nvGrpSpPr>
          <p:grpSpPr>
            <a:xfrm rot="0">
              <a:off x="6713548" y="3844282"/>
              <a:ext cx="3799999" cy="495222"/>
              <a:chOff x="0" y="0"/>
              <a:chExt cx="1061224" cy="138301"/>
            </a:xfrm>
          </p:grpSpPr>
          <p:sp>
            <p:nvSpPr>
              <p:cNvPr name="Freeform 28" id="28"/>
              <p:cNvSpPr/>
              <p:nvPr/>
            </p:nvSpPr>
            <p:spPr>
              <a:xfrm flipH="false" flipV="false" rot="0">
                <a:off x="0" y="0"/>
                <a:ext cx="1061224" cy="138301"/>
              </a:xfrm>
              <a:custGeom>
                <a:avLst/>
                <a:gdLst/>
                <a:ahLst/>
                <a:cxnLst/>
                <a:rect r="r" b="b" t="t" l="l"/>
                <a:pathLst>
                  <a:path h="138301" w="1061224">
                    <a:moveTo>
                      <a:pt x="69150" y="0"/>
                    </a:moveTo>
                    <a:lnTo>
                      <a:pt x="992073" y="0"/>
                    </a:lnTo>
                    <a:cubicBezTo>
                      <a:pt x="1010413" y="0"/>
                      <a:pt x="1028002" y="7285"/>
                      <a:pt x="1040970" y="20254"/>
                    </a:cubicBezTo>
                    <a:cubicBezTo>
                      <a:pt x="1053938" y="33222"/>
                      <a:pt x="1061224" y="50810"/>
                      <a:pt x="1061224" y="69150"/>
                    </a:cubicBezTo>
                    <a:lnTo>
                      <a:pt x="1061224" y="69150"/>
                    </a:lnTo>
                    <a:cubicBezTo>
                      <a:pt x="1061224" y="87490"/>
                      <a:pt x="1053938" y="105079"/>
                      <a:pt x="1040970" y="118047"/>
                    </a:cubicBezTo>
                    <a:cubicBezTo>
                      <a:pt x="1028002" y="131015"/>
                      <a:pt x="1010413" y="138301"/>
                      <a:pt x="992073" y="138301"/>
                    </a:cubicBezTo>
                    <a:lnTo>
                      <a:pt x="69150" y="138301"/>
                    </a:lnTo>
                    <a:cubicBezTo>
                      <a:pt x="50810" y="138301"/>
                      <a:pt x="33222" y="131015"/>
                      <a:pt x="20254" y="118047"/>
                    </a:cubicBezTo>
                    <a:cubicBezTo>
                      <a:pt x="7285" y="105079"/>
                      <a:pt x="0" y="87490"/>
                      <a:pt x="0" y="69150"/>
                    </a:cubicBezTo>
                    <a:lnTo>
                      <a:pt x="0" y="69150"/>
                    </a:lnTo>
                    <a:cubicBezTo>
                      <a:pt x="0" y="50810"/>
                      <a:pt x="7285" y="33222"/>
                      <a:pt x="20254" y="20254"/>
                    </a:cubicBezTo>
                    <a:cubicBezTo>
                      <a:pt x="33222" y="7285"/>
                      <a:pt x="50810" y="0"/>
                      <a:pt x="69150" y="0"/>
                    </a:cubicBezTo>
                    <a:close/>
                  </a:path>
                </a:pathLst>
              </a:custGeom>
              <a:solidFill>
                <a:srgbClr val="004AAD"/>
              </a:solidFill>
            </p:spPr>
          </p:sp>
          <p:sp>
            <p:nvSpPr>
              <p:cNvPr name="TextBox 29" id="29"/>
              <p:cNvSpPr txBox="true"/>
              <p:nvPr/>
            </p:nvSpPr>
            <p:spPr>
              <a:xfrm>
                <a:off x="0" y="-28575"/>
                <a:ext cx="1061224" cy="166876"/>
              </a:xfrm>
              <a:prstGeom prst="rect">
                <a:avLst/>
              </a:prstGeom>
            </p:spPr>
            <p:txBody>
              <a:bodyPr anchor="ctr" rtlCol="false" tIns="48892" lIns="48892" bIns="48892" rIns="48892"/>
              <a:lstStyle/>
              <a:p>
                <a:pPr algn="ctr">
                  <a:lnSpc>
                    <a:spcPts val="1960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30" id="30"/>
            <p:cNvSpPr txBox="true"/>
            <p:nvPr/>
          </p:nvSpPr>
          <p:spPr>
            <a:xfrm rot="0">
              <a:off x="6924684" y="3853214"/>
              <a:ext cx="3436342" cy="42994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701"/>
                </a:lnSpc>
                <a:spcBef>
                  <a:spcPct val="0"/>
                </a:spcBef>
              </a:pPr>
              <a:r>
                <a:rPr lang="en-US" sz="1929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Bond-Line Structure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051506" y="366072"/>
            <a:ext cx="8588987" cy="650546"/>
            <a:chOff x="0" y="0"/>
            <a:chExt cx="3198189" cy="242237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3198189" cy="242237"/>
            </a:xfrm>
            <a:custGeom>
              <a:avLst/>
              <a:gdLst/>
              <a:ahLst/>
              <a:cxnLst/>
              <a:rect r="r" b="b" t="t" l="l"/>
              <a:pathLst>
                <a:path h="242237" w="3198189">
                  <a:moveTo>
                    <a:pt x="0" y="0"/>
                  </a:moveTo>
                  <a:lnTo>
                    <a:pt x="3198189" y="0"/>
                  </a:lnTo>
                  <a:lnTo>
                    <a:pt x="3198189" y="242237"/>
                  </a:lnTo>
                  <a:lnTo>
                    <a:pt x="0" y="242237"/>
                  </a:ln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100000"/>
                  </a:srgbClr>
                </a:gs>
                <a:gs pos="100000">
                  <a:srgbClr val="3533CD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28575"/>
              <a:ext cx="3198189" cy="270812"/>
            </a:xfrm>
            <a:prstGeom prst="rect">
              <a:avLst/>
            </a:prstGeom>
          </p:spPr>
          <p:txBody>
            <a:bodyPr anchor="ctr" rtlCol="false" tIns="48892" lIns="48892" bIns="48892" rIns="48892"/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6097158" y="1895487"/>
            <a:ext cx="3021235" cy="1784745"/>
            <a:chOff x="0" y="0"/>
            <a:chExt cx="4028314" cy="2379660"/>
          </a:xfrm>
        </p:grpSpPr>
        <p:sp>
          <p:nvSpPr>
            <p:cNvPr name="AutoShape 35" id="35"/>
            <p:cNvSpPr/>
            <p:nvPr/>
          </p:nvSpPr>
          <p:spPr>
            <a:xfrm>
              <a:off x="1206637" y="1161411"/>
              <a:ext cx="558789" cy="0"/>
            </a:xfrm>
            <a:prstGeom prst="line">
              <a:avLst/>
            </a:prstGeom>
            <a:ln cap="flat" w="22333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36" id="36"/>
            <p:cNvSpPr txBox="true"/>
            <p:nvPr/>
          </p:nvSpPr>
          <p:spPr>
            <a:xfrm rot="0">
              <a:off x="914011" y="914657"/>
              <a:ext cx="259127" cy="4777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059"/>
                </a:lnSpc>
                <a:spcBef>
                  <a:spcPct val="0"/>
                </a:spcBef>
              </a:pPr>
              <a:r>
                <a:rPr lang="en-US" b="true" sz="2185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C</a:t>
              </a:r>
            </a:p>
          </p:txBody>
        </p:sp>
        <p:sp>
          <p:nvSpPr>
            <p:cNvPr name="TextBox 37" id="37"/>
            <p:cNvSpPr txBox="true"/>
            <p:nvPr/>
          </p:nvSpPr>
          <p:spPr>
            <a:xfrm rot="0">
              <a:off x="0" y="914657"/>
              <a:ext cx="291439" cy="4777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059"/>
                </a:lnSpc>
                <a:spcBef>
                  <a:spcPct val="0"/>
                </a:spcBef>
              </a:pPr>
              <a:r>
                <a:rPr lang="en-US" b="true" sz="2185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H</a:t>
              </a:r>
            </a:p>
          </p:txBody>
        </p:sp>
        <p:sp>
          <p:nvSpPr>
            <p:cNvPr name="AutoShape 38" id="38"/>
            <p:cNvSpPr/>
            <p:nvPr/>
          </p:nvSpPr>
          <p:spPr>
            <a:xfrm>
              <a:off x="323331" y="1161411"/>
              <a:ext cx="558789" cy="0"/>
            </a:xfrm>
            <a:prstGeom prst="line">
              <a:avLst/>
            </a:prstGeom>
            <a:ln cap="flat" w="22333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39" id="39"/>
            <p:cNvSpPr txBox="true"/>
            <p:nvPr/>
          </p:nvSpPr>
          <p:spPr>
            <a:xfrm rot="0">
              <a:off x="1798925" y="903491"/>
              <a:ext cx="259127" cy="4777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059"/>
                </a:lnSpc>
                <a:spcBef>
                  <a:spcPct val="0"/>
                </a:spcBef>
              </a:pPr>
              <a:r>
                <a:rPr lang="en-US" b="true" sz="2185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C</a:t>
              </a:r>
            </a:p>
          </p:txBody>
        </p:sp>
        <p:sp>
          <p:nvSpPr>
            <p:cNvPr name="AutoShape 40" id="40"/>
            <p:cNvSpPr/>
            <p:nvPr/>
          </p:nvSpPr>
          <p:spPr>
            <a:xfrm>
              <a:off x="2153001" y="1161411"/>
              <a:ext cx="558789" cy="0"/>
            </a:xfrm>
            <a:prstGeom prst="line">
              <a:avLst/>
            </a:prstGeom>
            <a:ln cap="flat" w="22333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41" id="41"/>
            <p:cNvSpPr txBox="true"/>
            <p:nvPr/>
          </p:nvSpPr>
          <p:spPr>
            <a:xfrm rot="0">
              <a:off x="2745288" y="903491"/>
              <a:ext cx="259127" cy="4777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059"/>
                </a:lnSpc>
                <a:spcBef>
                  <a:spcPct val="0"/>
                </a:spcBef>
              </a:pPr>
              <a:r>
                <a:rPr lang="en-US" b="true" sz="2185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C</a:t>
              </a:r>
            </a:p>
          </p:txBody>
        </p:sp>
        <p:sp>
          <p:nvSpPr>
            <p:cNvPr name="AutoShape 42" id="42"/>
            <p:cNvSpPr/>
            <p:nvPr/>
          </p:nvSpPr>
          <p:spPr>
            <a:xfrm>
              <a:off x="3099329" y="1161411"/>
              <a:ext cx="558789" cy="0"/>
            </a:xfrm>
            <a:prstGeom prst="line">
              <a:avLst/>
            </a:prstGeom>
            <a:ln cap="flat" w="22333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43" id="43"/>
            <p:cNvSpPr txBox="true"/>
            <p:nvPr/>
          </p:nvSpPr>
          <p:spPr>
            <a:xfrm rot="0">
              <a:off x="3736875" y="914657"/>
              <a:ext cx="291439" cy="4777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059"/>
                </a:lnSpc>
                <a:spcBef>
                  <a:spcPct val="0"/>
                </a:spcBef>
              </a:pPr>
              <a:r>
                <a:rPr lang="en-US" b="true" sz="2185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H</a:t>
              </a:r>
            </a:p>
          </p:txBody>
        </p:sp>
        <p:sp>
          <p:nvSpPr>
            <p:cNvPr name="AutoShape 44" id="44"/>
            <p:cNvSpPr/>
            <p:nvPr/>
          </p:nvSpPr>
          <p:spPr>
            <a:xfrm flipV="true">
              <a:off x="1056368" y="439640"/>
              <a:ext cx="0" cy="558789"/>
            </a:xfrm>
            <a:prstGeom prst="line">
              <a:avLst/>
            </a:prstGeom>
            <a:ln cap="flat" w="22333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45" id="45"/>
            <p:cNvSpPr/>
            <p:nvPr/>
          </p:nvSpPr>
          <p:spPr>
            <a:xfrm flipV="true">
              <a:off x="1067535" y="1381231"/>
              <a:ext cx="0" cy="558789"/>
            </a:xfrm>
            <a:prstGeom prst="line">
              <a:avLst/>
            </a:prstGeom>
            <a:ln cap="flat" w="22333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46" id="46"/>
            <p:cNvSpPr/>
            <p:nvPr/>
          </p:nvSpPr>
          <p:spPr>
            <a:xfrm flipV="true">
              <a:off x="1938027" y="439640"/>
              <a:ext cx="0" cy="558789"/>
            </a:xfrm>
            <a:prstGeom prst="line">
              <a:avLst/>
            </a:prstGeom>
            <a:ln cap="flat" w="22333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47" id="47"/>
            <p:cNvSpPr/>
            <p:nvPr/>
          </p:nvSpPr>
          <p:spPr>
            <a:xfrm flipV="true">
              <a:off x="1949193" y="1381231"/>
              <a:ext cx="0" cy="558789"/>
            </a:xfrm>
            <a:prstGeom prst="line">
              <a:avLst/>
            </a:prstGeom>
            <a:ln cap="flat" w="22333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48" id="48"/>
            <p:cNvSpPr/>
            <p:nvPr/>
          </p:nvSpPr>
          <p:spPr>
            <a:xfrm flipV="true">
              <a:off x="2886018" y="1381231"/>
              <a:ext cx="0" cy="558789"/>
            </a:xfrm>
            <a:prstGeom prst="line">
              <a:avLst/>
            </a:prstGeom>
            <a:ln cap="flat" w="22333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49" id="49"/>
            <p:cNvSpPr/>
            <p:nvPr/>
          </p:nvSpPr>
          <p:spPr>
            <a:xfrm flipV="true">
              <a:off x="2886018" y="439640"/>
              <a:ext cx="0" cy="558789"/>
            </a:xfrm>
            <a:prstGeom prst="line">
              <a:avLst/>
            </a:prstGeom>
            <a:ln cap="flat" w="22333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50" id="50"/>
            <p:cNvSpPr txBox="true"/>
            <p:nvPr/>
          </p:nvSpPr>
          <p:spPr>
            <a:xfrm rot="0">
              <a:off x="921815" y="-38100"/>
              <a:ext cx="291439" cy="4777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059"/>
                </a:lnSpc>
                <a:spcBef>
                  <a:spcPct val="0"/>
                </a:spcBef>
              </a:pPr>
              <a:r>
                <a:rPr lang="en-US" b="true" sz="2185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H</a:t>
              </a:r>
            </a:p>
          </p:txBody>
        </p:sp>
        <p:sp>
          <p:nvSpPr>
            <p:cNvPr name="TextBox 51" id="51"/>
            <p:cNvSpPr txBox="true"/>
            <p:nvPr/>
          </p:nvSpPr>
          <p:spPr>
            <a:xfrm rot="0">
              <a:off x="1803473" y="-38100"/>
              <a:ext cx="291439" cy="4777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059"/>
                </a:lnSpc>
                <a:spcBef>
                  <a:spcPct val="0"/>
                </a:spcBef>
              </a:pPr>
              <a:r>
                <a:rPr lang="en-US" b="true" sz="2185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H</a:t>
              </a:r>
            </a:p>
          </p:txBody>
        </p:sp>
        <p:sp>
          <p:nvSpPr>
            <p:cNvPr name="TextBox 52" id="52"/>
            <p:cNvSpPr txBox="true"/>
            <p:nvPr/>
          </p:nvSpPr>
          <p:spPr>
            <a:xfrm rot="0">
              <a:off x="2745288" y="-38100"/>
              <a:ext cx="291439" cy="4777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059"/>
                </a:lnSpc>
                <a:spcBef>
                  <a:spcPct val="0"/>
                </a:spcBef>
              </a:pPr>
              <a:r>
                <a:rPr lang="en-US" b="true" sz="2185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H</a:t>
              </a:r>
            </a:p>
          </p:txBody>
        </p:sp>
        <p:sp>
          <p:nvSpPr>
            <p:cNvPr name="TextBox 53" id="53"/>
            <p:cNvSpPr txBox="true"/>
            <p:nvPr/>
          </p:nvSpPr>
          <p:spPr>
            <a:xfrm rot="0">
              <a:off x="921815" y="1901920"/>
              <a:ext cx="291439" cy="4777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059"/>
                </a:lnSpc>
                <a:spcBef>
                  <a:spcPct val="0"/>
                </a:spcBef>
              </a:pPr>
              <a:r>
                <a:rPr lang="en-US" b="true" sz="2185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H</a:t>
              </a:r>
            </a:p>
          </p:txBody>
        </p:sp>
        <p:sp>
          <p:nvSpPr>
            <p:cNvPr name="TextBox 54" id="54"/>
            <p:cNvSpPr txBox="true"/>
            <p:nvPr/>
          </p:nvSpPr>
          <p:spPr>
            <a:xfrm rot="0">
              <a:off x="1803473" y="1901920"/>
              <a:ext cx="291439" cy="4777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059"/>
                </a:lnSpc>
                <a:spcBef>
                  <a:spcPct val="0"/>
                </a:spcBef>
              </a:pPr>
              <a:r>
                <a:rPr lang="en-US" b="true" sz="2185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H</a:t>
              </a:r>
            </a:p>
          </p:txBody>
        </p:sp>
        <p:sp>
          <p:nvSpPr>
            <p:cNvPr name="TextBox 55" id="55"/>
            <p:cNvSpPr txBox="true"/>
            <p:nvPr/>
          </p:nvSpPr>
          <p:spPr>
            <a:xfrm rot="0">
              <a:off x="2745288" y="1901920"/>
              <a:ext cx="291439" cy="4777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059"/>
                </a:lnSpc>
                <a:spcBef>
                  <a:spcPct val="0"/>
                </a:spcBef>
              </a:pPr>
              <a:r>
                <a:rPr lang="en-US" b="true" sz="2185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H</a:t>
              </a:r>
            </a:p>
          </p:txBody>
        </p:sp>
      </p:grpSp>
      <p:sp>
        <p:nvSpPr>
          <p:cNvPr name="Freeform 56" id="56"/>
          <p:cNvSpPr/>
          <p:nvPr/>
        </p:nvSpPr>
        <p:spPr>
          <a:xfrm flipH="false" flipV="false" rot="0">
            <a:off x="6226808" y="5212272"/>
            <a:ext cx="2570888" cy="925520"/>
          </a:xfrm>
          <a:custGeom>
            <a:avLst/>
            <a:gdLst/>
            <a:ahLst/>
            <a:cxnLst/>
            <a:rect r="r" b="b" t="t" l="l"/>
            <a:pathLst>
              <a:path h="925520" w="2570888">
                <a:moveTo>
                  <a:pt x="0" y="0"/>
                </a:moveTo>
                <a:lnTo>
                  <a:pt x="2570888" y="0"/>
                </a:lnTo>
                <a:lnTo>
                  <a:pt x="2570888" y="925520"/>
                </a:lnTo>
                <a:lnTo>
                  <a:pt x="0" y="92552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57" id="57"/>
          <p:cNvSpPr txBox="true"/>
          <p:nvPr/>
        </p:nvSpPr>
        <p:spPr>
          <a:xfrm rot="0">
            <a:off x="2293737" y="362256"/>
            <a:ext cx="6292932" cy="5629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61"/>
              </a:lnSpc>
              <a:spcBef>
                <a:spcPct val="0"/>
              </a:spcBef>
            </a:pPr>
            <a:r>
              <a:rPr lang="en-US" sz="3115">
                <a:solidFill>
                  <a:srgbClr val="FFFFFF"/>
                </a:solidFill>
                <a:latin typeface="Horizon"/>
                <a:ea typeface="Horizon"/>
                <a:cs typeface="Horizon"/>
                <a:sym typeface="Horizon"/>
              </a:rPr>
              <a:t>Card 01 - Propanol</a:t>
            </a:r>
          </a:p>
        </p:txBody>
      </p:sp>
      <p:grpSp>
        <p:nvGrpSpPr>
          <p:cNvPr name="Group 58" id="58"/>
          <p:cNvGrpSpPr/>
          <p:nvPr/>
        </p:nvGrpSpPr>
        <p:grpSpPr>
          <a:xfrm rot="0">
            <a:off x="197089" y="1895487"/>
            <a:ext cx="5900069" cy="1670881"/>
            <a:chOff x="0" y="0"/>
            <a:chExt cx="7866759" cy="2227841"/>
          </a:xfrm>
        </p:grpSpPr>
        <p:sp>
          <p:nvSpPr>
            <p:cNvPr name="TextBox 59" id="59"/>
            <p:cNvSpPr txBox="true"/>
            <p:nvPr/>
          </p:nvSpPr>
          <p:spPr>
            <a:xfrm rot="0">
              <a:off x="0" y="-219075"/>
              <a:ext cx="7866759" cy="244691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5421"/>
                </a:lnSpc>
                <a:spcBef>
                  <a:spcPct val="0"/>
                </a:spcBef>
              </a:pPr>
              <a:r>
                <a:rPr lang="en-US" sz="11015">
                  <a:solidFill>
                    <a:srgbClr val="000000"/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C H </a:t>
              </a:r>
            </a:p>
          </p:txBody>
        </p:sp>
        <p:sp>
          <p:nvSpPr>
            <p:cNvPr name="TextBox 60" id="60"/>
            <p:cNvSpPr txBox="true"/>
            <p:nvPr/>
          </p:nvSpPr>
          <p:spPr>
            <a:xfrm rot="0">
              <a:off x="2969353" y="651368"/>
              <a:ext cx="1076283" cy="144228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9060"/>
                </a:lnSpc>
                <a:spcBef>
                  <a:spcPct val="0"/>
                </a:spcBef>
              </a:pPr>
              <a:r>
                <a:rPr lang="en-US" sz="6471">
                  <a:solidFill>
                    <a:srgbClr val="000000"/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3</a:t>
              </a:r>
            </a:p>
          </p:txBody>
        </p:sp>
        <p:sp>
          <p:nvSpPr>
            <p:cNvPr name="TextBox 61" id="61"/>
            <p:cNvSpPr txBox="true"/>
            <p:nvPr/>
          </p:nvSpPr>
          <p:spPr>
            <a:xfrm rot="0">
              <a:off x="5194170" y="651368"/>
              <a:ext cx="1076283" cy="144228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9060"/>
                </a:lnSpc>
                <a:spcBef>
                  <a:spcPct val="0"/>
                </a:spcBef>
              </a:pPr>
              <a:r>
                <a:rPr lang="en-US" sz="6471">
                  <a:solidFill>
                    <a:srgbClr val="000000"/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8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520185" y="5212272"/>
            <a:ext cx="5253877" cy="1036975"/>
            <a:chOff x="0" y="0"/>
            <a:chExt cx="7005169" cy="1382633"/>
          </a:xfrm>
        </p:grpSpPr>
        <p:sp>
          <p:nvSpPr>
            <p:cNvPr name="TextBox 63" id="63"/>
            <p:cNvSpPr txBox="true"/>
            <p:nvPr/>
          </p:nvSpPr>
          <p:spPr>
            <a:xfrm rot="0">
              <a:off x="0" y="-266700"/>
              <a:ext cx="7005169" cy="164933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9547"/>
                </a:lnSpc>
                <a:spcBef>
                  <a:spcPct val="0"/>
                </a:spcBef>
              </a:pPr>
              <a:r>
                <a:rPr lang="en-US" sz="6819">
                  <a:solidFill>
                    <a:srgbClr val="000000"/>
                  </a:solidFill>
                  <a:latin typeface="Impact"/>
                  <a:ea typeface="Impact"/>
                  <a:cs typeface="Impact"/>
                  <a:sym typeface="Impact"/>
                </a:rPr>
                <a:t>CH CH OH</a:t>
              </a:r>
            </a:p>
          </p:txBody>
        </p:sp>
        <p:sp>
          <p:nvSpPr>
            <p:cNvPr name="TextBox 64" id="64"/>
            <p:cNvSpPr txBox="true"/>
            <p:nvPr/>
          </p:nvSpPr>
          <p:spPr>
            <a:xfrm rot="0">
              <a:off x="3839263" y="378739"/>
              <a:ext cx="666369" cy="90641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239"/>
                </a:lnSpc>
                <a:spcBef>
                  <a:spcPct val="0"/>
                </a:spcBef>
              </a:pPr>
              <a:r>
                <a:rPr lang="en-US" sz="3742">
                  <a:solidFill>
                    <a:srgbClr val="000000"/>
                  </a:solidFill>
                  <a:latin typeface="Impact"/>
                  <a:ea typeface="Impact"/>
                  <a:cs typeface="Impact"/>
                  <a:sym typeface="Impact"/>
                </a:rPr>
                <a:t>2</a:t>
              </a:r>
            </a:p>
          </p:txBody>
        </p:sp>
        <p:sp>
          <p:nvSpPr>
            <p:cNvPr name="TextBox 65" id="65"/>
            <p:cNvSpPr txBox="true"/>
            <p:nvPr/>
          </p:nvSpPr>
          <p:spPr>
            <a:xfrm rot="0">
              <a:off x="2480729" y="408413"/>
              <a:ext cx="666369" cy="90641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239"/>
                </a:lnSpc>
                <a:spcBef>
                  <a:spcPct val="0"/>
                </a:spcBef>
              </a:pPr>
              <a:r>
                <a:rPr lang="en-US" sz="3742">
                  <a:solidFill>
                    <a:srgbClr val="000000"/>
                  </a:solidFill>
                  <a:latin typeface="Impact"/>
                  <a:ea typeface="Impact"/>
                  <a:cs typeface="Impact"/>
                  <a:sym typeface="Impact"/>
                </a:rPr>
                <a:t>3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3E4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63023" y="1414346"/>
            <a:ext cx="8565953" cy="5366374"/>
            <a:chOff x="0" y="0"/>
            <a:chExt cx="11421271" cy="7155165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232350"/>
              <a:ext cx="5556832" cy="3078532"/>
              <a:chOff x="0" y="0"/>
              <a:chExt cx="635000" cy="351795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635000" cy="351795"/>
              </a:xfrm>
              <a:custGeom>
                <a:avLst/>
                <a:gdLst/>
                <a:ahLst/>
                <a:cxnLst/>
                <a:rect r="r" b="b" t="t" l="l"/>
                <a:pathLst>
                  <a:path h="351795" w="635000">
                    <a:moveTo>
                      <a:pt x="42087" y="0"/>
                    </a:moveTo>
                    <a:lnTo>
                      <a:pt x="592913" y="0"/>
                    </a:lnTo>
                    <a:cubicBezTo>
                      <a:pt x="616157" y="0"/>
                      <a:pt x="635000" y="18843"/>
                      <a:pt x="635000" y="42087"/>
                    </a:cubicBezTo>
                    <a:lnTo>
                      <a:pt x="635000" y="309708"/>
                    </a:lnTo>
                    <a:cubicBezTo>
                      <a:pt x="635000" y="332952"/>
                      <a:pt x="616157" y="351795"/>
                      <a:pt x="592913" y="351795"/>
                    </a:cubicBezTo>
                    <a:lnTo>
                      <a:pt x="42087" y="351795"/>
                    </a:lnTo>
                    <a:cubicBezTo>
                      <a:pt x="18843" y="351795"/>
                      <a:pt x="0" y="332952"/>
                      <a:pt x="0" y="309708"/>
                    </a:cubicBezTo>
                    <a:lnTo>
                      <a:pt x="0" y="42087"/>
                    </a:lnTo>
                    <a:cubicBezTo>
                      <a:pt x="0" y="18843"/>
                      <a:pt x="18843" y="0"/>
                      <a:pt x="4208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rnd">
                <a:noFill/>
                <a:prstDash val="sysDot"/>
                <a:round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38100"/>
                <a:ext cx="635000" cy="38989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820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849109" y="0"/>
              <a:ext cx="3799999" cy="495222"/>
              <a:chOff x="0" y="0"/>
              <a:chExt cx="1061224" cy="138301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1061224" cy="138301"/>
              </a:xfrm>
              <a:custGeom>
                <a:avLst/>
                <a:gdLst/>
                <a:ahLst/>
                <a:cxnLst/>
                <a:rect r="r" b="b" t="t" l="l"/>
                <a:pathLst>
                  <a:path h="138301" w="1061224">
                    <a:moveTo>
                      <a:pt x="69150" y="0"/>
                    </a:moveTo>
                    <a:lnTo>
                      <a:pt x="992073" y="0"/>
                    </a:lnTo>
                    <a:cubicBezTo>
                      <a:pt x="1010413" y="0"/>
                      <a:pt x="1028002" y="7285"/>
                      <a:pt x="1040970" y="20254"/>
                    </a:cubicBezTo>
                    <a:cubicBezTo>
                      <a:pt x="1053938" y="33222"/>
                      <a:pt x="1061224" y="50810"/>
                      <a:pt x="1061224" y="69150"/>
                    </a:cubicBezTo>
                    <a:lnTo>
                      <a:pt x="1061224" y="69150"/>
                    </a:lnTo>
                    <a:cubicBezTo>
                      <a:pt x="1061224" y="87490"/>
                      <a:pt x="1053938" y="105079"/>
                      <a:pt x="1040970" y="118047"/>
                    </a:cubicBezTo>
                    <a:cubicBezTo>
                      <a:pt x="1028002" y="131015"/>
                      <a:pt x="1010413" y="138301"/>
                      <a:pt x="992073" y="138301"/>
                    </a:cubicBezTo>
                    <a:lnTo>
                      <a:pt x="69150" y="138301"/>
                    </a:lnTo>
                    <a:cubicBezTo>
                      <a:pt x="50810" y="138301"/>
                      <a:pt x="33222" y="131015"/>
                      <a:pt x="20254" y="118047"/>
                    </a:cubicBezTo>
                    <a:cubicBezTo>
                      <a:pt x="7285" y="105079"/>
                      <a:pt x="0" y="87490"/>
                      <a:pt x="0" y="69150"/>
                    </a:cubicBezTo>
                    <a:lnTo>
                      <a:pt x="0" y="69150"/>
                    </a:lnTo>
                    <a:cubicBezTo>
                      <a:pt x="0" y="50810"/>
                      <a:pt x="7285" y="33222"/>
                      <a:pt x="20254" y="20254"/>
                    </a:cubicBezTo>
                    <a:cubicBezTo>
                      <a:pt x="33222" y="7285"/>
                      <a:pt x="50810" y="0"/>
                      <a:pt x="69150" y="0"/>
                    </a:cubicBezTo>
                    <a:close/>
                  </a:path>
                </a:pathLst>
              </a:custGeom>
              <a:solidFill>
                <a:srgbClr val="004AAD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38100"/>
                <a:ext cx="1061224" cy="176401"/>
              </a:xfrm>
              <a:prstGeom prst="rect">
                <a:avLst/>
              </a:prstGeom>
            </p:spPr>
            <p:txBody>
              <a:bodyPr anchor="ctr" rtlCol="false" tIns="48892" lIns="48892" bIns="48892" rIns="48892"/>
              <a:lstStyle/>
              <a:p>
                <a:pPr algn="ctr">
                  <a:lnSpc>
                    <a:spcPts val="1820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9" id="9"/>
            <p:cNvSpPr txBox="true"/>
            <p:nvPr/>
          </p:nvSpPr>
          <p:spPr>
            <a:xfrm rot="0">
              <a:off x="994956" y="8931"/>
              <a:ext cx="3436342" cy="42994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701"/>
                </a:lnSpc>
                <a:spcBef>
                  <a:spcPct val="0"/>
                </a:spcBef>
              </a:pPr>
              <a:r>
                <a:rPr lang="en-US" sz="1929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Molecular Formula</a:t>
              </a:r>
            </a:p>
          </p:txBody>
        </p:sp>
        <p:grpSp>
          <p:nvGrpSpPr>
            <p:cNvPr name="Group 10" id="10"/>
            <p:cNvGrpSpPr/>
            <p:nvPr/>
          </p:nvGrpSpPr>
          <p:grpSpPr>
            <a:xfrm rot="0">
              <a:off x="5864439" y="232350"/>
              <a:ext cx="5556832" cy="3078532"/>
              <a:chOff x="0" y="0"/>
              <a:chExt cx="635000" cy="351795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635000" cy="351795"/>
              </a:xfrm>
              <a:custGeom>
                <a:avLst/>
                <a:gdLst/>
                <a:ahLst/>
                <a:cxnLst/>
                <a:rect r="r" b="b" t="t" l="l"/>
                <a:pathLst>
                  <a:path h="351795" w="635000">
                    <a:moveTo>
                      <a:pt x="42087" y="0"/>
                    </a:moveTo>
                    <a:lnTo>
                      <a:pt x="592913" y="0"/>
                    </a:lnTo>
                    <a:cubicBezTo>
                      <a:pt x="616157" y="0"/>
                      <a:pt x="635000" y="18843"/>
                      <a:pt x="635000" y="42087"/>
                    </a:cubicBezTo>
                    <a:lnTo>
                      <a:pt x="635000" y="309708"/>
                    </a:lnTo>
                    <a:cubicBezTo>
                      <a:pt x="635000" y="332952"/>
                      <a:pt x="616157" y="351795"/>
                      <a:pt x="592913" y="351795"/>
                    </a:cubicBezTo>
                    <a:lnTo>
                      <a:pt x="42087" y="351795"/>
                    </a:lnTo>
                    <a:cubicBezTo>
                      <a:pt x="18843" y="351795"/>
                      <a:pt x="0" y="332952"/>
                      <a:pt x="0" y="309708"/>
                    </a:cubicBezTo>
                    <a:lnTo>
                      <a:pt x="0" y="42087"/>
                    </a:lnTo>
                    <a:cubicBezTo>
                      <a:pt x="0" y="18843"/>
                      <a:pt x="18843" y="0"/>
                      <a:pt x="4208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rnd">
                <a:noFill/>
                <a:prstDash val="sysDot"/>
                <a:round/>
              </a:ln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28575"/>
                <a:ext cx="635000" cy="38037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60"/>
                  </a:lnSpc>
                </a:pPr>
              </a:p>
            </p:txBody>
          </p:sp>
        </p:grpSp>
        <p:grpSp>
          <p:nvGrpSpPr>
            <p:cNvPr name="Group 13" id="13"/>
            <p:cNvGrpSpPr/>
            <p:nvPr/>
          </p:nvGrpSpPr>
          <p:grpSpPr>
            <a:xfrm rot="0">
              <a:off x="6713548" y="0"/>
              <a:ext cx="3799999" cy="495222"/>
              <a:chOff x="0" y="0"/>
              <a:chExt cx="1061224" cy="138301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1061224" cy="138301"/>
              </a:xfrm>
              <a:custGeom>
                <a:avLst/>
                <a:gdLst/>
                <a:ahLst/>
                <a:cxnLst/>
                <a:rect r="r" b="b" t="t" l="l"/>
                <a:pathLst>
                  <a:path h="138301" w="1061224">
                    <a:moveTo>
                      <a:pt x="69150" y="0"/>
                    </a:moveTo>
                    <a:lnTo>
                      <a:pt x="992073" y="0"/>
                    </a:lnTo>
                    <a:cubicBezTo>
                      <a:pt x="1010413" y="0"/>
                      <a:pt x="1028002" y="7285"/>
                      <a:pt x="1040970" y="20254"/>
                    </a:cubicBezTo>
                    <a:cubicBezTo>
                      <a:pt x="1053938" y="33222"/>
                      <a:pt x="1061224" y="50810"/>
                      <a:pt x="1061224" y="69150"/>
                    </a:cubicBezTo>
                    <a:lnTo>
                      <a:pt x="1061224" y="69150"/>
                    </a:lnTo>
                    <a:cubicBezTo>
                      <a:pt x="1061224" y="87490"/>
                      <a:pt x="1053938" y="105079"/>
                      <a:pt x="1040970" y="118047"/>
                    </a:cubicBezTo>
                    <a:cubicBezTo>
                      <a:pt x="1028002" y="131015"/>
                      <a:pt x="1010413" y="138301"/>
                      <a:pt x="992073" y="138301"/>
                    </a:cubicBezTo>
                    <a:lnTo>
                      <a:pt x="69150" y="138301"/>
                    </a:lnTo>
                    <a:cubicBezTo>
                      <a:pt x="50810" y="138301"/>
                      <a:pt x="33222" y="131015"/>
                      <a:pt x="20254" y="118047"/>
                    </a:cubicBezTo>
                    <a:cubicBezTo>
                      <a:pt x="7285" y="105079"/>
                      <a:pt x="0" y="87490"/>
                      <a:pt x="0" y="69150"/>
                    </a:cubicBezTo>
                    <a:lnTo>
                      <a:pt x="0" y="69150"/>
                    </a:lnTo>
                    <a:cubicBezTo>
                      <a:pt x="0" y="50810"/>
                      <a:pt x="7285" y="33222"/>
                      <a:pt x="20254" y="20254"/>
                    </a:cubicBezTo>
                    <a:cubicBezTo>
                      <a:pt x="33222" y="7285"/>
                      <a:pt x="50810" y="0"/>
                      <a:pt x="69150" y="0"/>
                    </a:cubicBezTo>
                    <a:close/>
                  </a:path>
                </a:pathLst>
              </a:custGeom>
              <a:solidFill>
                <a:srgbClr val="004AAD"/>
              </a:solidFill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0" y="-28575"/>
                <a:ext cx="1061224" cy="166876"/>
              </a:xfrm>
              <a:prstGeom prst="rect">
                <a:avLst/>
              </a:prstGeom>
            </p:spPr>
            <p:txBody>
              <a:bodyPr anchor="ctr" rtlCol="false" tIns="48892" lIns="48892" bIns="48892" rIns="48892"/>
              <a:lstStyle/>
              <a:p>
                <a:pPr algn="ctr">
                  <a:lnSpc>
                    <a:spcPts val="1960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16" id="16"/>
            <p:cNvSpPr txBox="true"/>
            <p:nvPr/>
          </p:nvSpPr>
          <p:spPr>
            <a:xfrm rot="0">
              <a:off x="6859395" y="8931"/>
              <a:ext cx="3436342" cy="42994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701"/>
                </a:lnSpc>
                <a:spcBef>
                  <a:spcPct val="0"/>
                </a:spcBef>
              </a:pPr>
              <a:r>
                <a:rPr lang="en-US" sz="1929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Lewis Structure</a:t>
              </a:r>
            </a:p>
          </p:txBody>
        </p:sp>
        <p:grpSp>
          <p:nvGrpSpPr>
            <p:cNvPr name="Group 17" id="17"/>
            <p:cNvGrpSpPr/>
            <p:nvPr/>
          </p:nvGrpSpPr>
          <p:grpSpPr>
            <a:xfrm rot="0">
              <a:off x="0" y="4076632"/>
              <a:ext cx="5556832" cy="3078532"/>
              <a:chOff x="0" y="0"/>
              <a:chExt cx="635000" cy="351795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635000" cy="351795"/>
              </a:xfrm>
              <a:custGeom>
                <a:avLst/>
                <a:gdLst/>
                <a:ahLst/>
                <a:cxnLst/>
                <a:rect r="r" b="b" t="t" l="l"/>
                <a:pathLst>
                  <a:path h="351795" w="635000">
                    <a:moveTo>
                      <a:pt x="42087" y="0"/>
                    </a:moveTo>
                    <a:lnTo>
                      <a:pt x="592913" y="0"/>
                    </a:lnTo>
                    <a:cubicBezTo>
                      <a:pt x="616157" y="0"/>
                      <a:pt x="635000" y="18843"/>
                      <a:pt x="635000" y="42087"/>
                    </a:cubicBezTo>
                    <a:lnTo>
                      <a:pt x="635000" y="309708"/>
                    </a:lnTo>
                    <a:cubicBezTo>
                      <a:pt x="635000" y="332952"/>
                      <a:pt x="616157" y="351795"/>
                      <a:pt x="592913" y="351795"/>
                    </a:cubicBezTo>
                    <a:lnTo>
                      <a:pt x="42087" y="351795"/>
                    </a:lnTo>
                    <a:cubicBezTo>
                      <a:pt x="18843" y="351795"/>
                      <a:pt x="0" y="332952"/>
                      <a:pt x="0" y="309708"/>
                    </a:cubicBezTo>
                    <a:lnTo>
                      <a:pt x="0" y="42087"/>
                    </a:lnTo>
                    <a:cubicBezTo>
                      <a:pt x="0" y="18843"/>
                      <a:pt x="18843" y="0"/>
                      <a:pt x="4208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rnd">
                <a:noFill/>
                <a:prstDash val="sysDot"/>
                <a:round/>
              </a:ln>
            </p:spPr>
          </p:sp>
          <p:sp>
            <p:nvSpPr>
              <p:cNvPr name="TextBox 19" id="19"/>
              <p:cNvSpPr txBox="true"/>
              <p:nvPr/>
            </p:nvSpPr>
            <p:spPr>
              <a:xfrm>
                <a:off x="0" y="-28575"/>
                <a:ext cx="635000" cy="38037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60"/>
                  </a:lnSpc>
                </a:pPr>
              </a:p>
            </p:txBody>
          </p:sp>
        </p:grpSp>
        <p:grpSp>
          <p:nvGrpSpPr>
            <p:cNvPr name="Group 20" id="20"/>
            <p:cNvGrpSpPr/>
            <p:nvPr/>
          </p:nvGrpSpPr>
          <p:grpSpPr>
            <a:xfrm rot="0">
              <a:off x="510787" y="3891314"/>
              <a:ext cx="4535257" cy="495222"/>
              <a:chOff x="0" y="0"/>
              <a:chExt cx="1266559" cy="138301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0" y="0"/>
                <a:ext cx="1266559" cy="138301"/>
              </a:xfrm>
              <a:custGeom>
                <a:avLst/>
                <a:gdLst/>
                <a:ahLst/>
                <a:cxnLst/>
                <a:rect r="r" b="b" t="t" l="l"/>
                <a:pathLst>
                  <a:path h="138301" w="1266559">
                    <a:moveTo>
                      <a:pt x="69150" y="0"/>
                    </a:moveTo>
                    <a:lnTo>
                      <a:pt x="1197409" y="0"/>
                    </a:lnTo>
                    <a:cubicBezTo>
                      <a:pt x="1235599" y="0"/>
                      <a:pt x="1266559" y="30960"/>
                      <a:pt x="1266559" y="69150"/>
                    </a:cubicBezTo>
                    <a:lnTo>
                      <a:pt x="1266559" y="69150"/>
                    </a:lnTo>
                    <a:cubicBezTo>
                      <a:pt x="1266559" y="87490"/>
                      <a:pt x="1259273" y="105079"/>
                      <a:pt x="1246305" y="118047"/>
                    </a:cubicBezTo>
                    <a:cubicBezTo>
                      <a:pt x="1233337" y="131015"/>
                      <a:pt x="1215748" y="138301"/>
                      <a:pt x="1197409" y="138301"/>
                    </a:cubicBezTo>
                    <a:lnTo>
                      <a:pt x="69150" y="138301"/>
                    </a:lnTo>
                    <a:cubicBezTo>
                      <a:pt x="50810" y="138301"/>
                      <a:pt x="33222" y="131015"/>
                      <a:pt x="20254" y="118047"/>
                    </a:cubicBezTo>
                    <a:cubicBezTo>
                      <a:pt x="7285" y="105079"/>
                      <a:pt x="0" y="87490"/>
                      <a:pt x="0" y="69150"/>
                    </a:cubicBezTo>
                    <a:lnTo>
                      <a:pt x="0" y="69150"/>
                    </a:lnTo>
                    <a:cubicBezTo>
                      <a:pt x="0" y="50810"/>
                      <a:pt x="7285" y="33222"/>
                      <a:pt x="20254" y="20254"/>
                    </a:cubicBezTo>
                    <a:cubicBezTo>
                      <a:pt x="33222" y="7285"/>
                      <a:pt x="50810" y="0"/>
                      <a:pt x="69150" y="0"/>
                    </a:cubicBezTo>
                    <a:close/>
                  </a:path>
                </a:pathLst>
              </a:custGeom>
              <a:solidFill>
                <a:srgbClr val="004AAD"/>
              </a:solidFill>
            </p:spPr>
          </p:sp>
          <p:sp>
            <p:nvSpPr>
              <p:cNvPr name="TextBox 22" id="22"/>
              <p:cNvSpPr txBox="true"/>
              <p:nvPr/>
            </p:nvSpPr>
            <p:spPr>
              <a:xfrm>
                <a:off x="0" y="-28575"/>
                <a:ext cx="1266559" cy="166876"/>
              </a:xfrm>
              <a:prstGeom prst="rect">
                <a:avLst/>
              </a:prstGeom>
            </p:spPr>
            <p:txBody>
              <a:bodyPr anchor="ctr" rtlCol="false" tIns="48892" lIns="48892" bIns="48892" rIns="48892"/>
              <a:lstStyle/>
              <a:p>
                <a:pPr algn="ctr">
                  <a:lnSpc>
                    <a:spcPts val="1960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23" id="23"/>
            <p:cNvSpPr txBox="true"/>
            <p:nvPr/>
          </p:nvSpPr>
          <p:spPr>
            <a:xfrm rot="0">
              <a:off x="636817" y="3937400"/>
              <a:ext cx="4283198" cy="3649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315"/>
                </a:lnSpc>
                <a:spcBef>
                  <a:spcPct val="0"/>
                </a:spcBef>
              </a:pPr>
              <a:r>
                <a:rPr lang="en-US" sz="1653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Condensed Structural Formula</a:t>
              </a:r>
            </a:p>
          </p:txBody>
        </p:sp>
        <p:grpSp>
          <p:nvGrpSpPr>
            <p:cNvPr name="Group 24" id="24"/>
            <p:cNvGrpSpPr/>
            <p:nvPr/>
          </p:nvGrpSpPr>
          <p:grpSpPr>
            <a:xfrm rot="0">
              <a:off x="5864439" y="4076632"/>
              <a:ext cx="5556832" cy="3078532"/>
              <a:chOff x="0" y="0"/>
              <a:chExt cx="635000" cy="351795"/>
            </a:xfrm>
          </p:grpSpPr>
          <p:sp>
            <p:nvSpPr>
              <p:cNvPr name="Freeform 25" id="25"/>
              <p:cNvSpPr/>
              <p:nvPr/>
            </p:nvSpPr>
            <p:spPr>
              <a:xfrm flipH="false" flipV="false" rot="0">
                <a:off x="0" y="0"/>
                <a:ext cx="635000" cy="351795"/>
              </a:xfrm>
              <a:custGeom>
                <a:avLst/>
                <a:gdLst/>
                <a:ahLst/>
                <a:cxnLst/>
                <a:rect r="r" b="b" t="t" l="l"/>
                <a:pathLst>
                  <a:path h="351795" w="635000">
                    <a:moveTo>
                      <a:pt x="42087" y="0"/>
                    </a:moveTo>
                    <a:lnTo>
                      <a:pt x="592913" y="0"/>
                    </a:lnTo>
                    <a:cubicBezTo>
                      <a:pt x="616157" y="0"/>
                      <a:pt x="635000" y="18843"/>
                      <a:pt x="635000" y="42087"/>
                    </a:cubicBezTo>
                    <a:lnTo>
                      <a:pt x="635000" y="309708"/>
                    </a:lnTo>
                    <a:cubicBezTo>
                      <a:pt x="635000" y="332952"/>
                      <a:pt x="616157" y="351795"/>
                      <a:pt x="592913" y="351795"/>
                    </a:cubicBezTo>
                    <a:lnTo>
                      <a:pt x="42087" y="351795"/>
                    </a:lnTo>
                    <a:cubicBezTo>
                      <a:pt x="18843" y="351795"/>
                      <a:pt x="0" y="332952"/>
                      <a:pt x="0" y="309708"/>
                    </a:cubicBezTo>
                    <a:lnTo>
                      <a:pt x="0" y="42087"/>
                    </a:lnTo>
                    <a:cubicBezTo>
                      <a:pt x="0" y="18843"/>
                      <a:pt x="18843" y="0"/>
                      <a:pt x="4208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rnd">
                <a:noFill/>
                <a:prstDash val="sysDot"/>
                <a:round/>
              </a:ln>
            </p:spPr>
          </p:sp>
          <p:sp>
            <p:nvSpPr>
              <p:cNvPr name="TextBox 26" id="26"/>
              <p:cNvSpPr txBox="true"/>
              <p:nvPr/>
            </p:nvSpPr>
            <p:spPr>
              <a:xfrm>
                <a:off x="0" y="-28575"/>
                <a:ext cx="635000" cy="38037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60"/>
                  </a:lnSpc>
                </a:pPr>
              </a:p>
            </p:txBody>
          </p:sp>
        </p:grpSp>
        <p:grpSp>
          <p:nvGrpSpPr>
            <p:cNvPr name="Group 27" id="27"/>
            <p:cNvGrpSpPr/>
            <p:nvPr/>
          </p:nvGrpSpPr>
          <p:grpSpPr>
            <a:xfrm rot="0">
              <a:off x="6713548" y="3844282"/>
              <a:ext cx="3799999" cy="495222"/>
              <a:chOff x="0" y="0"/>
              <a:chExt cx="1061224" cy="138301"/>
            </a:xfrm>
          </p:grpSpPr>
          <p:sp>
            <p:nvSpPr>
              <p:cNvPr name="Freeform 28" id="28"/>
              <p:cNvSpPr/>
              <p:nvPr/>
            </p:nvSpPr>
            <p:spPr>
              <a:xfrm flipH="false" flipV="false" rot="0">
                <a:off x="0" y="0"/>
                <a:ext cx="1061224" cy="138301"/>
              </a:xfrm>
              <a:custGeom>
                <a:avLst/>
                <a:gdLst/>
                <a:ahLst/>
                <a:cxnLst/>
                <a:rect r="r" b="b" t="t" l="l"/>
                <a:pathLst>
                  <a:path h="138301" w="1061224">
                    <a:moveTo>
                      <a:pt x="69150" y="0"/>
                    </a:moveTo>
                    <a:lnTo>
                      <a:pt x="992073" y="0"/>
                    </a:lnTo>
                    <a:cubicBezTo>
                      <a:pt x="1010413" y="0"/>
                      <a:pt x="1028002" y="7285"/>
                      <a:pt x="1040970" y="20254"/>
                    </a:cubicBezTo>
                    <a:cubicBezTo>
                      <a:pt x="1053938" y="33222"/>
                      <a:pt x="1061224" y="50810"/>
                      <a:pt x="1061224" y="69150"/>
                    </a:cubicBezTo>
                    <a:lnTo>
                      <a:pt x="1061224" y="69150"/>
                    </a:lnTo>
                    <a:cubicBezTo>
                      <a:pt x="1061224" y="87490"/>
                      <a:pt x="1053938" y="105079"/>
                      <a:pt x="1040970" y="118047"/>
                    </a:cubicBezTo>
                    <a:cubicBezTo>
                      <a:pt x="1028002" y="131015"/>
                      <a:pt x="1010413" y="138301"/>
                      <a:pt x="992073" y="138301"/>
                    </a:cubicBezTo>
                    <a:lnTo>
                      <a:pt x="69150" y="138301"/>
                    </a:lnTo>
                    <a:cubicBezTo>
                      <a:pt x="50810" y="138301"/>
                      <a:pt x="33222" y="131015"/>
                      <a:pt x="20254" y="118047"/>
                    </a:cubicBezTo>
                    <a:cubicBezTo>
                      <a:pt x="7285" y="105079"/>
                      <a:pt x="0" y="87490"/>
                      <a:pt x="0" y="69150"/>
                    </a:cubicBezTo>
                    <a:lnTo>
                      <a:pt x="0" y="69150"/>
                    </a:lnTo>
                    <a:cubicBezTo>
                      <a:pt x="0" y="50810"/>
                      <a:pt x="7285" y="33222"/>
                      <a:pt x="20254" y="20254"/>
                    </a:cubicBezTo>
                    <a:cubicBezTo>
                      <a:pt x="33222" y="7285"/>
                      <a:pt x="50810" y="0"/>
                      <a:pt x="69150" y="0"/>
                    </a:cubicBezTo>
                    <a:close/>
                  </a:path>
                </a:pathLst>
              </a:custGeom>
              <a:solidFill>
                <a:srgbClr val="004AAD"/>
              </a:solidFill>
            </p:spPr>
          </p:sp>
          <p:sp>
            <p:nvSpPr>
              <p:cNvPr name="TextBox 29" id="29"/>
              <p:cNvSpPr txBox="true"/>
              <p:nvPr/>
            </p:nvSpPr>
            <p:spPr>
              <a:xfrm>
                <a:off x="0" y="-28575"/>
                <a:ext cx="1061224" cy="166876"/>
              </a:xfrm>
              <a:prstGeom prst="rect">
                <a:avLst/>
              </a:prstGeom>
            </p:spPr>
            <p:txBody>
              <a:bodyPr anchor="ctr" rtlCol="false" tIns="48892" lIns="48892" bIns="48892" rIns="48892"/>
              <a:lstStyle/>
              <a:p>
                <a:pPr algn="ctr">
                  <a:lnSpc>
                    <a:spcPts val="1960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30" id="30"/>
            <p:cNvSpPr txBox="true"/>
            <p:nvPr/>
          </p:nvSpPr>
          <p:spPr>
            <a:xfrm rot="0">
              <a:off x="6924684" y="3853214"/>
              <a:ext cx="3436342" cy="42994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701"/>
                </a:lnSpc>
                <a:spcBef>
                  <a:spcPct val="0"/>
                </a:spcBef>
              </a:pPr>
              <a:r>
                <a:rPr lang="en-US" sz="1929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Bond-Line Structure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051506" y="366072"/>
            <a:ext cx="8588987" cy="650546"/>
            <a:chOff x="0" y="0"/>
            <a:chExt cx="3198189" cy="242237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3198189" cy="242237"/>
            </a:xfrm>
            <a:custGeom>
              <a:avLst/>
              <a:gdLst/>
              <a:ahLst/>
              <a:cxnLst/>
              <a:rect r="r" b="b" t="t" l="l"/>
              <a:pathLst>
                <a:path h="242237" w="3198189">
                  <a:moveTo>
                    <a:pt x="0" y="0"/>
                  </a:moveTo>
                  <a:lnTo>
                    <a:pt x="3198189" y="0"/>
                  </a:lnTo>
                  <a:lnTo>
                    <a:pt x="3198189" y="242237"/>
                  </a:lnTo>
                  <a:lnTo>
                    <a:pt x="0" y="242237"/>
                  </a:ln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100000"/>
                  </a:srgbClr>
                </a:gs>
                <a:gs pos="100000">
                  <a:srgbClr val="3533CD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28575"/>
              <a:ext cx="3198189" cy="270812"/>
            </a:xfrm>
            <a:prstGeom prst="rect">
              <a:avLst/>
            </a:prstGeom>
          </p:spPr>
          <p:txBody>
            <a:bodyPr anchor="ctr" rtlCol="false" tIns="48892" lIns="48892" bIns="48892" rIns="48892"/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5967157" y="1977310"/>
            <a:ext cx="3290487" cy="1544147"/>
            <a:chOff x="0" y="0"/>
            <a:chExt cx="4387316" cy="2058863"/>
          </a:xfrm>
        </p:grpSpPr>
        <p:sp>
          <p:nvSpPr>
            <p:cNvPr name="AutoShape 35" id="35"/>
            <p:cNvSpPr/>
            <p:nvPr/>
          </p:nvSpPr>
          <p:spPr>
            <a:xfrm>
              <a:off x="1043973" y="1004844"/>
              <a:ext cx="483460" cy="0"/>
            </a:xfrm>
            <a:prstGeom prst="line">
              <a:avLst/>
            </a:prstGeom>
            <a:ln cap="flat" w="19322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36" id="36"/>
            <p:cNvSpPr txBox="true"/>
            <p:nvPr/>
          </p:nvSpPr>
          <p:spPr>
            <a:xfrm rot="0">
              <a:off x="790795" y="786218"/>
              <a:ext cx="224195" cy="41847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46"/>
                </a:lnSpc>
                <a:spcBef>
                  <a:spcPct val="0"/>
                </a:spcBef>
              </a:pPr>
              <a:r>
                <a:rPr lang="en-US" b="true" sz="1890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C</a:t>
              </a:r>
            </a:p>
          </p:txBody>
        </p:sp>
        <p:sp>
          <p:nvSpPr>
            <p:cNvPr name="TextBox 37" id="37"/>
            <p:cNvSpPr txBox="true"/>
            <p:nvPr/>
          </p:nvSpPr>
          <p:spPr>
            <a:xfrm rot="0">
              <a:off x="0" y="786218"/>
              <a:ext cx="252151" cy="41847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46"/>
                </a:lnSpc>
                <a:spcBef>
                  <a:spcPct val="0"/>
                </a:spcBef>
              </a:pPr>
              <a:r>
                <a:rPr lang="en-US" b="true" sz="1890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H</a:t>
              </a:r>
            </a:p>
          </p:txBody>
        </p:sp>
        <p:sp>
          <p:nvSpPr>
            <p:cNvPr name="AutoShape 38" id="38"/>
            <p:cNvSpPr/>
            <p:nvPr/>
          </p:nvSpPr>
          <p:spPr>
            <a:xfrm>
              <a:off x="279743" y="1004844"/>
              <a:ext cx="483460" cy="0"/>
            </a:xfrm>
            <a:prstGeom prst="line">
              <a:avLst/>
            </a:prstGeom>
            <a:ln cap="flat" w="19322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39" id="39"/>
            <p:cNvSpPr txBox="true"/>
            <p:nvPr/>
          </p:nvSpPr>
          <p:spPr>
            <a:xfrm rot="0">
              <a:off x="1556415" y="776557"/>
              <a:ext cx="224195" cy="41847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46"/>
                </a:lnSpc>
                <a:spcBef>
                  <a:spcPct val="0"/>
                </a:spcBef>
              </a:pPr>
              <a:r>
                <a:rPr lang="en-US" b="true" sz="1890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C</a:t>
              </a:r>
            </a:p>
          </p:txBody>
        </p:sp>
        <p:sp>
          <p:nvSpPr>
            <p:cNvPr name="AutoShape 40" id="40"/>
            <p:cNvSpPr/>
            <p:nvPr/>
          </p:nvSpPr>
          <p:spPr>
            <a:xfrm>
              <a:off x="1862759" y="1004844"/>
              <a:ext cx="483460" cy="0"/>
            </a:xfrm>
            <a:prstGeom prst="line">
              <a:avLst/>
            </a:prstGeom>
            <a:ln cap="flat" w="19322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41" id="41"/>
            <p:cNvSpPr txBox="true"/>
            <p:nvPr/>
          </p:nvSpPr>
          <p:spPr>
            <a:xfrm rot="0">
              <a:off x="2375202" y="776557"/>
              <a:ext cx="224195" cy="41847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46"/>
                </a:lnSpc>
                <a:spcBef>
                  <a:spcPct val="0"/>
                </a:spcBef>
              </a:pPr>
              <a:r>
                <a:rPr lang="en-US" b="true" sz="1890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C</a:t>
              </a:r>
            </a:p>
          </p:txBody>
        </p:sp>
        <p:sp>
          <p:nvSpPr>
            <p:cNvPr name="AutoShape 42" id="42"/>
            <p:cNvSpPr/>
            <p:nvPr/>
          </p:nvSpPr>
          <p:spPr>
            <a:xfrm>
              <a:off x="2681515" y="1004844"/>
              <a:ext cx="483460" cy="0"/>
            </a:xfrm>
            <a:prstGeom prst="line">
              <a:avLst/>
            </a:prstGeom>
            <a:ln cap="flat" w="19322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43" id="43"/>
            <p:cNvSpPr txBox="true"/>
            <p:nvPr/>
          </p:nvSpPr>
          <p:spPr>
            <a:xfrm rot="0">
              <a:off x="4135165" y="776557"/>
              <a:ext cx="252151" cy="41847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46"/>
                </a:lnSpc>
                <a:spcBef>
                  <a:spcPct val="0"/>
                </a:spcBef>
              </a:pPr>
              <a:r>
                <a:rPr lang="en-US" b="true" sz="1890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H</a:t>
              </a:r>
            </a:p>
          </p:txBody>
        </p:sp>
        <p:sp>
          <p:nvSpPr>
            <p:cNvPr name="AutoShape 44" id="44"/>
            <p:cNvSpPr/>
            <p:nvPr/>
          </p:nvSpPr>
          <p:spPr>
            <a:xfrm flipV="true">
              <a:off x="913962" y="380373"/>
              <a:ext cx="0" cy="483460"/>
            </a:xfrm>
            <a:prstGeom prst="line">
              <a:avLst/>
            </a:prstGeom>
            <a:ln cap="flat" w="19322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45" id="45"/>
            <p:cNvSpPr/>
            <p:nvPr/>
          </p:nvSpPr>
          <p:spPr>
            <a:xfrm flipV="true">
              <a:off x="923623" y="1195030"/>
              <a:ext cx="0" cy="483460"/>
            </a:xfrm>
            <a:prstGeom prst="line">
              <a:avLst/>
            </a:prstGeom>
            <a:ln cap="flat" w="19322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46" id="46"/>
            <p:cNvSpPr/>
            <p:nvPr/>
          </p:nvSpPr>
          <p:spPr>
            <a:xfrm flipV="true">
              <a:off x="1676766" y="380373"/>
              <a:ext cx="0" cy="483460"/>
            </a:xfrm>
            <a:prstGeom prst="line">
              <a:avLst/>
            </a:prstGeom>
            <a:ln cap="flat" w="19322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47" id="47"/>
            <p:cNvSpPr/>
            <p:nvPr/>
          </p:nvSpPr>
          <p:spPr>
            <a:xfrm flipV="true">
              <a:off x="1686426" y="1195030"/>
              <a:ext cx="0" cy="483460"/>
            </a:xfrm>
            <a:prstGeom prst="line">
              <a:avLst/>
            </a:prstGeom>
            <a:ln cap="flat" w="19322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48" id="48"/>
            <p:cNvSpPr/>
            <p:nvPr/>
          </p:nvSpPr>
          <p:spPr>
            <a:xfrm flipV="true">
              <a:off x="2496960" y="1195030"/>
              <a:ext cx="0" cy="483460"/>
            </a:xfrm>
            <a:prstGeom prst="line">
              <a:avLst/>
            </a:prstGeom>
            <a:ln cap="flat" w="19322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49" id="49"/>
            <p:cNvSpPr/>
            <p:nvPr/>
          </p:nvSpPr>
          <p:spPr>
            <a:xfrm flipV="true">
              <a:off x="2496960" y="380373"/>
              <a:ext cx="0" cy="483460"/>
            </a:xfrm>
            <a:prstGeom prst="line">
              <a:avLst/>
            </a:prstGeom>
            <a:ln cap="flat" w="19322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50" id="50"/>
            <p:cNvSpPr txBox="true"/>
            <p:nvPr/>
          </p:nvSpPr>
          <p:spPr>
            <a:xfrm rot="0">
              <a:off x="797547" y="-38100"/>
              <a:ext cx="252151" cy="41847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46"/>
                </a:lnSpc>
                <a:spcBef>
                  <a:spcPct val="0"/>
                </a:spcBef>
              </a:pPr>
              <a:r>
                <a:rPr lang="en-US" b="true" sz="1890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H</a:t>
              </a:r>
            </a:p>
          </p:txBody>
        </p:sp>
        <p:sp>
          <p:nvSpPr>
            <p:cNvPr name="TextBox 51" id="51"/>
            <p:cNvSpPr txBox="true"/>
            <p:nvPr/>
          </p:nvSpPr>
          <p:spPr>
            <a:xfrm rot="0">
              <a:off x="1560351" y="-38100"/>
              <a:ext cx="252151" cy="41847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46"/>
                </a:lnSpc>
                <a:spcBef>
                  <a:spcPct val="0"/>
                </a:spcBef>
              </a:pPr>
              <a:r>
                <a:rPr lang="en-US" b="true" sz="1890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H</a:t>
              </a:r>
            </a:p>
          </p:txBody>
        </p:sp>
        <p:sp>
          <p:nvSpPr>
            <p:cNvPr name="TextBox 52" id="52"/>
            <p:cNvSpPr txBox="true"/>
            <p:nvPr/>
          </p:nvSpPr>
          <p:spPr>
            <a:xfrm rot="0">
              <a:off x="2375202" y="-38100"/>
              <a:ext cx="252151" cy="41847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46"/>
                </a:lnSpc>
                <a:spcBef>
                  <a:spcPct val="0"/>
                </a:spcBef>
              </a:pPr>
              <a:r>
                <a:rPr lang="en-US" b="true" sz="1890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H</a:t>
              </a:r>
            </a:p>
          </p:txBody>
        </p:sp>
        <p:sp>
          <p:nvSpPr>
            <p:cNvPr name="TextBox 53" id="53"/>
            <p:cNvSpPr txBox="true"/>
            <p:nvPr/>
          </p:nvSpPr>
          <p:spPr>
            <a:xfrm rot="0">
              <a:off x="797547" y="1640390"/>
              <a:ext cx="252151" cy="41847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46"/>
                </a:lnSpc>
                <a:spcBef>
                  <a:spcPct val="0"/>
                </a:spcBef>
              </a:pPr>
              <a:r>
                <a:rPr lang="en-US" b="true" sz="1890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H</a:t>
              </a:r>
            </a:p>
          </p:txBody>
        </p:sp>
        <p:sp>
          <p:nvSpPr>
            <p:cNvPr name="TextBox 54" id="54"/>
            <p:cNvSpPr txBox="true"/>
            <p:nvPr/>
          </p:nvSpPr>
          <p:spPr>
            <a:xfrm rot="0">
              <a:off x="1560351" y="1640390"/>
              <a:ext cx="252151" cy="41847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46"/>
                </a:lnSpc>
                <a:spcBef>
                  <a:spcPct val="0"/>
                </a:spcBef>
              </a:pPr>
              <a:r>
                <a:rPr lang="en-US" b="true" sz="1890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H</a:t>
              </a:r>
            </a:p>
          </p:txBody>
        </p:sp>
        <p:sp>
          <p:nvSpPr>
            <p:cNvPr name="TextBox 55" id="55"/>
            <p:cNvSpPr txBox="true"/>
            <p:nvPr/>
          </p:nvSpPr>
          <p:spPr>
            <a:xfrm rot="0">
              <a:off x="2375202" y="1640390"/>
              <a:ext cx="252151" cy="41847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46"/>
                </a:lnSpc>
                <a:spcBef>
                  <a:spcPct val="0"/>
                </a:spcBef>
              </a:pPr>
              <a:r>
                <a:rPr lang="en-US" b="true" sz="1890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H</a:t>
              </a:r>
            </a:p>
          </p:txBody>
        </p:sp>
        <p:sp>
          <p:nvSpPr>
            <p:cNvPr name="AutoShape 56" id="56"/>
            <p:cNvSpPr/>
            <p:nvPr/>
          </p:nvSpPr>
          <p:spPr>
            <a:xfrm>
              <a:off x="3569587" y="1024165"/>
              <a:ext cx="483460" cy="0"/>
            </a:xfrm>
            <a:prstGeom prst="line">
              <a:avLst/>
            </a:prstGeom>
            <a:ln cap="flat" w="19322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57" id="57"/>
            <p:cNvSpPr txBox="true"/>
            <p:nvPr/>
          </p:nvSpPr>
          <p:spPr>
            <a:xfrm rot="0">
              <a:off x="3247093" y="776557"/>
              <a:ext cx="249011" cy="41847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46"/>
                </a:lnSpc>
                <a:spcBef>
                  <a:spcPct val="0"/>
                </a:spcBef>
              </a:pPr>
              <a:r>
                <a:rPr lang="en-US" b="true" sz="1890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O</a:t>
              </a:r>
            </a:p>
          </p:txBody>
        </p:sp>
        <p:sp>
          <p:nvSpPr>
            <p:cNvPr name="TextBox 58" id="58"/>
            <p:cNvSpPr txBox="true"/>
            <p:nvPr/>
          </p:nvSpPr>
          <p:spPr>
            <a:xfrm rot="0">
              <a:off x="3278943" y="492951"/>
              <a:ext cx="176675" cy="41847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46"/>
                </a:lnSpc>
                <a:spcBef>
                  <a:spcPct val="0"/>
                </a:spcBef>
              </a:pPr>
              <a:r>
                <a:rPr lang="en-US" b="true" sz="1890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..</a:t>
              </a:r>
            </a:p>
          </p:txBody>
        </p:sp>
        <p:sp>
          <p:nvSpPr>
            <p:cNvPr name="TextBox 59" id="59"/>
            <p:cNvSpPr txBox="true"/>
            <p:nvPr/>
          </p:nvSpPr>
          <p:spPr>
            <a:xfrm rot="-10800000">
              <a:off x="3290155" y="1137811"/>
              <a:ext cx="176675" cy="41847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46"/>
                </a:lnSpc>
                <a:spcBef>
                  <a:spcPct val="0"/>
                </a:spcBef>
              </a:pPr>
              <a:r>
                <a:rPr lang="en-US" b="true" sz="1890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..</a:t>
              </a:r>
            </a:p>
          </p:txBody>
        </p:sp>
      </p:grpSp>
      <p:sp>
        <p:nvSpPr>
          <p:cNvPr name="Freeform 60" id="60"/>
          <p:cNvSpPr/>
          <p:nvPr/>
        </p:nvSpPr>
        <p:spPr>
          <a:xfrm flipH="false" flipV="false" rot="0">
            <a:off x="6054593" y="5031418"/>
            <a:ext cx="3290487" cy="1279634"/>
          </a:xfrm>
          <a:custGeom>
            <a:avLst/>
            <a:gdLst/>
            <a:ahLst/>
            <a:cxnLst/>
            <a:rect r="r" b="b" t="t" l="l"/>
            <a:pathLst>
              <a:path h="1279634" w="3290487">
                <a:moveTo>
                  <a:pt x="0" y="0"/>
                </a:moveTo>
                <a:lnTo>
                  <a:pt x="3290487" y="0"/>
                </a:lnTo>
                <a:lnTo>
                  <a:pt x="3290487" y="1279633"/>
                </a:lnTo>
                <a:lnTo>
                  <a:pt x="0" y="127963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1" id="61"/>
          <p:cNvSpPr txBox="true"/>
          <p:nvPr/>
        </p:nvSpPr>
        <p:spPr>
          <a:xfrm rot="0">
            <a:off x="2293737" y="362256"/>
            <a:ext cx="6292932" cy="5629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61"/>
              </a:lnSpc>
              <a:spcBef>
                <a:spcPct val="0"/>
              </a:spcBef>
            </a:pPr>
            <a:r>
              <a:rPr lang="en-US" sz="3115">
                <a:solidFill>
                  <a:srgbClr val="FFFFFF"/>
                </a:solidFill>
                <a:latin typeface="Horizon"/>
                <a:ea typeface="Horizon"/>
                <a:cs typeface="Horizon"/>
                <a:sym typeface="Horizon"/>
              </a:rPr>
              <a:t>Card 02 - Ethanol</a:t>
            </a:r>
          </a:p>
        </p:txBody>
      </p:sp>
      <p:grpSp>
        <p:nvGrpSpPr>
          <p:cNvPr name="Group 62" id="62"/>
          <p:cNvGrpSpPr/>
          <p:nvPr/>
        </p:nvGrpSpPr>
        <p:grpSpPr>
          <a:xfrm rot="0">
            <a:off x="756000" y="2081377"/>
            <a:ext cx="4888648" cy="1336013"/>
            <a:chOff x="0" y="0"/>
            <a:chExt cx="6518198" cy="1781351"/>
          </a:xfrm>
        </p:grpSpPr>
        <p:sp>
          <p:nvSpPr>
            <p:cNvPr name="TextBox 63" id="63"/>
            <p:cNvSpPr txBox="true"/>
            <p:nvPr/>
          </p:nvSpPr>
          <p:spPr>
            <a:xfrm rot="0">
              <a:off x="0" y="-171450"/>
              <a:ext cx="6518198" cy="195280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2281"/>
                </a:lnSpc>
                <a:spcBef>
                  <a:spcPct val="0"/>
                </a:spcBef>
              </a:pPr>
              <a:r>
                <a:rPr lang="en-US" sz="8772">
                  <a:solidFill>
                    <a:srgbClr val="000000"/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C H O</a:t>
              </a:r>
            </a:p>
          </p:txBody>
        </p:sp>
        <p:sp>
          <p:nvSpPr>
            <p:cNvPr name="TextBox 64" id="64"/>
            <p:cNvSpPr txBox="true"/>
            <p:nvPr/>
          </p:nvSpPr>
          <p:spPr>
            <a:xfrm rot="0">
              <a:off x="1867428" y="545423"/>
              <a:ext cx="891781" cy="112186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7052"/>
                </a:lnSpc>
                <a:spcBef>
                  <a:spcPct val="0"/>
                </a:spcBef>
              </a:pPr>
              <a:r>
                <a:rPr lang="en-US" sz="5037">
                  <a:solidFill>
                    <a:srgbClr val="000000"/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2</a:t>
              </a:r>
            </a:p>
          </p:txBody>
        </p:sp>
        <p:sp>
          <p:nvSpPr>
            <p:cNvPr name="TextBox 65" id="65"/>
            <p:cNvSpPr txBox="true"/>
            <p:nvPr/>
          </p:nvSpPr>
          <p:spPr>
            <a:xfrm rot="0">
              <a:off x="3678899" y="545423"/>
              <a:ext cx="891781" cy="112186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7052"/>
                </a:lnSpc>
                <a:spcBef>
                  <a:spcPct val="0"/>
                </a:spcBef>
              </a:pPr>
              <a:r>
                <a:rPr lang="en-US" sz="5037">
                  <a:solidFill>
                    <a:srgbClr val="000000"/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6</a:t>
              </a:r>
            </a:p>
          </p:txBody>
        </p:sp>
      </p:grpSp>
      <p:grpSp>
        <p:nvGrpSpPr>
          <p:cNvPr name="Group 66" id="66"/>
          <p:cNvGrpSpPr/>
          <p:nvPr/>
        </p:nvGrpSpPr>
        <p:grpSpPr>
          <a:xfrm rot="0">
            <a:off x="-343145" y="5199735"/>
            <a:ext cx="6780728" cy="1338335"/>
            <a:chOff x="0" y="0"/>
            <a:chExt cx="9040971" cy="1784446"/>
          </a:xfrm>
        </p:grpSpPr>
        <p:sp>
          <p:nvSpPr>
            <p:cNvPr name="TextBox 67" id="67"/>
            <p:cNvSpPr txBox="true"/>
            <p:nvPr/>
          </p:nvSpPr>
          <p:spPr>
            <a:xfrm rot="0">
              <a:off x="0" y="-342900"/>
              <a:ext cx="9040971" cy="212734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2322"/>
                </a:lnSpc>
                <a:spcBef>
                  <a:spcPct val="0"/>
                </a:spcBef>
              </a:pPr>
              <a:r>
                <a:rPr lang="en-US" sz="8801">
                  <a:solidFill>
                    <a:srgbClr val="000000"/>
                  </a:solidFill>
                  <a:latin typeface="Impact"/>
                  <a:ea typeface="Impact"/>
                  <a:cs typeface="Impact"/>
                  <a:sym typeface="Impact"/>
                </a:rPr>
                <a:t>CH COCH</a:t>
              </a:r>
            </a:p>
          </p:txBody>
        </p:sp>
        <p:sp>
          <p:nvSpPr>
            <p:cNvPr name="TextBox 68" id="68"/>
            <p:cNvSpPr txBox="true"/>
            <p:nvPr/>
          </p:nvSpPr>
          <p:spPr>
            <a:xfrm rot="0">
              <a:off x="6590724" y="533294"/>
              <a:ext cx="860025" cy="116364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6761"/>
                </a:lnSpc>
                <a:spcBef>
                  <a:spcPct val="0"/>
                </a:spcBef>
              </a:pPr>
              <a:r>
                <a:rPr lang="en-US" sz="4829">
                  <a:solidFill>
                    <a:srgbClr val="000000"/>
                  </a:solidFill>
                  <a:latin typeface="Impact"/>
                  <a:ea typeface="Impact"/>
                  <a:cs typeface="Impact"/>
                  <a:sym typeface="Impact"/>
                </a:rPr>
                <a:t>3</a:t>
              </a:r>
            </a:p>
          </p:txBody>
        </p:sp>
        <p:sp>
          <p:nvSpPr>
            <p:cNvPr name="TextBox 69" id="69"/>
            <p:cNvSpPr txBox="true"/>
            <p:nvPr/>
          </p:nvSpPr>
          <p:spPr>
            <a:xfrm rot="0">
              <a:off x="3403327" y="533294"/>
              <a:ext cx="860025" cy="116364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6761"/>
                </a:lnSpc>
                <a:spcBef>
                  <a:spcPct val="0"/>
                </a:spcBef>
              </a:pPr>
              <a:r>
                <a:rPr lang="en-US" sz="4829">
                  <a:solidFill>
                    <a:srgbClr val="000000"/>
                  </a:solidFill>
                  <a:latin typeface="Impact"/>
                  <a:ea typeface="Impact"/>
                  <a:cs typeface="Impact"/>
                  <a:sym typeface="Impact"/>
                </a:rPr>
                <a:t>3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3E4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61785" y="1437626"/>
            <a:ext cx="8565953" cy="5366374"/>
            <a:chOff x="0" y="0"/>
            <a:chExt cx="11421271" cy="7155165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232350"/>
              <a:ext cx="5556832" cy="3078532"/>
              <a:chOff x="0" y="0"/>
              <a:chExt cx="635000" cy="351795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635000" cy="351795"/>
              </a:xfrm>
              <a:custGeom>
                <a:avLst/>
                <a:gdLst/>
                <a:ahLst/>
                <a:cxnLst/>
                <a:rect r="r" b="b" t="t" l="l"/>
                <a:pathLst>
                  <a:path h="351795" w="635000">
                    <a:moveTo>
                      <a:pt x="42087" y="0"/>
                    </a:moveTo>
                    <a:lnTo>
                      <a:pt x="592913" y="0"/>
                    </a:lnTo>
                    <a:cubicBezTo>
                      <a:pt x="616157" y="0"/>
                      <a:pt x="635000" y="18843"/>
                      <a:pt x="635000" y="42087"/>
                    </a:cubicBezTo>
                    <a:lnTo>
                      <a:pt x="635000" y="309708"/>
                    </a:lnTo>
                    <a:cubicBezTo>
                      <a:pt x="635000" y="332952"/>
                      <a:pt x="616157" y="351795"/>
                      <a:pt x="592913" y="351795"/>
                    </a:cubicBezTo>
                    <a:lnTo>
                      <a:pt x="42087" y="351795"/>
                    </a:lnTo>
                    <a:cubicBezTo>
                      <a:pt x="18843" y="351795"/>
                      <a:pt x="0" y="332952"/>
                      <a:pt x="0" y="309708"/>
                    </a:cubicBezTo>
                    <a:lnTo>
                      <a:pt x="0" y="42087"/>
                    </a:lnTo>
                    <a:cubicBezTo>
                      <a:pt x="0" y="18843"/>
                      <a:pt x="18843" y="0"/>
                      <a:pt x="4208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rnd">
                <a:noFill/>
                <a:prstDash val="sysDot"/>
                <a:round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38100"/>
                <a:ext cx="635000" cy="38989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820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849109" y="0"/>
              <a:ext cx="3799999" cy="495222"/>
              <a:chOff x="0" y="0"/>
              <a:chExt cx="1061224" cy="138301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1061224" cy="138301"/>
              </a:xfrm>
              <a:custGeom>
                <a:avLst/>
                <a:gdLst/>
                <a:ahLst/>
                <a:cxnLst/>
                <a:rect r="r" b="b" t="t" l="l"/>
                <a:pathLst>
                  <a:path h="138301" w="1061224">
                    <a:moveTo>
                      <a:pt x="69150" y="0"/>
                    </a:moveTo>
                    <a:lnTo>
                      <a:pt x="992073" y="0"/>
                    </a:lnTo>
                    <a:cubicBezTo>
                      <a:pt x="1010413" y="0"/>
                      <a:pt x="1028002" y="7285"/>
                      <a:pt x="1040970" y="20254"/>
                    </a:cubicBezTo>
                    <a:cubicBezTo>
                      <a:pt x="1053938" y="33222"/>
                      <a:pt x="1061224" y="50810"/>
                      <a:pt x="1061224" y="69150"/>
                    </a:cubicBezTo>
                    <a:lnTo>
                      <a:pt x="1061224" y="69150"/>
                    </a:lnTo>
                    <a:cubicBezTo>
                      <a:pt x="1061224" y="87490"/>
                      <a:pt x="1053938" y="105079"/>
                      <a:pt x="1040970" y="118047"/>
                    </a:cubicBezTo>
                    <a:cubicBezTo>
                      <a:pt x="1028002" y="131015"/>
                      <a:pt x="1010413" y="138301"/>
                      <a:pt x="992073" y="138301"/>
                    </a:cubicBezTo>
                    <a:lnTo>
                      <a:pt x="69150" y="138301"/>
                    </a:lnTo>
                    <a:cubicBezTo>
                      <a:pt x="50810" y="138301"/>
                      <a:pt x="33222" y="131015"/>
                      <a:pt x="20254" y="118047"/>
                    </a:cubicBezTo>
                    <a:cubicBezTo>
                      <a:pt x="7285" y="105079"/>
                      <a:pt x="0" y="87490"/>
                      <a:pt x="0" y="69150"/>
                    </a:cubicBezTo>
                    <a:lnTo>
                      <a:pt x="0" y="69150"/>
                    </a:lnTo>
                    <a:cubicBezTo>
                      <a:pt x="0" y="50810"/>
                      <a:pt x="7285" y="33222"/>
                      <a:pt x="20254" y="20254"/>
                    </a:cubicBezTo>
                    <a:cubicBezTo>
                      <a:pt x="33222" y="7285"/>
                      <a:pt x="50810" y="0"/>
                      <a:pt x="69150" y="0"/>
                    </a:cubicBezTo>
                    <a:close/>
                  </a:path>
                </a:pathLst>
              </a:custGeom>
              <a:solidFill>
                <a:srgbClr val="004AAD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38100"/>
                <a:ext cx="1061224" cy="176401"/>
              </a:xfrm>
              <a:prstGeom prst="rect">
                <a:avLst/>
              </a:prstGeom>
            </p:spPr>
            <p:txBody>
              <a:bodyPr anchor="ctr" rtlCol="false" tIns="48892" lIns="48892" bIns="48892" rIns="48892"/>
              <a:lstStyle/>
              <a:p>
                <a:pPr algn="ctr">
                  <a:lnSpc>
                    <a:spcPts val="1820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9" id="9"/>
            <p:cNvSpPr txBox="true"/>
            <p:nvPr/>
          </p:nvSpPr>
          <p:spPr>
            <a:xfrm rot="0">
              <a:off x="994956" y="8931"/>
              <a:ext cx="3436342" cy="42994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701"/>
                </a:lnSpc>
                <a:spcBef>
                  <a:spcPct val="0"/>
                </a:spcBef>
              </a:pPr>
              <a:r>
                <a:rPr lang="en-US" sz="1929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Molecular Formula</a:t>
              </a:r>
            </a:p>
          </p:txBody>
        </p:sp>
        <p:grpSp>
          <p:nvGrpSpPr>
            <p:cNvPr name="Group 10" id="10"/>
            <p:cNvGrpSpPr/>
            <p:nvPr/>
          </p:nvGrpSpPr>
          <p:grpSpPr>
            <a:xfrm rot="0">
              <a:off x="5864439" y="232350"/>
              <a:ext cx="5556832" cy="3078532"/>
              <a:chOff x="0" y="0"/>
              <a:chExt cx="635000" cy="351795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635000" cy="351795"/>
              </a:xfrm>
              <a:custGeom>
                <a:avLst/>
                <a:gdLst/>
                <a:ahLst/>
                <a:cxnLst/>
                <a:rect r="r" b="b" t="t" l="l"/>
                <a:pathLst>
                  <a:path h="351795" w="635000">
                    <a:moveTo>
                      <a:pt x="42087" y="0"/>
                    </a:moveTo>
                    <a:lnTo>
                      <a:pt x="592913" y="0"/>
                    </a:lnTo>
                    <a:cubicBezTo>
                      <a:pt x="616157" y="0"/>
                      <a:pt x="635000" y="18843"/>
                      <a:pt x="635000" y="42087"/>
                    </a:cubicBezTo>
                    <a:lnTo>
                      <a:pt x="635000" y="309708"/>
                    </a:lnTo>
                    <a:cubicBezTo>
                      <a:pt x="635000" y="332952"/>
                      <a:pt x="616157" y="351795"/>
                      <a:pt x="592913" y="351795"/>
                    </a:cubicBezTo>
                    <a:lnTo>
                      <a:pt x="42087" y="351795"/>
                    </a:lnTo>
                    <a:cubicBezTo>
                      <a:pt x="18843" y="351795"/>
                      <a:pt x="0" y="332952"/>
                      <a:pt x="0" y="309708"/>
                    </a:cubicBezTo>
                    <a:lnTo>
                      <a:pt x="0" y="42087"/>
                    </a:lnTo>
                    <a:cubicBezTo>
                      <a:pt x="0" y="18843"/>
                      <a:pt x="18843" y="0"/>
                      <a:pt x="4208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rnd">
                <a:noFill/>
                <a:prstDash val="sysDot"/>
                <a:round/>
              </a:ln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28575"/>
                <a:ext cx="635000" cy="38037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60"/>
                  </a:lnSpc>
                </a:pPr>
              </a:p>
            </p:txBody>
          </p:sp>
        </p:grpSp>
        <p:grpSp>
          <p:nvGrpSpPr>
            <p:cNvPr name="Group 13" id="13"/>
            <p:cNvGrpSpPr/>
            <p:nvPr/>
          </p:nvGrpSpPr>
          <p:grpSpPr>
            <a:xfrm rot="0">
              <a:off x="6713548" y="0"/>
              <a:ext cx="3799999" cy="495222"/>
              <a:chOff x="0" y="0"/>
              <a:chExt cx="1061224" cy="138301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1061224" cy="138301"/>
              </a:xfrm>
              <a:custGeom>
                <a:avLst/>
                <a:gdLst/>
                <a:ahLst/>
                <a:cxnLst/>
                <a:rect r="r" b="b" t="t" l="l"/>
                <a:pathLst>
                  <a:path h="138301" w="1061224">
                    <a:moveTo>
                      <a:pt x="69150" y="0"/>
                    </a:moveTo>
                    <a:lnTo>
                      <a:pt x="992073" y="0"/>
                    </a:lnTo>
                    <a:cubicBezTo>
                      <a:pt x="1010413" y="0"/>
                      <a:pt x="1028002" y="7285"/>
                      <a:pt x="1040970" y="20254"/>
                    </a:cubicBezTo>
                    <a:cubicBezTo>
                      <a:pt x="1053938" y="33222"/>
                      <a:pt x="1061224" y="50810"/>
                      <a:pt x="1061224" y="69150"/>
                    </a:cubicBezTo>
                    <a:lnTo>
                      <a:pt x="1061224" y="69150"/>
                    </a:lnTo>
                    <a:cubicBezTo>
                      <a:pt x="1061224" y="87490"/>
                      <a:pt x="1053938" y="105079"/>
                      <a:pt x="1040970" y="118047"/>
                    </a:cubicBezTo>
                    <a:cubicBezTo>
                      <a:pt x="1028002" y="131015"/>
                      <a:pt x="1010413" y="138301"/>
                      <a:pt x="992073" y="138301"/>
                    </a:cubicBezTo>
                    <a:lnTo>
                      <a:pt x="69150" y="138301"/>
                    </a:lnTo>
                    <a:cubicBezTo>
                      <a:pt x="50810" y="138301"/>
                      <a:pt x="33222" y="131015"/>
                      <a:pt x="20254" y="118047"/>
                    </a:cubicBezTo>
                    <a:cubicBezTo>
                      <a:pt x="7285" y="105079"/>
                      <a:pt x="0" y="87490"/>
                      <a:pt x="0" y="69150"/>
                    </a:cubicBezTo>
                    <a:lnTo>
                      <a:pt x="0" y="69150"/>
                    </a:lnTo>
                    <a:cubicBezTo>
                      <a:pt x="0" y="50810"/>
                      <a:pt x="7285" y="33222"/>
                      <a:pt x="20254" y="20254"/>
                    </a:cubicBezTo>
                    <a:cubicBezTo>
                      <a:pt x="33222" y="7285"/>
                      <a:pt x="50810" y="0"/>
                      <a:pt x="69150" y="0"/>
                    </a:cubicBezTo>
                    <a:close/>
                  </a:path>
                </a:pathLst>
              </a:custGeom>
              <a:solidFill>
                <a:srgbClr val="004AAD"/>
              </a:solidFill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0" y="-28575"/>
                <a:ext cx="1061224" cy="166876"/>
              </a:xfrm>
              <a:prstGeom prst="rect">
                <a:avLst/>
              </a:prstGeom>
            </p:spPr>
            <p:txBody>
              <a:bodyPr anchor="ctr" rtlCol="false" tIns="48892" lIns="48892" bIns="48892" rIns="48892"/>
              <a:lstStyle/>
              <a:p>
                <a:pPr algn="ctr">
                  <a:lnSpc>
                    <a:spcPts val="1960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16" id="16"/>
            <p:cNvSpPr txBox="true"/>
            <p:nvPr/>
          </p:nvSpPr>
          <p:spPr>
            <a:xfrm rot="0">
              <a:off x="6859395" y="8931"/>
              <a:ext cx="3436342" cy="42994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701"/>
                </a:lnSpc>
                <a:spcBef>
                  <a:spcPct val="0"/>
                </a:spcBef>
              </a:pPr>
              <a:r>
                <a:rPr lang="en-US" sz="1929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Lewis Structure</a:t>
              </a:r>
            </a:p>
          </p:txBody>
        </p:sp>
        <p:grpSp>
          <p:nvGrpSpPr>
            <p:cNvPr name="Group 17" id="17"/>
            <p:cNvGrpSpPr/>
            <p:nvPr/>
          </p:nvGrpSpPr>
          <p:grpSpPr>
            <a:xfrm rot="0">
              <a:off x="0" y="4076632"/>
              <a:ext cx="5556832" cy="3078532"/>
              <a:chOff x="0" y="0"/>
              <a:chExt cx="635000" cy="351795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635000" cy="351795"/>
              </a:xfrm>
              <a:custGeom>
                <a:avLst/>
                <a:gdLst/>
                <a:ahLst/>
                <a:cxnLst/>
                <a:rect r="r" b="b" t="t" l="l"/>
                <a:pathLst>
                  <a:path h="351795" w="635000">
                    <a:moveTo>
                      <a:pt x="42087" y="0"/>
                    </a:moveTo>
                    <a:lnTo>
                      <a:pt x="592913" y="0"/>
                    </a:lnTo>
                    <a:cubicBezTo>
                      <a:pt x="616157" y="0"/>
                      <a:pt x="635000" y="18843"/>
                      <a:pt x="635000" y="42087"/>
                    </a:cubicBezTo>
                    <a:lnTo>
                      <a:pt x="635000" y="309708"/>
                    </a:lnTo>
                    <a:cubicBezTo>
                      <a:pt x="635000" y="332952"/>
                      <a:pt x="616157" y="351795"/>
                      <a:pt x="592913" y="351795"/>
                    </a:cubicBezTo>
                    <a:lnTo>
                      <a:pt x="42087" y="351795"/>
                    </a:lnTo>
                    <a:cubicBezTo>
                      <a:pt x="18843" y="351795"/>
                      <a:pt x="0" y="332952"/>
                      <a:pt x="0" y="309708"/>
                    </a:cubicBezTo>
                    <a:lnTo>
                      <a:pt x="0" y="42087"/>
                    </a:lnTo>
                    <a:cubicBezTo>
                      <a:pt x="0" y="18843"/>
                      <a:pt x="18843" y="0"/>
                      <a:pt x="4208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rnd">
                <a:noFill/>
                <a:prstDash val="sysDot"/>
                <a:round/>
              </a:ln>
            </p:spPr>
          </p:sp>
          <p:sp>
            <p:nvSpPr>
              <p:cNvPr name="TextBox 19" id="19"/>
              <p:cNvSpPr txBox="true"/>
              <p:nvPr/>
            </p:nvSpPr>
            <p:spPr>
              <a:xfrm>
                <a:off x="0" y="-28575"/>
                <a:ext cx="635000" cy="38037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60"/>
                  </a:lnSpc>
                </a:pPr>
              </a:p>
            </p:txBody>
          </p:sp>
        </p:grpSp>
        <p:grpSp>
          <p:nvGrpSpPr>
            <p:cNvPr name="Group 20" id="20"/>
            <p:cNvGrpSpPr/>
            <p:nvPr/>
          </p:nvGrpSpPr>
          <p:grpSpPr>
            <a:xfrm rot="0">
              <a:off x="510787" y="3891314"/>
              <a:ext cx="4535257" cy="495222"/>
              <a:chOff x="0" y="0"/>
              <a:chExt cx="1266559" cy="138301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0" y="0"/>
                <a:ext cx="1266559" cy="138301"/>
              </a:xfrm>
              <a:custGeom>
                <a:avLst/>
                <a:gdLst/>
                <a:ahLst/>
                <a:cxnLst/>
                <a:rect r="r" b="b" t="t" l="l"/>
                <a:pathLst>
                  <a:path h="138301" w="1266559">
                    <a:moveTo>
                      <a:pt x="69150" y="0"/>
                    </a:moveTo>
                    <a:lnTo>
                      <a:pt x="1197409" y="0"/>
                    </a:lnTo>
                    <a:cubicBezTo>
                      <a:pt x="1235599" y="0"/>
                      <a:pt x="1266559" y="30960"/>
                      <a:pt x="1266559" y="69150"/>
                    </a:cubicBezTo>
                    <a:lnTo>
                      <a:pt x="1266559" y="69150"/>
                    </a:lnTo>
                    <a:cubicBezTo>
                      <a:pt x="1266559" y="87490"/>
                      <a:pt x="1259273" y="105079"/>
                      <a:pt x="1246305" y="118047"/>
                    </a:cubicBezTo>
                    <a:cubicBezTo>
                      <a:pt x="1233337" y="131015"/>
                      <a:pt x="1215748" y="138301"/>
                      <a:pt x="1197409" y="138301"/>
                    </a:cubicBezTo>
                    <a:lnTo>
                      <a:pt x="69150" y="138301"/>
                    </a:lnTo>
                    <a:cubicBezTo>
                      <a:pt x="50810" y="138301"/>
                      <a:pt x="33222" y="131015"/>
                      <a:pt x="20254" y="118047"/>
                    </a:cubicBezTo>
                    <a:cubicBezTo>
                      <a:pt x="7285" y="105079"/>
                      <a:pt x="0" y="87490"/>
                      <a:pt x="0" y="69150"/>
                    </a:cubicBezTo>
                    <a:lnTo>
                      <a:pt x="0" y="69150"/>
                    </a:lnTo>
                    <a:cubicBezTo>
                      <a:pt x="0" y="50810"/>
                      <a:pt x="7285" y="33222"/>
                      <a:pt x="20254" y="20254"/>
                    </a:cubicBezTo>
                    <a:cubicBezTo>
                      <a:pt x="33222" y="7285"/>
                      <a:pt x="50810" y="0"/>
                      <a:pt x="69150" y="0"/>
                    </a:cubicBezTo>
                    <a:close/>
                  </a:path>
                </a:pathLst>
              </a:custGeom>
              <a:solidFill>
                <a:srgbClr val="004AAD"/>
              </a:solidFill>
            </p:spPr>
          </p:sp>
          <p:sp>
            <p:nvSpPr>
              <p:cNvPr name="TextBox 22" id="22"/>
              <p:cNvSpPr txBox="true"/>
              <p:nvPr/>
            </p:nvSpPr>
            <p:spPr>
              <a:xfrm>
                <a:off x="0" y="-28575"/>
                <a:ext cx="1266559" cy="166876"/>
              </a:xfrm>
              <a:prstGeom prst="rect">
                <a:avLst/>
              </a:prstGeom>
            </p:spPr>
            <p:txBody>
              <a:bodyPr anchor="ctr" rtlCol="false" tIns="48892" lIns="48892" bIns="48892" rIns="48892"/>
              <a:lstStyle/>
              <a:p>
                <a:pPr algn="ctr">
                  <a:lnSpc>
                    <a:spcPts val="1960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23" id="23"/>
            <p:cNvSpPr txBox="true"/>
            <p:nvPr/>
          </p:nvSpPr>
          <p:spPr>
            <a:xfrm rot="0">
              <a:off x="636817" y="3937400"/>
              <a:ext cx="4283198" cy="3649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315"/>
                </a:lnSpc>
                <a:spcBef>
                  <a:spcPct val="0"/>
                </a:spcBef>
              </a:pPr>
              <a:r>
                <a:rPr lang="en-US" sz="1653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Condensed Structural Formula</a:t>
              </a:r>
            </a:p>
          </p:txBody>
        </p:sp>
        <p:grpSp>
          <p:nvGrpSpPr>
            <p:cNvPr name="Group 24" id="24"/>
            <p:cNvGrpSpPr/>
            <p:nvPr/>
          </p:nvGrpSpPr>
          <p:grpSpPr>
            <a:xfrm rot="0">
              <a:off x="5864439" y="4076632"/>
              <a:ext cx="5556832" cy="3078532"/>
              <a:chOff x="0" y="0"/>
              <a:chExt cx="635000" cy="351795"/>
            </a:xfrm>
          </p:grpSpPr>
          <p:sp>
            <p:nvSpPr>
              <p:cNvPr name="Freeform 25" id="25"/>
              <p:cNvSpPr/>
              <p:nvPr/>
            </p:nvSpPr>
            <p:spPr>
              <a:xfrm flipH="false" flipV="false" rot="0">
                <a:off x="0" y="0"/>
                <a:ext cx="635000" cy="351795"/>
              </a:xfrm>
              <a:custGeom>
                <a:avLst/>
                <a:gdLst/>
                <a:ahLst/>
                <a:cxnLst/>
                <a:rect r="r" b="b" t="t" l="l"/>
                <a:pathLst>
                  <a:path h="351795" w="635000">
                    <a:moveTo>
                      <a:pt x="42087" y="0"/>
                    </a:moveTo>
                    <a:lnTo>
                      <a:pt x="592913" y="0"/>
                    </a:lnTo>
                    <a:cubicBezTo>
                      <a:pt x="616157" y="0"/>
                      <a:pt x="635000" y="18843"/>
                      <a:pt x="635000" y="42087"/>
                    </a:cubicBezTo>
                    <a:lnTo>
                      <a:pt x="635000" y="309708"/>
                    </a:lnTo>
                    <a:cubicBezTo>
                      <a:pt x="635000" y="332952"/>
                      <a:pt x="616157" y="351795"/>
                      <a:pt x="592913" y="351795"/>
                    </a:cubicBezTo>
                    <a:lnTo>
                      <a:pt x="42087" y="351795"/>
                    </a:lnTo>
                    <a:cubicBezTo>
                      <a:pt x="18843" y="351795"/>
                      <a:pt x="0" y="332952"/>
                      <a:pt x="0" y="309708"/>
                    </a:cubicBezTo>
                    <a:lnTo>
                      <a:pt x="0" y="42087"/>
                    </a:lnTo>
                    <a:cubicBezTo>
                      <a:pt x="0" y="18843"/>
                      <a:pt x="18843" y="0"/>
                      <a:pt x="4208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rnd">
                <a:noFill/>
                <a:prstDash val="sysDot"/>
                <a:round/>
              </a:ln>
            </p:spPr>
          </p:sp>
          <p:sp>
            <p:nvSpPr>
              <p:cNvPr name="TextBox 26" id="26"/>
              <p:cNvSpPr txBox="true"/>
              <p:nvPr/>
            </p:nvSpPr>
            <p:spPr>
              <a:xfrm>
                <a:off x="0" y="-28575"/>
                <a:ext cx="635000" cy="38037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60"/>
                  </a:lnSpc>
                </a:pPr>
              </a:p>
            </p:txBody>
          </p:sp>
        </p:grpSp>
        <p:grpSp>
          <p:nvGrpSpPr>
            <p:cNvPr name="Group 27" id="27"/>
            <p:cNvGrpSpPr/>
            <p:nvPr/>
          </p:nvGrpSpPr>
          <p:grpSpPr>
            <a:xfrm rot="0">
              <a:off x="6713548" y="3844282"/>
              <a:ext cx="3799999" cy="495222"/>
              <a:chOff x="0" y="0"/>
              <a:chExt cx="1061224" cy="138301"/>
            </a:xfrm>
          </p:grpSpPr>
          <p:sp>
            <p:nvSpPr>
              <p:cNvPr name="Freeform 28" id="28"/>
              <p:cNvSpPr/>
              <p:nvPr/>
            </p:nvSpPr>
            <p:spPr>
              <a:xfrm flipH="false" flipV="false" rot="0">
                <a:off x="0" y="0"/>
                <a:ext cx="1061224" cy="138301"/>
              </a:xfrm>
              <a:custGeom>
                <a:avLst/>
                <a:gdLst/>
                <a:ahLst/>
                <a:cxnLst/>
                <a:rect r="r" b="b" t="t" l="l"/>
                <a:pathLst>
                  <a:path h="138301" w="1061224">
                    <a:moveTo>
                      <a:pt x="69150" y="0"/>
                    </a:moveTo>
                    <a:lnTo>
                      <a:pt x="992073" y="0"/>
                    </a:lnTo>
                    <a:cubicBezTo>
                      <a:pt x="1010413" y="0"/>
                      <a:pt x="1028002" y="7285"/>
                      <a:pt x="1040970" y="20254"/>
                    </a:cubicBezTo>
                    <a:cubicBezTo>
                      <a:pt x="1053938" y="33222"/>
                      <a:pt x="1061224" y="50810"/>
                      <a:pt x="1061224" y="69150"/>
                    </a:cubicBezTo>
                    <a:lnTo>
                      <a:pt x="1061224" y="69150"/>
                    </a:lnTo>
                    <a:cubicBezTo>
                      <a:pt x="1061224" y="87490"/>
                      <a:pt x="1053938" y="105079"/>
                      <a:pt x="1040970" y="118047"/>
                    </a:cubicBezTo>
                    <a:cubicBezTo>
                      <a:pt x="1028002" y="131015"/>
                      <a:pt x="1010413" y="138301"/>
                      <a:pt x="992073" y="138301"/>
                    </a:cubicBezTo>
                    <a:lnTo>
                      <a:pt x="69150" y="138301"/>
                    </a:lnTo>
                    <a:cubicBezTo>
                      <a:pt x="50810" y="138301"/>
                      <a:pt x="33222" y="131015"/>
                      <a:pt x="20254" y="118047"/>
                    </a:cubicBezTo>
                    <a:cubicBezTo>
                      <a:pt x="7285" y="105079"/>
                      <a:pt x="0" y="87490"/>
                      <a:pt x="0" y="69150"/>
                    </a:cubicBezTo>
                    <a:lnTo>
                      <a:pt x="0" y="69150"/>
                    </a:lnTo>
                    <a:cubicBezTo>
                      <a:pt x="0" y="50810"/>
                      <a:pt x="7285" y="33222"/>
                      <a:pt x="20254" y="20254"/>
                    </a:cubicBezTo>
                    <a:cubicBezTo>
                      <a:pt x="33222" y="7285"/>
                      <a:pt x="50810" y="0"/>
                      <a:pt x="69150" y="0"/>
                    </a:cubicBezTo>
                    <a:close/>
                  </a:path>
                </a:pathLst>
              </a:custGeom>
              <a:solidFill>
                <a:srgbClr val="004AAD"/>
              </a:solidFill>
            </p:spPr>
          </p:sp>
          <p:sp>
            <p:nvSpPr>
              <p:cNvPr name="TextBox 29" id="29"/>
              <p:cNvSpPr txBox="true"/>
              <p:nvPr/>
            </p:nvSpPr>
            <p:spPr>
              <a:xfrm>
                <a:off x="0" y="-28575"/>
                <a:ext cx="1061224" cy="166876"/>
              </a:xfrm>
              <a:prstGeom prst="rect">
                <a:avLst/>
              </a:prstGeom>
            </p:spPr>
            <p:txBody>
              <a:bodyPr anchor="ctr" rtlCol="false" tIns="48892" lIns="48892" bIns="48892" rIns="48892"/>
              <a:lstStyle/>
              <a:p>
                <a:pPr algn="ctr">
                  <a:lnSpc>
                    <a:spcPts val="1960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30" id="30"/>
            <p:cNvSpPr txBox="true"/>
            <p:nvPr/>
          </p:nvSpPr>
          <p:spPr>
            <a:xfrm rot="0">
              <a:off x="6924684" y="3853214"/>
              <a:ext cx="3436342" cy="42994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701"/>
                </a:lnSpc>
                <a:spcBef>
                  <a:spcPct val="0"/>
                </a:spcBef>
              </a:pPr>
              <a:r>
                <a:rPr lang="en-US" sz="1929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Bond-Line Structure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051506" y="366072"/>
            <a:ext cx="8588987" cy="650546"/>
            <a:chOff x="0" y="0"/>
            <a:chExt cx="3198189" cy="242237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3198189" cy="242237"/>
            </a:xfrm>
            <a:custGeom>
              <a:avLst/>
              <a:gdLst/>
              <a:ahLst/>
              <a:cxnLst/>
              <a:rect r="r" b="b" t="t" l="l"/>
              <a:pathLst>
                <a:path h="242237" w="3198189">
                  <a:moveTo>
                    <a:pt x="0" y="0"/>
                  </a:moveTo>
                  <a:lnTo>
                    <a:pt x="3198189" y="0"/>
                  </a:lnTo>
                  <a:lnTo>
                    <a:pt x="3198189" y="242237"/>
                  </a:lnTo>
                  <a:lnTo>
                    <a:pt x="0" y="242237"/>
                  </a:ln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100000"/>
                  </a:srgbClr>
                </a:gs>
                <a:gs pos="100000">
                  <a:srgbClr val="3533CD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28575"/>
              <a:ext cx="3198189" cy="270812"/>
            </a:xfrm>
            <a:prstGeom prst="rect">
              <a:avLst/>
            </a:prstGeom>
          </p:spPr>
          <p:txBody>
            <a:bodyPr anchor="ctr" rtlCol="false" tIns="48892" lIns="48892" bIns="48892" rIns="48892"/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6369146" y="1959405"/>
            <a:ext cx="2902493" cy="1714599"/>
            <a:chOff x="0" y="0"/>
            <a:chExt cx="3869990" cy="2286132"/>
          </a:xfrm>
        </p:grpSpPr>
        <p:sp>
          <p:nvSpPr>
            <p:cNvPr name="AutoShape 35" id="35"/>
            <p:cNvSpPr/>
            <p:nvPr/>
          </p:nvSpPr>
          <p:spPr>
            <a:xfrm>
              <a:off x="1159213" y="1115764"/>
              <a:ext cx="536827" cy="0"/>
            </a:xfrm>
            <a:prstGeom prst="line">
              <a:avLst/>
            </a:prstGeom>
            <a:ln cap="flat" w="21455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36" id="36"/>
            <p:cNvSpPr txBox="true"/>
            <p:nvPr/>
          </p:nvSpPr>
          <p:spPr>
            <a:xfrm rot="0">
              <a:off x="878088" y="877211"/>
              <a:ext cx="248943" cy="46046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939"/>
                </a:lnSpc>
                <a:spcBef>
                  <a:spcPct val="0"/>
                </a:spcBef>
              </a:pPr>
              <a:r>
                <a:rPr lang="en-US" b="true" sz="2099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C</a:t>
              </a:r>
            </a:p>
          </p:txBody>
        </p:sp>
        <p:sp>
          <p:nvSpPr>
            <p:cNvPr name="TextBox 37" id="37"/>
            <p:cNvSpPr txBox="true"/>
            <p:nvPr/>
          </p:nvSpPr>
          <p:spPr>
            <a:xfrm rot="0">
              <a:off x="0" y="877211"/>
              <a:ext cx="279985" cy="46046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939"/>
                </a:lnSpc>
                <a:spcBef>
                  <a:spcPct val="0"/>
                </a:spcBef>
              </a:pPr>
              <a:r>
                <a:rPr lang="en-US" b="true" sz="2099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H</a:t>
              </a:r>
            </a:p>
          </p:txBody>
        </p:sp>
        <p:sp>
          <p:nvSpPr>
            <p:cNvPr name="AutoShape 38" id="38"/>
            <p:cNvSpPr/>
            <p:nvPr/>
          </p:nvSpPr>
          <p:spPr>
            <a:xfrm>
              <a:off x="310623" y="1115764"/>
              <a:ext cx="536827" cy="0"/>
            </a:xfrm>
            <a:prstGeom prst="line">
              <a:avLst/>
            </a:prstGeom>
            <a:ln cap="flat" w="21455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39" id="39"/>
            <p:cNvSpPr txBox="true"/>
            <p:nvPr/>
          </p:nvSpPr>
          <p:spPr>
            <a:xfrm rot="0">
              <a:off x="1728222" y="866484"/>
              <a:ext cx="248943" cy="46046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939"/>
                </a:lnSpc>
                <a:spcBef>
                  <a:spcPct val="0"/>
                </a:spcBef>
              </a:pPr>
              <a:r>
                <a:rPr lang="en-US" b="true" sz="2099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C</a:t>
              </a:r>
            </a:p>
          </p:txBody>
        </p:sp>
        <p:sp>
          <p:nvSpPr>
            <p:cNvPr name="AutoShape 40" id="40"/>
            <p:cNvSpPr/>
            <p:nvPr/>
          </p:nvSpPr>
          <p:spPr>
            <a:xfrm>
              <a:off x="2068382" y="1115764"/>
              <a:ext cx="536827" cy="0"/>
            </a:xfrm>
            <a:prstGeom prst="line">
              <a:avLst/>
            </a:prstGeom>
            <a:ln cap="flat" w="21455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41" id="41"/>
            <p:cNvSpPr txBox="true"/>
            <p:nvPr/>
          </p:nvSpPr>
          <p:spPr>
            <a:xfrm rot="0">
              <a:off x="2637391" y="866484"/>
              <a:ext cx="248943" cy="46046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939"/>
                </a:lnSpc>
                <a:spcBef>
                  <a:spcPct val="0"/>
                </a:spcBef>
              </a:pPr>
              <a:r>
                <a:rPr lang="en-US" b="true" sz="2099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C</a:t>
              </a:r>
            </a:p>
          </p:txBody>
        </p:sp>
        <p:sp>
          <p:nvSpPr>
            <p:cNvPr name="AutoShape 42" id="42"/>
            <p:cNvSpPr/>
            <p:nvPr/>
          </p:nvSpPr>
          <p:spPr>
            <a:xfrm>
              <a:off x="2977516" y="1115764"/>
              <a:ext cx="536827" cy="0"/>
            </a:xfrm>
            <a:prstGeom prst="line">
              <a:avLst/>
            </a:prstGeom>
            <a:ln cap="flat" w="21455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43" id="43"/>
            <p:cNvSpPr txBox="true"/>
            <p:nvPr/>
          </p:nvSpPr>
          <p:spPr>
            <a:xfrm rot="0">
              <a:off x="3590005" y="877211"/>
              <a:ext cx="279985" cy="46046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939"/>
                </a:lnSpc>
                <a:spcBef>
                  <a:spcPct val="0"/>
                </a:spcBef>
              </a:pPr>
              <a:r>
                <a:rPr lang="en-US" b="true" sz="2099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H</a:t>
              </a:r>
            </a:p>
          </p:txBody>
        </p:sp>
        <p:sp>
          <p:nvSpPr>
            <p:cNvPr name="AutoShape 44" id="44"/>
            <p:cNvSpPr/>
            <p:nvPr/>
          </p:nvSpPr>
          <p:spPr>
            <a:xfrm flipV="true">
              <a:off x="1014850" y="422361"/>
              <a:ext cx="0" cy="536827"/>
            </a:xfrm>
            <a:prstGeom prst="line">
              <a:avLst/>
            </a:prstGeom>
            <a:ln cap="flat" w="21455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45" id="45"/>
            <p:cNvSpPr/>
            <p:nvPr/>
          </p:nvSpPr>
          <p:spPr>
            <a:xfrm flipV="true">
              <a:off x="1025578" y="1326945"/>
              <a:ext cx="0" cy="536827"/>
            </a:xfrm>
            <a:prstGeom prst="line">
              <a:avLst/>
            </a:prstGeom>
            <a:ln cap="flat" w="21455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46" id="46"/>
            <p:cNvSpPr/>
            <p:nvPr/>
          </p:nvSpPr>
          <p:spPr>
            <a:xfrm flipV="true">
              <a:off x="1831484" y="422361"/>
              <a:ext cx="0" cy="536827"/>
            </a:xfrm>
            <a:prstGeom prst="line">
              <a:avLst/>
            </a:prstGeom>
            <a:ln cap="flat" w="21455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47" id="47"/>
            <p:cNvSpPr/>
            <p:nvPr/>
          </p:nvSpPr>
          <p:spPr>
            <a:xfrm flipV="true">
              <a:off x="1883312" y="422361"/>
              <a:ext cx="0" cy="536827"/>
            </a:xfrm>
            <a:prstGeom prst="line">
              <a:avLst/>
            </a:prstGeom>
            <a:ln cap="flat" w="21455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48" id="48"/>
            <p:cNvSpPr/>
            <p:nvPr/>
          </p:nvSpPr>
          <p:spPr>
            <a:xfrm flipV="true">
              <a:off x="2772590" y="1326945"/>
              <a:ext cx="0" cy="536827"/>
            </a:xfrm>
            <a:prstGeom prst="line">
              <a:avLst/>
            </a:prstGeom>
            <a:ln cap="flat" w="21455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49" id="49"/>
            <p:cNvSpPr/>
            <p:nvPr/>
          </p:nvSpPr>
          <p:spPr>
            <a:xfrm flipV="true">
              <a:off x="2772590" y="422361"/>
              <a:ext cx="0" cy="536827"/>
            </a:xfrm>
            <a:prstGeom prst="line">
              <a:avLst/>
            </a:prstGeom>
            <a:ln cap="flat" w="21455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50" id="50"/>
            <p:cNvSpPr txBox="true"/>
            <p:nvPr/>
          </p:nvSpPr>
          <p:spPr>
            <a:xfrm rot="0">
              <a:off x="885585" y="-38100"/>
              <a:ext cx="279985" cy="46046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939"/>
                </a:lnSpc>
                <a:spcBef>
                  <a:spcPct val="0"/>
                </a:spcBef>
              </a:pPr>
              <a:r>
                <a:rPr lang="en-US" b="true" sz="2099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H</a:t>
              </a:r>
            </a:p>
          </p:txBody>
        </p:sp>
        <p:sp>
          <p:nvSpPr>
            <p:cNvPr name="TextBox 51" id="51"/>
            <p:cNvSpPr txBox="true"/>
            <p:nvPr/>
          </p:nvSpPr>
          <p:spPr>
            <a:xfrm rot="0">
              <a:off x="1734335" y="-38100"/>
              <a:ext cx="276499" cy="46046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939"/>
                </a:lnSpc>
                <a:spcBef>
                  <a:spcPct val="0"/>
                </a:spcBef>
              </a:pPr>
              <a:r>
                <a:rPr lang="en-US" b="true" sz="2099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O</a:t>
              </a:r>
            </a:p>
          </p:txBody>
        </p:sp>
        <p:sp>
          <p:nvSpPr>
            <p:cNvPr name="TextBox 52" id="52"/>
            <p:cNvSpPr txBox="true"/>
            <p:nvPr/>
          </p:nvSpPr>
          <p:spPr>
            <a:xfrm rot="0">
              <a:off x="2637391" y="-38100"/>
              <a:ext cx="279985" cy="46046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939"/>
                </a:lnSpc>
                <a:spcBef>
                  <a:spcPct val="0"/>
                </a:spcBef>
              </a:pPr>
              <a:r>
                <a:rPr lang="en-US" b="true" sz="2099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H</a:t>
              </a:r>
            </a:p>
          </p:txBody>
        </p:sp>
        <p:sp>
          <p:nvSpPr>
            <p:cNvPr name="TextBox 53" id="53"/>
            <p:cNvSpPr txBox="true"/>
            <p:nvPr/>
          </p:nvSpPr>
          <p:spPr>
            <a:xfrm rot="0">
              <a:off x="885585" y="1825672"/>
              <a:ext cx="279985" cy="46046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939"/>
                </a:lnSpc>
                <a:spcBef>
                  <a:spcPct val="0"/>
                </a:spcBef>
              </a:pPr>
              <a:r>
                <a:rPr lang="en-US" b="true" sz="2099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H</a:t>
              </a:r>
            </a:p>
          </p:txBody>
        </p:sp>
        <p:sp>
          <p:nvSpPr>
            <p:cNvPr name="TextBox 54" id="54"/>
            <p:cNvSpPr txBox="true"/>
            <p:nvPr/>
          </p:nvSpPr>
          <p:spPr>
            <a:xfrm rot="0">
              <a:off x="2637391" y="1825672"/>
              <a:ext cx="279985" cy="46046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939"/>
                </a:lnSpc>
                <a:spcBef>
                  <a:spcPct val="0"/>
                </a:spcBef>
              </a:pPr>
              <a:r>
                <a:rPr lang="en-US" b="true" sz="2099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H</a:t>
              </a:r>
            </a:p>
          </p:txBody>
        </p:sp>
        <p:sp>
          <p:nvSpPr>
            <p:cNvPr name="TextBox 55" id="55"/>
            <p:cNvSpPr txBox="true"/>
            <p:nvPr/>
          </p:nvSpPr>
          <p:spPr>
            <a:xfrm rot="5400000">
              <a:off x="2077956" y="-15104"/>
              <a:ext cx="196177" cy="46046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939"/>
                </a:lnSpc>
                <a:spcBef>
                  <a:spcPct val="0"/>
                </a:spcBef>
              </a:pPr>
              <a:r>
                <a:rPr lang="en-US" b="true" sz="2099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..</a:t>
              </a:r>
            </a:p>
          </p:txBody>
        </p:sp>
        <p:sp>
          <p:nvSpPr>
            <p:cNvPr name="TextBox 56" id="56"/>
            <p:cNvSpPr txBox="true"/>
            <p:nvPr/>
          </p:nvSpPr>
          <p:spPr>
            <a:xfrm rot="5464525">
              <a:off x="1718808" y="-18692"/>
              <a:ext cx="196177" cy="46046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939"/>
                </a:lnSpc>
                <a:spcBef>
                  <a:spcPct val="0"/>
                </a:spcBef>
              </a:pPr>
              <a:r>
                <a:rPr lang="en-US" b="true" sz="2099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..</a:t>
              </a:r>
            </a:p>
          </p:txBody>
        </p:sp>
      </p:grpSp>
      <p:sp>
        <p:nvSpPr>
          <p:cNvPr name="Freeform 57" id="57"/>
          <p:cNvSpPr/>
          <p:nvPr/>
        </p:nvSpPr>
        <p:spPr>
          <a:xfrm flipH="false" flipV="false" rot="0">
            <a:off x="6934373" y="4875864"/>
            <a:ext cx="1652295" cy="1608234"/>
          </a:xfrm>
          <a:custGeom>
            <a:avLst/>
            <a:gdLst/>
            <a:ahLst/>
            <a:cxnLst/>
            <a:rect r="r" b="b" t="t" l="l"/>
            <a:pathLst>
              <a:path h="1608234" w="1652295">
                <a:moveTo>
                  <a:pt x="0" y="0"/>
                </a:moveTo>
                <a:lnTo>
                  <a:pt x="1652296" y="0"/>
                </a:lnTo>
                <a:lnTo>
                  <a:pt x="1652296" y="1608234"/>
                </a:lnTo>
                <a:lnTo>
                  <a:pt x="0" y="160823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58" id="58"/>
          <p:cNvSpPr txBox="true"/>
          <p:nvPr/>
        </p:nvSpPr>
        <p:spPr>
          <a:xfrm rot="0">
            <a:off x="2293737" y="362256"/>
            <a:ext cx="6292932" cy="5629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61"/>
              </a:lnSpc>
              <a:spcBef>
                <a:spcPct val="0"/>
              </a:spcBef>
            </a:pPr>
            <a:r>
              <a:rPr lang="en-US" sz="3115">
                <a:solidFill>
                  <a:srgbClr val="FFFFFF"/>
                </a:solidFill>
                <a:latin typeface="Horizon"/>
                <a:ea typeface="Horizon"/>
                <a:cs typeface="Horizon"/>
                <a:sym typeface="Horizon"/>
              </a:rPr>
              <a:t>Card 03 - acetone </a:t>
            </a:r>
          </a:p>
        </p:txBody>
      </p:sp>
      <p:grpSp>
        <p:nvGrpSpPr>
          <p:cNvPr name="Group 59" id="59"/>
          <p:cNvGrpSpPr/>
          <p:nvPr/>
        </p:nvGrpSpPr>
        <p:grpSpPr>
          <a:xfrm rot="0">
            <a:off x="849540" y="2099203"/>
            <a:ext cx="4788761" cy="1356162"/>
            <a:chOff x="0" y="0"/>
            <a:chExt cx="6385015" cy="1808216"/>
          </a:xfrm>
        </p:grpSpPr>
        <p:sp>
          <p:nvSpPr>
            <p:cNvPr name="TextBox 60" id="60"/>
            <p:cNvSpPr txBox="true"/>
            <p:nvPr/>
          </p:nvSpPr>
          <p:spPr>
            <a:xfrm rot="0">
              <a:off x="0" y="-180975"/>
              <a:ext cx="6385015" cy="198919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2516"/>
                </a:lnSpc>
                <a:spcBef>
                  <a:spcPct val="0"/>
                </a:spcBef>
              </a:pPr>
              <a:r>
                <a:rPr lang="en-US" sz="8940">
                  <a:solidFill>
                    <a:srgbClr val="000000"/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C H O</a:t>
              </a:r>
            </a:p>
          </p:txBody>
        </p:sp>
        <p:sp>
          <p:nvSpPr>
            <p:cNvPr name="TextBox 61" id="61"/>
            <p:cNvSpPr txBox="true"/>
            <p:nvPr/>
          </p:nvSpPr>
          <p:spPr>
            <a:xfrm rot="0">
              <a:off x="1829272" y="532137"/>
              <a:ext cx="873560" cy="116716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7353"/>
                </a:lnSpc>
                <a:spcBef>
                  <a:spcPct val="0"/>
                </a:spcBef>
              </a:pPr>
              <a:r>
                <a:rPr lang="en-US" sz="5252">
                  <a:solidFill>
                    <a:srgbClr val="000000"/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3</a:t>
              </a:r>
            </a:p>
          </p:txBody>
        </p:sp>
        <p:sp>
          <p:nvSpPr>
            <p:cNvPr name="TextBox 62" id="62"/>
            <p:cNvSpPr txBox="true"/>
            <p:nvPr/>
          </p:nvSpPr>
          <p:spPr>
            <a:xfrm rot="0">
              <a:off x="3603730" y="532137"/>
              <a:ext cx="873560" cy="116716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7353"/>
                </a:lnSpc>
                <a:spcBef>
                  <a:spcPct val="0"/>
                </a:spcBef>
              </a:pPr>
              <a:r>
                <a:rPr lang="en-US" sz="5252">
                  <a:solidFill>
                    <a:srgbClr val="000000"/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6</a:t>
              </a:r>
            </a:p>
          </p:txBody>
        </p:sp>
      </p:grpSp>
      <p:grpSp>
        <p:nvGrpSpPr>
          <p:cNvPr name="Group 63" id="63"/>
          <p:cNvGrpSpPr/>
          <p:nvPr/>
        </p:nvGrpSpPr>
        <p:grpSpPr>
          <a:xfrm rot="0">
            <a:off x="-94238" y="5166372"/>
            <a:ext cx="6676317" cy="1317727"/>
            <a:chOff x="0" y="0"/>
            <a:chExt cx="8901756" cy="1756969"/>
          </a:xfrm>
        </p:grpSpPr>
        <p:sp>
          <p:nvSpPr>
            <p:cNvPr name="TextBox 64" id="64"/>
            <p:cNvSpPr txBox="true"/>
            <p:nvPr/>
          </p:nvSpPr>
          <p:spPr>
            <a:xfrm rot="0">
              <a:off x="0" y="-342900"/>
              <a:ext cx="8901756" cy="209986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2132"/>
                </a:lnSpc>
                <a:spcBef>
                  <a:spcPct val="0"/>
                </a:spcBef>
              </a:pPr>
              <a:r>
                <a:rPr lang="en-US" sz="8666">
                  <a:solidFill>
                    <a:srgbClr val="000000"/>
                  </a:solidFill>
                  <a:latin typeface="Impact"/>
                  <a:ea typeface="Impact"/>
                  <a:cs typeface="Impact"/>
                  <a:sym typeface="Impact"/>
                </a:rPr>
                <a:t>C HCOCH</a:t>
              </a:r>
            </a:p>
          </p:txBody>
        </p:sp>
        <p:sp>
          <p:nvSpPr>
            <p:cNvPr name="TextBox 65" id="65"/>
            <p:cNvSpPr txBox="true"/>
            <p:nvPr/>
          </p:nvSpPr>
          <p:spPr>
            <a:xfrm rot="0">
              <a:off x="6489239" y="522149"/>
              <a:ext cx="846783" cy="114866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6657"/>
                </a:lnSpc>
                <a:spcBef>
                  <a:spcPct val="0"/>
                </a:spcBef>
              </a:pPr>
              <a:r>
                <a:rPr lang="en-US" sz="4755">
                  <a:solidFill>
                    <a:srgbClr val="000000"/>
                  </a:solidFill>
                  <a:latin typeface="Impact"/>
                  <a:ea typeface="Impact"/>
                  <a:cs typeface="Impact"/>
                  <a:sym typeface="Impact"/>
                </a:rPr>
                <a:t>3</a:t>
              </a:r>
            </a:p>
          </p:txBody>
        </p:sp>
        <p:sp>
          <p:nvSpPr>
            <p:cNvPr name="TextBox 66" id="66"/>
            <p:cNvSpPr txBox="true"/>
            <p:nvPr/>
          </p:nvSpPr>
          <p:spPr>
            <a:xfrm rot="0">
              <a:off x="2620792" y="495838"/>
              <a:ext cx="846783" cy="114866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6657"/>
                </a:lnSpc>
                <a:spcBef>
                  <a:spcPct val="0"/>
                </a:spcBef>
              </a:pPr>
              <a:r>
                <a:rPr lang="en-US" sz="4755">
                  <a:solidFill>
                    <a:srgbClr val="000000"/>
                  </a:solidFill>
                  <a:latin typeface="Impact"/>
                  <a:ea typeface="Impact"/>
                  <a:cs typeface="Impact"/>
                  <a:sym typeface="Impact"/>
                </a:rPr>
                <a:t>2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3E4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63023" y="1414346"/>
            <a:ext cx="8565953" cy="5366374"/>
            <a:chOff x="0" y="0"/>
            <a:chExt cx="11421271" cy="7155165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232350"/>
              <a:ext cx="5556832" cy="3078532"/>
              <a:chOff x="0" y="0"/>
              <a:chExt cx="635000" cy="351795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635000" cy="351795"/>
              </a:xfrm>
              <a:custGeom>
                <a:avLst/>
                <a:gdLst/>
                <a:ahLst/>
                <a:cxnLst/>
                <a:rect r="r" b="b" t="t" l="l"/>
                <a:pathLst>
                  <a:path h="351795" w="635000">
                    <a:moveTo>
                      <a:pt x="42087" y="0"/>
                    </a:moveTo>
                    <a:lnTo>
                      <a:pt x="592913" y="0"/>
                    </a:lnTo>
                    <a:cubicBezTo>
                      <a:pt x="616157" y="0"/>
                      <a:pt x="635000" y="18843"/>
                      <a:pt x="635000" y="42087"/>
                    </a:cubicBezTo>
                    <a:lnTo>
                      <a:pt x="635000" y="309708"/>
                    </a:lnTo>
                    <a:cubicBezTo>
                      <a:pt x="635000" y="332952"/>
                      <a:pt x="616157" y="351795"/>
                      <a:pt x="592913" y="351795"/>
                    </a:cubicBezTo>
                    <a:lnTo>
                      <a:pt x="42087" y="351795"/>
                    </a:lnTo>
                    <a:cubicBezTo>
                      <a:pt x="18843" y="351795"/>
                      <a:pt x="0" y="332952"/>
                      <a:pt x="0" y="309708"/>
                    </a:cubicBezTo>
                    <a:lnTo>
                      <a:pt x="0" y="42087"/>
                    </a:lnTo>
                    <a:cubicBezTo>
                      <a:pt x="0" y="18843"/>
                      <a:pt x="18843" y="0"/>
                      <a:pt x="4208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rnd">
                <a:noFill/>
                <a:prstDash val="sysDot"/>
                <a:round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38100"/>
                <a:ext cx="635000" cy="38989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820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849109" y="0"/>
              <a:ext cx="3799999" cy="495222"/>
              <a:chOff x="0" y="0"/>
              <a:chExt cx="1061224" cy="138301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1061224" cy="138301"/>
              </a:xfrm>
              <a:custGeom>
                <a:avLst/>
                <a:gdLst/>
                <a:ahLst/>
                <a:cxnLst/>
                <a:rect r="r" b="b" t="t" l="l"/>
                <a:pathLst>
                  <a:path h="138301" w="1061224">
                    <a:moveTo>
                      <a:pt x="69150" y="0"/>
                    </a:moveTo>
                    <a:lnTo>
                      <a:pt x="992073" y="0"/>
                    </a:lnTo>
                    <a:cubicBezTo>
                      <a:pt x="1010413" y="0"/>
                      <a:pt x="1028002" y="7285"/>
                      <a:pt x="1040970" y="20254"/>
                    </a:cubicBezTo>
                    <a:cubicBezTo>
                      <a:pt x="1053938" y="33222"/>
                      <a:pt x="1061224" y="50810"/>
                      <a:pt x="1061224" y="69150"/>
                    </a:cubicBezTo>
                    <a:lnTo>
                      <a:pt x="1061224" y="69150"/>
                    </a:lnTo>
                    <a:cubicBezTo>
                      <a:pt x="1061224" y="87490"/>
                      <a:pt x="1053938" y="105079"/>
                      <a:pt x="1040970" y="118047"/>
                    </a:cubicBezTo>
                    <a:cubicBezTo>
                      <a:pt x="1028002" y="131015"/>
                      <a:pt x="1010413" y="138301"/>
                      <a:pt x="992073" y="138301"/>
                    </a:cubicBezTo>
                    <a:lnTo>
                      <a:pt x="69150" y="138301"/>
                    </a:lnTo>
                    <a:cubicBezTo>
                      <a:pt x="50810" y="138301"/>
                      <a:pt x="33222" y="131015"/>
                      <a:pt x="20254" y="118047"/>
                    </a:cubicBezTo>
                    <a:cubicBezTo>
                      <a:pt x="7285" y="105079"/>
                      <a:pt x="0" y="87490"/>
                      <a:pt x="0" y="69150"/>
                    </a:cubicBezTo>
                    <a:lnTo>
                      <a:pt x="0" y="69150"/>
                    </a:lnTo>
                    <a:cubicBezTo>
                      <a:pt x="0" y="50810"/>
                      <a:pt x="7285" y="33222"/>
                      <a:pt x="20254" y="20254"/>
                    </a:cubicBezTo>
                    <a:cubicBezTo>
                      <a:pt x="33222" y="7285"/>
                      <a:pt x="50810" y="0"/>
                      <a:pt x="69150" y="0"/>
                    </a:cubicBezTo>
                    <a:close/>
                  </a:path>
                </a:pathLst>
              </a:custGeom>
              <a:solidFill>
                <a:srgbClr val="004AAD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38100"/>
                <a:ext cx="1061224" cy="176401"/>
              </a:xfrm>
              <a:prstGeom prst="rect">
                <a:avLst/>
              </a:prstGeom>
            </p:spPr>
            <p:txBody>
              <a:bodyPr anchor="ctr" rtlCol="false" tIns="48892" lIns="48892" bIns="48892" rIns="48892"/>
              <a:lstStyle/>
              <a:p>
                <a:pPr algn="ctr">
                  <a:lnSpc>
                    <a:spcPts val="1820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9" id="9"/>
            <p:cNvSpPr txBox="true"/>
            <p:nvPr/>
          </p:nvSpPr>
          <p:spPr>
            <a:xfrm rot="0">
              <a:off x="994956" y="8931"/>
              <a:ext cx="3436342" cy="42994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701"/>
                </a:lnSpc>
                <a:spcBef>
                  <a:spcPct val="0"/>
                </a:spcBef>
              </a:pPr>
              <a:r>
                <a:rPr lang="en-US" sz="1929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Molecular Formula</a:t>
              </a:r>
            </a:p>
          </p:txBody>
        </p:sp>
        <p:grpSp>
          <p:nvGrpSpPr>
            <p:cNvPr name="Group 10" id="10"/>
            <p:cNvGrpSpPr/>
            <p:nvPr/>
          </p:nvGrpSpPr>
          <p:grpSpPr>
            <a:xfrm rot="0">
              <a:off x="5864439" y="232350"/>
              <a:ext cx="5556832" cy="3078532"/>
              <a:chOff x="0" y="0"/>
              <a:chExt cx="635000" cy="351795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635000" cy="351795"/>
              </a:xfrm>
              <a:custGeom>
                <a:avLst/>
                <a:gdLst/>
                <a:ahLst/>
                <a:cxnLst/>
                <a:rect r="r" b="b" t="t" l="l"/>
                <a:pathLst>
                  <a:path h="351795" w="635000">
                    <a:moveTo>
                      <a:pt x="42087" y="0"/>
                    </a:moveTo>
                    <a:lnTo>
                      <a:pt x="592913" y="0"/>
                    </a:lnTo>
                    <a:cubicBezTo>
                      <a:pt x="616157" y="0"/>
                      <a:pt x="635000" y="18843"/>
                      <a:pt x="635000" y="42087"/>
                    </a:cubicBezTo>
                    <a:lnTo>
                      <a:pt x="635000" y="309708"/>
                    </a:lnTo>
                    <a:cubicBezTo>
                      <a:pt x="635000" y="332952"/>
                      <a:pt x="616157" y="351795"/>
                      <a:pt x="592913" y="351795"/>
                    </a:cubicBezTo>
                    <a:lnTo>
                      <a:pt x="42087" y="351795"/>
                    </a:lnTo>
                    <a:cubicBezTo>
                      <a:pt x="18843" y="351795"/>
                      <a:pt x="0" y="332952"/>
                      <a:pt x="0" y="309708"/>
                    </a:cubicBezTo>
                    <a:lnTo>
                      <a:pt x="0" y="42087"/>
                    </a:lnTo>
                    <a:cubicBezTo>
                      <a:pt x="0" y="18843"/>
                      <a:pt x="18843" y="0"/>
                      <a:pt x="4208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rnd">
                <a:noFill/>
                <a:prstDash val="sysDot"/>
                <a:round/>
              </a:ln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28575"/>
                <a:ext cx="635000" cy="38037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60"/>
                  </a:lnSpc>
                </a:pPr>
              </a:p>
            </p:txBody>
          </p:sp>
        </p:grpSp>
        <p:grpSp>
          <p:nvGrpSpPr>
            <p:cNvPr name="Group 13" id="13"/>
            <p:cNvGrpSpPr/>
            <p:nvPr/>
          </p:nvGrpSpPr>
          <p:grpSpPr>
            <a:xfrm rot="0">
              <a:off x="6713548" y="0"/>
              <a:ext cx="3799999" cy="495222"/>
              <a:chOff x="0" y="0"/>
              <a:chExt cx="1061224" cy="138301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1061224" cy="138301"/>
              </a:xfrm>
              <a:custGeom>
                <a:avLst/>
                <a:gdLst/>
                <a:ahLst/>
                <a:cxnLst/>
                <a:rect r="r" b="b" t="t" l="l"/>
                <a:pathLst>
                  <a:path h="138301" w="1061224">
                    <a:moveTo>
                      <a:pt x="69150" y="0"/>
                    </a:moveTo>
                    <a:lnTo>
                      <a:pt x="992073" y="0"/>
                    </a:lnTo>
                    <a:cubicBezTo>
                      <a:pt x="1010413" y="0"/>
                      <a:pt x="1028002" y="7285"/>
                      <a:pt x="1040970" y="20254"/>
                    </a:cubicBezTo>
                    <a:cubicBezTo>
                      <a:pt x="1053938" y="33222"/>
                      <a:pt x="1061224" y="50810"/>
                      <a:pt x="1061224" y="69150"/>
                    </a:cubicBezTo>
                    <a:lnTo>
                      <a:pt x="1061224" y="69150"/>
                    </a:lnTo>
                    <a:cubicBezTo>
                      <a:pt x="1061224" y="87490"/>
                      <a:pt x="1053938" y="105079"/>
                      <a:pt x="1040970" y="118047"/>
                    </a:cubicBezTo>
                    <a:cubicBezTo>
                      <a:pt x="1028002" y="131015"/>
                      <a:pt x="1010413" y="138301"/>
                      <a:pt x="992073" y="138301"/>
                    </a:cubicBezTo>
                    <a:lnTo>
                      <a:pt x="69150" y="138301"/>
                    </a:lnTo>
                    <a:cubicBezTo>
                      <a:pt x="50810" y="138301"/>
                      <a:pt x="33222" y="131015"/>
                      <a:pt x="20254" y="118047"/>
                    </a:cubicBezTo>
                    <a:cubicBezTo>
                      <a:pt x="7285" y="105079"/>
                      <a:pt x="0" y="87490"/>
                      <a:pt x="0" y="69150"/>
                    </a:cubicBezTo>
                    <a:lnTo>
                      <a:pt x="0" y="69150"/>
                    </a:lnTo>
                    <a:cubicBezTo>
                      <a:pt x="0" y="50810"/>
                      <a:pt x="7285" y="33222"/>
                      <a:pt x="20254" y="20254"/>
                    </a:cubicBezTo>
                    <a:cubicBezTo>
                      <a:pt x="33222" y="7285"/>
                      <a:pt x="50810" y="0"/>
                      <a:pt x="69150" y="0"/>
                    </a:cubicBezTo>
                    <a:close/>
                  </a:path>
                </a:pathLst>
              </a:custGeom>
              <a:solidFill>
                <a:srgbClr val="004AAD"/>
              </a:solidFill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0" y="-28575"/>
                <a:ext cx="1061224" cy="166876"/>
              </a:xfrm>
              <a:prstGeom prst="rect">
                <a:avLst/>
              </a:prstGeom>
            </p:spPr>
            <p:txBody>
              <a:bodyPr anchor="ctr" rtlCol="false" tIns="48892" lIns="48892" bIns="48892" rIns="48892"/>
              <a:lstStyle/>
              <a:p>
                <a:pPr algn="ctr">
                  <a:lnSpc>
                    <a:spcPts val="1960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16" id="16"/>
            <p:cNvSpPr txBox="true"/>
            <p:nvPr/>
          </p:nvSpPr>
          <p:spPr>
            <a:xfrm rot="0">
              <a:off x="6859395" y="8931"/>
              <a:ext cx="3436342" cy="42994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701"/>
                </a:lnSpc>
                <a:spcBef>
                  <a:spcPct val="0"/>
                </a:spcBef>
              </a:pPr>
              <a:r>
                <a:rPr lang="en-US" sz="1929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Lewis Structure</a:t>
              </a:r>
            </a:p>
          </p:txBody>
        </p:sp>
        <p:grpSp>
          <p:nvGrpSpPr>
            <p:cNvPr name="Group 17" id="17"/>
            <p:cNvGrpSpPr/>
            <p:nvPr/>
          </p:nvGrpSpPr>
          <p:grpSpPr>
            <a:xfrm rot="0">
              <a:off x="0" y="4076632"/>
              <a:ext cx="5556832" cy="3078532"/>
              <a:chOff x="0" y="0"/>
              <a:chExt cx="635000" cy="351795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635000" cy="351795"/>
              </a:xfrm>
              <a:custGeom>
                <a:avLst/>
                <a:gdLst/>
                <a:ahLst/>
                <a:cxnLst/>
                <a:rect r="r" b="b" t="t" l="l"/>
                <a:pathLst>
                  <a:path h="351795" w="635000">
                    <a:moveTo>
                      <a:pt x="42087" y="0"/>
                    </a:moveTo>
                    <a:lnTo>
                      <a:pt x="592913" y="0"/>
                    </a:lnTo>
                    <a:cubicBezTo>
                      <a:pt x="616157" y="0"/>
                      <a:pt x="635000" y="18843"/>
                      <a:pt x="635000" y="42087"/>
                    </a:cubicBezTo>
                    <a:lnTo>
                      <a:pt x="635000" y="309708"/>
                    </a:lnTo>
                    <a:cubicBezTo>
                      <a:pt x="635000" y="332952"/>
                      <a:pt x="616157" y="351795"/>
                      <a:pt x="592913" y="351795"/>
                    </a:cubicBezTo>
                    <a:lnTo>
                      <a:pt x="42087" y="351795"/>
                    </a:lnTo>
                    <a:cubicBezTo>
                      <a:pt x="18843" y="351795"/>
                      <a:pt x="0" y="332952"/>
                      <a:pt x="0" y="309708"/>
                    </a:cubicBezTo>
                    <a:lnTo>
                      <a:pt x="0" y="42087"/>
                    </a:lnTo>
                    <a:cubicBezTo>
                      <a:pt x="0" y="18843"/>
                      <a:pt x="18843" y="0"/>
                      <a:pt x="4208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rnd">
                <a:noFill/>
                <a:prstDash val="sysDot"/>
                <a:round/>
              </a:ln>
            </p:spPr>
          </p:sp>
          <p:sp>
            <p:nvSpPr>
              <p:cNvPr name="TextBox 19" id="19"/>
              <p:cNvSpPr txBox="true"/>
              <p:nvPr/>
            </p:nvSpPr>
            <p:spPr>
              <a:xfrm>
                <a:off x="0" y="-28575"/>
                <a:ext cx="635000" cy="38037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60"/>
                  </a:lnSpc>
                </a:pPr>
              </a:p>
            </p:txBody>
          </p:sp>
        </p:grpSp>
        <p:grpSp>
          <p:nvGrpSpPr>
            <p:cNvPr name="Group 20" id="20"/>
            <p:cNvGrpSpPr/>
            <p:nvPr/>
          </p:nvGrpSpPr>
          <p:grpSpPr>
            <a:xfrm rot="0">
              <a:off x="510787" y="3891314"/>
              <a:ext cx="4535257" cy="495222"/>
              <a:chOff x="0" y="0"/>
              <a:chExt cx="1266559" cy="138301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0" y="0"/>
                <a:ext cx="1266559" cy="138301"/>
              </a:xfrm>
              <a:custGeom>
                <a:avLst/>
                <a:gdLst/>
                <a:ahLst/>
                <a:cxnLst/>
                <a:rect r="r" b="b" t="t" l="l"/>
                <a:pathLst>
                  <a:path h="138301" w="1266559">
                    <a:moveTo>
                      <a:pt x="69150" y="0"/>
                    </a:moveTo>
                    <a:lnTo>
                      <a:pt x="1197409" y="0"/>
                    </a:lnTo>
                    <a:cubicBezTo>
                      <a:pt x="1235599" y="0"/>
                      <a:pt x="1266559" y="30960"/>
                      <a:pt x="1266559" y="69150"/>
                    </a:cubicBezTo>
                    <a:lnTo>
                      <a:pt x="1266559" y="69150"/>
                    </a:lnTo>
                    <a:cubicBezTo>
                      <a:pt x="1266559" y="87490"/>
                      <a:pt x="1259273" y="105079"/>
                      <a:pt x="1246305" y="118047"/>
                    </a:cubicBezTo>
                    <a:cubicBezTo>
                      <a:pt x="1233337" y="131015"/>
                      <a:pt x="1215748" y="138301"/>
                      <a:pt x="1197409" y="138301"/>
                    </a:cubicBezTo>
                    <a:lnTo>
                      <a:pt x="69150" y="138301"/>
                    </a:lnTo>
                    <a:cubicBezTo>
                      <a:pt x="50810" y="138301"/>
                      <a:pt x="33222" y="131015"/>
                      <a:pt x="20254" y="118047"/>
                    </a:cubicBezTo>
                    <a:cubicBezTo>
                      <a:pt x="7285" y="105079"/>
                      <a:pt x="0" y="87490"/>
                      <a:pt x="0" y="69150"/>
                    </a:cubicBezTo>
                    <a:lnTo>
                      <a:pt x="0" y="69150"/>
                    </a:lnTo>
                    <a:cubicBezTo>
                      <a:pt x="0" y="50810"/>
                      <a:pt x="7285" y="33222"/>
                      <a:pt x="20254" y="20254"/>
                    </a:cubicBezTo>
                    <a:cubicBezTo>
                      <a:pt x="33222" y="7285"/>
                      <a:pt x="50810" y="0"/>
                      <a:pt x="69150" y="0"/>
                    </a:cubicBezTo>
                    <a:close/>
                  </a:path>
                </a:pathLst>
              </a:custGeom>
              <a:solidFill>
                <a:srgbClr val="004AAD"/>
              </a:solidFill>
            </p:spPr>
          </p:sp>
          <p:sp>
            <p:nvSpPr>
              <p:cNvPr name="TextBox 22" id="22"/>
              <p:cNvSpPr txBox="true"/>
              <p:nvPr/>
            </p:nvSpPr>
            <p:spPr>
              <a:xfrm>
                <a:off x="0" y="-28575"/>
                <a:ext cx="1266559" cy="166876"/>
              </a:xfrm>
              <a:prstGeom prst="rect">
                <a:avLst/>
              </a:prstGeom>
            </p:spPr>
            <p:txBody>
              <a:bodyPr anchor="ctr" rtlCol="false" tIns="48892" lIns="48892" bIns="48892" rIns="48892"/>
              <a:lstStyle/>
              <a:p>
                <a:pPr algn="ctr">
                  <a:lnSpc>
                    <a:spcPts val="1960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23" id="23"/>
            <p:cNvSpPr txBox="true"/>
            <p:nvPr/>
          </p:nvSpPr>
          <p:spPr>
            <a:xfrm rot="0">
              <a:off x="636817" y="3937400"/>
              <a:ext cx="4283198" cy="3649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315"/>
                </a:lnSpc>
                <a:spcBef>
                  <a:spcPct val="0"/>
                </a:spcBef>
              </a:pPr>
              <a:r>
                <a:rPr lang="en-US" sz="1653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Condensed Structural Formula</a:t>
              </a:r>
            </a:p>
          </p:txBody>
        </p:sp>
        <p:grpSp>
          <p:nvGrpSpPr>
            <p:cNvPr name="Group 24" id="24"/>
            <p:cNvGrpSpPr/>
            <p:nvPr/>
          </p:nvGrpSpPr>
          <p:grpSpPr>
            <a:xfrm rot="0">
              <a:off x="5864439" y="4076632"/>
              <a:ext cx="5556832" cy="3078532"/>
              <a:chOff x="0" y="0"/>
              <a:chExt cx="635000" cy="351795"/>
            </a:xfrm>
          </p:grpSpPr>
          <p:sp>
            <p:nvSpPr>
              <p:cNvPr name="Freeform 25" id="25"/>
              <p:cNvSpPr/>
              <p:nvPr/>
            </p:nvSpPr>
            <p:spPr>
              <a:xfrm flipH="false" flipV="false" rot="0">
                <a:off x="0" y="0"/>
                <a:ext cx="635000" cy="351795"/>
              </a:xfrm>
              <a:custGeom>
                <a:avLst/>
                <a:gdLst/>
                <a:ahLst/>
                <a:cxnLst/>
                <a:rect r="r" b="b" t="t" l="l"/>
                <a:pathLst>
                  <a:path h="351795" w="635000">
                    <a:moveTo>
                      <a:pt x="42087" y="0"/>
                    </a:moveTo>
                    <a:lnTo>
                      <a:pt x="592913" y="0"/>
                    </a:lnTo>
                    <a:cubicBezTo>
                      <a:pt x="616157" y="0"/>
                      <a:pt x="635000" y="18843"/>
                      <a:pt x="635000" y="42087"/>
                    </a:cubicBezTo>
                    <a:lnTo>
                      <a:pt x="635000" y="309708"/>
                    </a:lnTo>
                    <a:cubicBezTo>
                      <a:pt x="635000" y="332952"/>
                      <a:pt x="616157" y="351795"/>
                      <a:pt x="592913" y="351795"/>
                    </a:cubicBezTo>
                    <a:lnTo>
                      <a:pt x="42087" y="351795"/>
                    </a:lnTo>
                    <a:cubicBezTo>
                      <a:pt x="18843" y="351795"/>
                      <a:pt x="0" y="332952"/>
                      <a:pt x="0" y="309708"/>
                    </a:cubicBezTo>
                    <a:lnTo>
                      <a:pt x="0" y="42087"/>
                    </a:lnTo>
                    <a:cubicBezTo>
                      <a:pt x="0" y="18843"/>
                      <a:pt x="18843" y="0"/>
                      <a:pt x="4208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rnd">
                <a:noFill/>
                <a:prstDash val="sysDot"/>
                <a:round/>
              </a:ln>
            </p:spPr>
          </p:sp>
          <p:sp>
            <p:nvSpPr>
              <p:cNvPr name="TextBox 26" id="26"/>
              <p:cNvSpPr txBox="true"/>
              <p:nvPr/>
            </p:nvSpPr>
            <p:spPr>
              <a:xfrm>
                <a:off x="0" y="-28575"/>
                <a:ext cx="635000" cy="38037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60"/>
                  </a:lnSpc>
                </a:pPr>
              </a:p>
            </p:txBody>
          </p:sp>
        </p:grpSp>
        <p:grpSp>
          <p:nvGrpSpPr>
            <p:cNvPr name="Group 27" id="27"/>
            <p:cNvGrpSpPr/>
            <p:nvPr/>
          </p:nvGrpSpPr>
          <p:grpSpPr>
            <a:xfrm rot="0">
              <a:off x="6713548" y="3844282"/>
              <a:ext cx="3799999" cy="495222"/>
              <a:chOff x="0" y="0"/>
              <a:chExt cx="1061224" cy="138301"/>
            </a:xfrm>
          </p:grpSpPr>
          <p:sp>
            <p:nvSpPr>
              <p:cNvPr name="Freeform 28" id="28"/>
              <p:cNvSpPr/>
              <p:nvPr/>
            </p:nvSpPr>
            <p:spPr>
              <a:xfrm flipH="false" flipV="false" rot="0">
                <a:off x="0" y="0"/>
                <a:ext cx="1061224" cy="138301"/>
              </a:xfrm>
              <a:custGeom>
                <a:avLst/>
                <a:gdLst/>
                <a:ahLst/>
                <a:cxnLst/>
                <a:rect r="r" b="b" t="t" l="l"/>
                <a:pathLst>
                  <a:path h="138301" w="1061224">
                    <a:moveTo>
                      <a:pt x="69150" y="0"/>
                    </a:moveTo>
                    <a:lnTo>
                      <a:pt x="992073" y="0"/>
                    </a:lnTo>
                    <a:cubicBezTo>
                      <a:pt x="1010413" y="0"/>
                      <a:pt x="1028002" y="7285"/>
                      <a:pt x="1040970" y="20254"/>
                    </a:cubicBezTo>
                    <a:cubicBezTo>
                      <a:pt x="1053938" y="33222"/>
                      <a:pt x="1061224" y="50810"/>
                      <a:pt x="1061224" y="69150"/>
                    </a:cubicBezTo>
                    <a:lnTo>
                      <a:pt x="1061224" y="69150"/>
                    </a:lnTo>
                    <a:cubicBezTo>
                      <a:pt x="1061224" y="87490"/>
                      <a:pt x="1053938" y="105079"/>
                      <a:pt x="1040970" y="118047"/>
                    </a:cubicBezTo>
                    <a:cubicBezTo>
                      <a:pt x="1028002" y="131015"/>
                      <a:pt x="1010413" y="138301"/>
                      <a:pt x="992073" y="138301"/>
                    </a:cubicBezTo>
                    <a:lnTo>
                      <a:pt x="69150" y="138301"/>
                    </a:lnTo>
                    <a:cubicBezTo>
                      <a:pt x="50810" y="138301"/>
                      <a:pt x="33222" y="131015"/>
                      <a:pt x="20254" y="118047"/>
                    </a:cubicBezTo>
                    <a:cubicBezTo>
                      <a:pt x="7285" y="105079"/>
                      <a:pt x="0" y="87490"/>
                      <a:pt x="0" y="69150"/>
                    </a:cubicBezTo>
                    <a:lnTo>
                      <a:pt x="0" y="69150"/>
                    </a:lnTo>
                    <a:cubicBezTo>
                      <a:pt x="0" y="50810"/>
                      <a:pt x="7285" y="33222"/>
                      <a:pt x="20254" y="20254"/>
                    </a:cubicBezTo>
                    <a:cubicBezTo>
                      <a:pt x="33222" y="7285"/>
                      <a:pt x="50810" y="0"/>
                      <a:pt x="69150" y="0"/>
                    </a:cubicBezTo>
                    <a:close/>
                  </a:path>
                </a:pathLst>
              </a:custGeom>
              <a:solidFill>
                <a:srgbClr val="004AAD"/>
              </a:solidFill>
            </p:spPr>
          </p:sp>
          <p:sp>
            <p:nvSpPr>
              <p:cNvPr name="TextBox 29" id="29"/>
              <p:cNvSpPr txBox="true"/>
              <p:nvPr/>
            </p:nvSpPr>
            <p:spPr>
              <a:xfrm>
                <a:off x="0" y="-28575"/>
                <a:ext cx="1061224" cy="166876"/>
              </a:xfrm>
              <a:prstGeom prst="rect">
                <a:avLst/>
              </a:prstGeom>
            </p:spPr>
            <p:txBody>
              <a:bodyPr anchor="ctr" rtlCol="false" tIns="48892" lIns="48892" bIns="48892" rIns="48892"/>
              <a:lstStyle/>
              <a:p>
                <a:pPr algn="ctr">
                  <a:lnSpc>
                    <a:spcPts val="1960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30" id="30"/>
            <p:cNvSpPr txBox="true"/>
            <p:nvPr/>
          </p:nvSpPr>
          <p:spPr>
            <a:xfrm rot="0">
              <a:off x="6924684" y="3853214"/>
              <a:ext cx="3436342" cy="42994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701"/>
                </a:lnSpc>
                <a:spcBef>
                  <a:spcPct val="0"/>
                </a:spcBef>
              </a:pPr>
              <a:r>
                <a:rPr lang="en-US" sz="1929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Bond-Line Structure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051506" y="366072"/>
            <a:ext cx="8588987" cy="650546"/>
            <a:chOff x="0" y="0"/>
            <a:chExt cx="3198189" cy="242237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3198189" cy="242237"/>
            </a:xfrm>
            <a:custGeom>
              <a:avLst/>
              <a:gdLst/>
              <a:ahLst/>
              <a:cxnLst/>
              <a:rect r="r" b="b" t="t" l="l"/>
              <a:pathLst>
                <a:path h="242237" w="3198189">
                  <a:moveTo>
                    <a:pt x="0" y="0"/>
                  </a:moveTo>
                  <a:lnTo>
                    <a:pt x="3198189" y="0"/>
                  </a:lnTo>
                  <a:lnTo>
                    <a:pt x="3198189" y="242237"/>
                  </a:lnTo>
                  <a:lnTo>
                    <a:pt x="0" y="242237"/>
                  </a:ln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100000"/>
                  </a:srgbClr>
                </a:gs>
                <a:gs pos="100000">
                  <a:srgbClr val="3533CD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28575"/>
              <a:ext cx="3198189" cy="270812"/>
            </a:xfrm>
            <a:prstGeom prst="rect">
              <a:avLst/>
            </a:prstGeom>
          </p:spPr>
          <p:txBody>
            <a:bodyPr anchor="ctr" rtlCol="false" tIns="48892" lIns="48892" bIns="48892" rIns="48892"/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5972703" y="1878636"/>
            <a:ext cx="3218650" cy="1901364"/>
            <a:chOff x="0" y="0"/>
            <a:chExt cx="4291533" cy="2535152"/>
          </a:xfrm>
        </p:grpSpPr>
        <p:sp>
          <p:nvSpPr>
            <p:cNvPr name="AutoShape 35" id="35"/>
            <p:cNvSpPr/>
            <p:nvPr/>
          </p:nvSpPr>
          <p:spPr>
            <a:xfrm>
              <a:off x="1285481" y="1237300"/>
              <a:ext cx="595301" cy="0"/>
            </a:xfrm>
            <a:prstGeom prst="line">
              <a:avLst/>
            </a:prstGeom>
            <a:ln cap="flat" w="23792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36" id="36"/>
            <p:cNvSpPr txBox="true"/>
            <p:nvPr/>
          </p:nvSpPr>
          <p:spPr>
            <a:xfrm rot="0">
              <a:off x="973735" y="967387"/>
              <a:ext cx="276059" cy="51599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259"/>
                </a:lnSpc>
                <a:spcBef>
                  <a:spcPct val="0"/>
                </a:spcBef>
              </a:pPr>
              <a:r>
                <a:rPr lang="en-US" b="true" sz="2328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C</a:t>
              </a:r>
            </a:p>
          </p:txBody>
        </p:sp>
        <p:sp>
          <p:nvSpPr>
            <p:cNvPr name="TextBox 37" id="37"/>
            <p:cNvSpPr txBox="true"/>
            <p:nvPr/>
          </p:nvSpPr>
          <p:spPr>
            <a:xfrm rot="0">
              <a:off x="0" y="967387"/>
              <a:ext cx="310483" cy="51599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259"/>
                </a:lnSpc>
                <a:spcBef>
                  <a:spcPct val="0"/>
                </a:spcBef>
              </a:pPr>
              <a:r>
                <a:rPr lang="en-US" b="true" sz="2328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H</a:t>
              </a:r>
            </a:p>
          </p:txBody>
        </p:sp>
        <p:sp>
          <p:nvSpPr>
            <p:cNvPr name="AutoShape 38" id="38"/>
            <p:cNvSpPr/>
            <p:nvPr/>
          </p:nvSpPr>
          <p:spPr>
            <a:xfrm>
              <a:off x="344458" y="1237300"/>
              <a:ext cx="595301" cy="0"/>
            </a:xfrm>
            <a:prstGeom prst="line">
              <a:avLst/>
            </a:prstGeom>
            <a:ln cap="flat" w="23792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39" id="39"/>
            <p:cNvSpPr txBox="true"/>
            <p:nvPr/>
          </p:nvSpPr>
          <p:spPr>
            <a:xfrm rot="0">
              <a:off x="1916470" y="955491"/>
              <a:ext cx="276059" cy="51599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259"/>
                </a:lnSpc>
                <a:spcBef>
                  <a:spcPct val="0"/>
                </a:spcBef>
              </a:pPr>
              <a:r>
                <a:rPr lang="en-US" b="true" sz="2328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C</a:t>
              </a:r>
            </a:p>
          </p:txBody>
        </p:sp>
        <p:sp>
          <p:nvSpPr>
            <p:cNvPr name="AutoShape 40" id="40"/>
            <p:cNvSpPr/>
            <p:nvPr/>
          </p:nvSpPr>
          <p:spPr>
            <a:xfrm>
              <a:off x="2293682" y="1237300"/>
              <a:ext cx="595301" cy="0"/>
            </a:xfrm>
            <a:prstGeom prst="line">
              <a:avLst/>
            </a:prstGeom>
            <a:ln cap="flat" w="23792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41" id="41"/>
            <p:cNvSpPr/>
            <p:nvPr/>
          </p:nvSpPr>
          <p:spPr>
            <a:xfrm>
              <a:off x="3301845" y="1237300"/>
              <a:ext cx="595301" cy="0"/>
            </a:xfrm>
            <a:prstGeom prst="line">
              <a:avLst/>
            </a:prstGeom>
            <a:ln cap="flat" w="23792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42" id="42"/>
            <p:cNvSpPr txBox="true"/>
            <p:nvPr/>
          </p:nvSpPr>
          <p:spPr>
            <a:xfrm rot="0">
              <a:off x="3981050" y="967387"/>
              <a:ext cx="310483" cy="51599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259"/>
                </a:lnSpc>
                <a:spcBef>
                  <a:spcPct val="0"/>
                </a:spcBef>
              </a:pPr>
              <a:r>
                <a:rPr lang="en-US" b="true" sz="2328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H</a:t>
              </a:r>
            </a:p>
          </p:txBody>
        </p:sp>
        <p:sp>
          <p:nvSpPr>
            <p:cNvPr name="AutoShape 43" id="43"/>
            <p:cNvSpPr/>
            <p:nvPr/>
          </p:nvSpPr>
          <p:spPr>
            <a:xfrm flipV="true">
              <a:off x="1125394" y="468367"/>
              <a:ext cx="0" cy="595301"/>
            </a:xfrm>
            <a:prstGeom prst="line">
              <a:avLst/>
            </a:prstGeom>
            <a:ln cap="flat" w="23792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44" id="44"/>
            <p:cNvSpPr/>
            <p:nvPr/>
          </p:nvSpPr>
          <p:spPr>
            <a:xfrm flipV="true">
              <a:off x="1137290" y="1471483"/>
              <a:ext cx="0" cy="595301"/>
            </a:xfrm>
            <a:prstGeom prst="line">
              <a:avLst/>
            </a:prstGeom>
            <a:ln cap="flat" w="23792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45" id="45"/>
            <p:cNvSpPr/>
            <p:nvPr/>
          </p:nvSpPr>
          <p:spPr>
            <a:xfrm flipV="true">
              <a:off x="2030981" y="468367"/>
              <a:ext cx="0" cy="595301"/>
            </a:xfrm>
            <a:prstGeom prst="line">
              <a:avLst/>
            </a:prstGeom>
            <a:ln cap="flat" w="23792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46" id="46"/>
            <p:cNvSpPr/>
            <p:nvPr/>
          </p:nvSpPr>
          <p:spPr>
            <a:xfrm flipV="true">
              <a:off x="2088453" y="468367"/>
              <a:ext cx="0" cy="595301"/>
            </a:xfrm>
            <a:prstGeom prst="line">
              <a:avLst/>
            </a:prstGeom>
            <a:ln cap="flat" w="23792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47" id="47"/>
            <p:cNvSpPr txBox="true"/>
            <p:nvPr/>
          </p:nvSpPr>
          <p:spPr>
            <a:xfrm rot="0">
              <a:off x="982048" y="-47625"/>
              <a:ext cx="310483" cy="51599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259"/>
                </a:lnSpc>
                <a:spcBef>
                  <a:spcPct val="0"/>
                </a:spcBef>
              </a:pPr>
              <a:r>
                <a:rPr lang="en-US" b="true" sz="2328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H</a:t>
              </a:r>
            </a:p>
          </p:txBody>
        </p:sp>
        <p:sp>
          <p:nvSpPr>
            <p:cNvPr name="TextBox 48" id="48"/>
            <p:cNvSpPr txBox="true"/>
            <p:nvPr/>
          </p:nvSpPr>
          <p:spPr>
            <a:xfrm rot="0">
              <a:off x="1923249" y="-47625"/>
              <a:ext cx="306616" cy="51599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259"/>
                </a:lnSpc>
                <a:spcBef>
                  <a:spcPct val="0"/>
                </a:spcBef>
              </a:pPr>
              <a:r>
                <a:rPr lang="en-US" b="true" sz="2328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O</a:t>
              </a:r>
            </a:p>
          </p:txBody>
        </p:sp>
        <p:sp>
          <p:nvSpPr>
            <p:cNvPr name="TextBox 49" id="49"/>
            <p:cNvSpPr txBox="true"/>
            <p:nvPr/>
          </p:nvSpPr>
          <p:spPr>
            <a:xfrm rot="0">
              <a:off x="982048" y="2019160"/>
              <a:ext cx="310483" cy="51599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259"/>
                </a:lnSpc>
                <a:spcBef>
                  <a:spcPct val="0"/>
                </a:spcBef>
              </a:pPr>
              <a:r>
                <a:rPr lang="en-US" b="true" sz="2328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H</a:t>
              </a:r>
            </a:p>
          </p:txBody>
        </p:sp>
        <p:sp>
          <p:nvSpPr>
            <p:cNvPr name="TextBox 50" id="50"/>
            <p:cNvSpPr txBox="true"/>
            <p:nvPr/>
          </p:nvSpPr>
          <p:spPr>
            <a:xfrm rot="5400000">
              <a:off x="2306986" y="-19436"/>
              <a:ext cx="217546" cy="51599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259"/>
                </a:lnSpc>
                <a:spcBef>
                  <a:spcPct val="0"/>
                </a:spcBef>
              </a:pPr>
              <a:r>
                <a:rPr lang="en-US" b="true" sz="2328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..</a:t>
              </a:r>
            </a:p>
          </p:txBody>
        </p:sp>
        <p:sp>
          <p:nvSpPr>
            <p:cNvPr name="TextBox 51" id="51"/>
            <p:cNvSpPr txBox="true"/>
            <p:nvPr/>
          </p:nvSpPr>
          <p:spPr>
            <a:xfrm rot="5464525">
              <a:off x="1908717" y="-23366"/>
              <a:ext cx="217546" cy="51599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259"/>
                </a:lnSpc>
                <a:spcBef>
                  <a:spcPct val="0"/>
                </a:spcBef>
              </a:pPr>
              <a:r>
                <a:rPr lang="en-US" b="true" sz="2328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..</a:t>
              </a:r>
            </a:p>
          </p:txBody>
        </p:sp>
        <p:sp>
          <p:nvSpPr>
            <p:cNvPr name="TextBox 52" id="52"/>
            <p:cNvSpPr txBox="true"/>
            <p:nvPr/>
          </p:nvSpPr>
          <p:spPr>
            <a:xfrm rot="0">
              <a:off x="2942106" y="943039"/>
              <a:ext cx="306616" cy="51599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259"/>
                </a:lnSpc>
                <a:spcBef>
                  <a:spcPct val="0"/>
                </a:spcBef>
              </a:pPr>
              <a:r>
                <a:rPr lang="en-US" b="true" sz="2328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O</a:t>
              </a:r>
            </a:p>
          </p:txBody>
        </p:sp>
        <p:sp>
          <p:nvSpPr>
            <p:cNvPr name="TextBox 53" id="53"/>
            <p:cNvSpPr txBox="true"/>
            <p:nvPr/>
          </p:nvSpPr>
          <p:spPr>
            <a:xfrm rot="0">
              <a:off x="2981325" y="593825"/>
              <a:ext cx="217546" cy="51599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259"/>
                </a:lnSpc>
                <a:spcBef>
                  <a:spcPct val="0"/>
                </a:spcBef>
              </a:pPr>
              <a:r>
                <a:rPr lang="en-US" b="true" sz="2328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..</a:t>
              </a:r>
            </a:p>
          </p:txBody>
        </p:sp>
        <p:sp>
          <p:nvSpPr>
            <p:cNvPr name="TextBox 54" id="54"/>
            <p:cNvSpPr txBox="true"/>
            <p:nvPr/>
          </p:nvSpPr>
          <p:spPr>
            <a:xfrm rot="-10800000">
              <a:off x="2995131" y="1388575"/>
              <a:ext cx="217546" cy="51599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259"/>
                </a:lnSpc>
                <a:spcBef>
                  <a:spcPct val="0"/>
                </a:spcBef>
              </a:pPr>
              <a:r>
                <a:rPr lang="en-US" b="true" sz="2328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..</a:t>
              </a:r>
            </a:p>
          </p:txBody>
        </p:sp>
      </p:grpSp>
      <p:sp>
        <p:nvSpPr>
          <p:cNvPr name="Freeform 55" id="55"/>
          <p:cNvSpPr/>
          <p:nvPr/>
        </p:nvSpPr>
        <p:spPr>
          <a:xfrm flipH="false" flipV="false" rot="0">
            <a:off x="6195314" y="4790784"/>
            <a:ext cx="2773426" cy="1840636"/>
          </a:xfrm>
          <a:custGeom>
            <a:avLst/>
            <a:gdLst/>
            <a:ahLst/>
            <a:cxnLst/>
            <a:rect r="r" b="b" t="t" l="l"/>
            <a:pathLst>
              <a:path h="1840636" w="2773426">
                <a:moveTo>
                  <a:pt x="0" y="0"/>
                </a:moveTo>
                <a:lnTo>
                  <a:pt x="2773427" y="0"/>
                </a:lnTo>
                <a:lnTo>
                  <a:pt x="2773427" y="1840636"/>
                </a:lnTo>
                <a:lnTo>
                  <a:pt x="0" y="184063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-379" b="0"/>
            </a:stretch>
          </a:blipFill>
        </p:spPr>
      </p:sp>
      <p:sp>
        <p:nvSpPr>
          <p:cNvPr name="TextBox 56" id="56"/>
          <p:cNvSpPr txBox="true"/>
          <p:nvPr/>
        </p:nvSpPr>
        <p:spPr>
          <a:xfrm rot="0">
            <a:off x="1906578" y="362256"/>
            <a:ext cx="6878844" cy="5629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61"/>
              </a:lnSpc>
              <a:spcBef>
                <a:spcPct val="0"/>
              </a:spcBef>
            </a:pPr>
            <a:r>
              <a:rPr lang="en-US" sz="3115">
                <a:solidFill>
                  <a:srgbClr val="FFFFFF"/>
                </a:solidFill>
                <a:latin typeface="Horizon"/>
                <a:ea typeface="Horizon"/>
                <a:cs typeface="Horizon"/>
                <a:sym typeface="Horizon"/>
              </a:rPr>
              <a:t>Card 04 - acetic acid</a:t>
            </a:r>
          </a:p>
        </p:txBody>
      </p:sp>
      <p:grpSp>
        <p:nvGrpSpPr>
          <p:cNvPr name="Group 57" id="57"/>
          <p:cNvGrpSpPr/>
          <p:nvPr/>
        </p:nvGrpSpPr>
        <p:grpSpPr>
          <a:xfrm rot="0">
            <a:off x="756000" y="2152467"/>
            <a:ext cx="4363727" cy="1235794"/>
            <a:chOff x="0" y="0"/>
            <a:chExt cx="5818302" cy="1647725"/>
          </a:xfrm>
        </p:grpSpPr>
        <p:sp>
          <p:nvSpPr>
            <p:cNvPr name="TextBox 58" id="58"/>
            <p:cNvSpPr txBox="true"/>
            <p:nvPr/>
          </p:nvSpPr>
          <p:spPr>
            <a:xfrm rot="0">
              <a:off x="0" y="-161925"/>
              <a:ext cx="5818302" cy="18096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1405"/>
                </a:lnSpc>
                <a:spcBef>
                  <a:spcPct val="0"/>
                </a:spcBef>
              </a:pPr>
              <a:r>
                <a:rPr lang="en-US" sz="8146">
                  <a:solidFill>
                    <a:srgbClr val="000000"/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C H O</a:t>
              </a:r>
            </a:p>
          </p:txBody>
        </p:sp>
        <p:sp>
          <p:nvSpPr>
            <p:cNvPr name="TextBox 59" id="59"/>
            <p:cNvSpPr txBox="true"/>
            <p:nvPr/>
          </p:nvSpPr>
          <p:spPr>
            <a:xfrm rot="0">
              <a:off x="1666912" y="485132"/>
              <a:ext cx="796025" cy="106334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6701"/>
                </a:lnSpc>
                <a:spcBef>
                  <a:spcPct val="0"/>
                </a:spcBef>
              </a:pPr>
              <a:r>
                <a:rPr lang="en-US" sz="4786">
                  <a:solidFill>
                    <a:srgbClr val="000000"/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2</a:t>
              </a:r>
            </a:p>
          </p:txBody>
        </p:sp>
        <p:sp>
          <p:nvSpPr>
            <p:cNvPr name="TextBox 60" id="60"/>
            <p:cNvSpPr txBox="true"/>
            <p:nvPr/>
          </p:nvSpPr>
          <p:spPr>
            <a:xfrm rot="0">
              <a:off x="3283875" y="485132"/>
              <a:ext cx="796025" cy="106334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6701"/>
                </a:lnSpc>
                <a:spcBef>
                  <a:spcPct val="0"/>
                </a:spcBef>
              </a:pPr>
              <a:r>
                <a:rPr lang="en-US" sz="4786">
                  <a:solidFill>
                    <a:srgbClr val="000000"/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4</a:t>
              </a:r>
            </a:p>
          </p:txBody>
        </p:sp>
        <p:sp>
          <p:nvSpPr>
            <p:cNvPr name="TextBox 61" id="61"/>
            <p:cNvSpPr txBox="true"/>
            <p:nvPr/>
          </p:nvSpPr>
          <p:spPr>
            <a:xfrm rot="0">
              <a:off x="4899113" y="452772"/>
              <a:ext cx="796025" cy="106334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6701"/>
                </a:lnSpc>
                <a:spcBef>
                  <a:spcPct val="0"/>
                </a:spcBef>
              </a:pPr>
              <a:r>
                <a:rPr lang="en-US" sz="4786">
                  <a:solidFill>
                    <a:srgbClr val="000000"/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2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-452615" y="5114359"/>
            <a:ext cx="7271417" cy="1435184"/>
            <a:chOff x="0" y="0"/>
            <a:chExt cx="9695222" cy="1913578"/>
          </a:xfrm>
        </p:grpSpPr>
        <p:sp>
          <p:nvSpPr>
            <p:cNvPr name="TextBox 63" id="63"/>
            <p:cNvSpPr txBox="true"/>
            <p:nvPr/>
          </p:nvSpPr>
          <p:spPr>
            <a:xfrm rot="0">
              <a:off x="0" y="-371475"/>
              <a:ext cx="9695222" cy="228505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3214"/>
                </a:lnSpc>
                <a:spcBef>
                  <a:spcPct val="0"/>
                </a:spcBef>
              </a:pPr>
              <a:r>
                <a:rPr lang="en-US" sz="9438">
                  <a:solidFill>
                    <a:srgbClr val="000000"/>
                  </a:solidFill>
                  <a:latin typeface="Impact"/>
                  <a:ea typeface="Impact"/>
                  <a:cs typeface="Impact"/>
                  <a:sym typeface="Impact"/>
                </a:rPr>
                <a:t>C COOH</a:t>
              </a:r>
            </a:p>
          </p:txBody>
        </p:sp>
        <p:sp>
          <p:nvSpPr>
            <p:cNvPr name="TextBox 64" id="64"/>
            <p:cNvSpPr txBox="true"/>
            <p:nvPr/>
          </p:nvSpPr>
          <p:spPr>
            <a:xfrm rot="0">
              <a:off x="3243856" y="531345"/>
              <a:ext cx="922261" cy="12531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7250"/>
                </a:lnSpc>
                <a:spcBef>
                  <a:spcPct val="0"/>
                </a:spcBef>
              </a:pPr>
              <a:r>
                <a:rPr lang="en-US" sz="5179">
                  <a:solidFill>
                    <a:srgbClr val="000000"/>
                  </a:solidFill>
                  <a:latin typeface="Impact"/>
                  <a:ea typeface="Impact"/>
                  <a:cs typeface="Impact"/>
                  <a:sym typeface="Impact"/>
                </a:rPr>
                <a:t>2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3E4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63023" y="1414346"/>
            <a:ext cx="8565953" cy="5366374"/>
            <a:chOff x="0" y="0"/>
            <a:chExt cx="11421271" cy="7155165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232350"/>
              <a:ext cx="5556832" cy="3078532"/>
              <a:chOff x="0" y="0"/>
              <a:chExt cx="635000" cy="351795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635000" cy="351795"/>
              </a:xfrm>
              <a:custGeom>
                <a:avLst/>
                <a:gdLst/>
                <a:ahLst/>
                <a:cxnLst/>
                <a:rect r="r" b="b" t="t" l="l"/>
                <a:pathLst>
                  <a:path h="351795" w="635000">
                    <a:moveTo>
                      <a:pt x="42087" y="0"/>
                    </a:moveTo>
                    <a:lnTo>
                      <a:pt x="592913" y="0"/>
                    </a:lnTo>
                    <a:cubicBezTo>
                      <a:pt x="616157" y="0"/>
                      <a:pt x="635000" y="18843"/>
                      <a:pt x="635000" y="42087"/>
                    </a:cubicBezTo>
                    <a:lnTo>
                      <a:pt x="635000" y="309708"/>
                    </a:lnTo>
                    <a:cubicBezTo>
                      <a:pt x="635000" y="332952"/>
                      <a:pt x="616157" y="351795"/>
                      <a:pt x="592913" y="351795"/>
                    </a:cubicBezTo>
                    <a:lnTo>
                      <a:pt x="42087" y="351795"/>
                    </a:lnTo>
                    <a:cubicBezTo>
                      <a:pt x="18843" y="351795"/>
                      <a:pt x="0" y="332952"/>
                      <a:pt x="0" y="309708"/>
                    </a:cubicBezTo>
                    <a:lnTo>
                      <a:pt x="0" y="42087"/>
                    </a:lnTo>
                    <a:cubicBezTo>
                      <a:pt x="0" y="18843"/>
                      <a:pt x="18843" y="0"/>
                      <a:pt x="4208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rnd">
                <a:noFill/>
                <a:prstDash val="sysDot"/>
                <a:round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38100"/>
                <a:ext cx="635000" cy="38989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820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849109" y="0"/>
              <a:ext cx="3799999" cy="495222"/>
              <a:chOff x="0" y="0"/>
              <a:chExt cx="1061224" cy="138301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1061224" cy="138301"/>
              </a:xfrm>
              <a:custGeom>
                <a:avLst/>
                <a:gdLst/>
                <a:ahLst/>
                <a:cxnLst/>
                <a:rect r="r" b="b" t="t" l="l"/>
                <a:pathLst>
                  <a:path h="138301" w="1061224">
                    <a:moveTo>
                      <a:pt x="69150" y="0"/>
                    </a:moveTo>
                    <a:lnTo>
                      <a:pt x="992073" y="0"/>
                    </a:lnTo>
                    <a:cubicBezTo>
                      <a:pt x="1010413" y="0"/>
                      <a:pt x="1028002" y="7285"/>
                      <a:pt x="1040970" y="20254"/>
                    </a:cubicBezTo>
                    <a:cubicBezTo>
                      <a:pt x="1053938" y="33222"/>
                      <a:pt x="1061224" y="50810"/>
                      <a:pt x="1061224" y="69150"/>
                    </a:cubicBezTo>
                    <a:lnTo>
                      <a:pt x="1061224" y="69150"/>
                    </a:lnTo>
                    <a:cubicBezTo>
                      <a:pt x="1061224" y="87490"/>
                      <a:pt x="1053938" y="105079"/>
                      <a:pt x="1040970" y="118047"/>
                    </a:cubicBezTo>
                    <a:cubicBezTo>
                      <a:pt x="1028002" y="131015"/>
                      <a:pt x="1010413" y="138301"/>
                      <a:pt x="992073" y="138301"/>
                    </a:cubicBezTo>
                    <a:lnTo>
                      <a:pt x="69150" y="138301"/>
                    </a:lnTo>
                    <a:cubicBezTo>
                      <a:pt x="50810" y="138301"/>
                      <a:pt x="33222" y="131015"/>
                      <a:pt x="20254" y="118047"/>
                    </a:cubicBezTo>
                    <a:cubicBezTo>
                      <a:pt x="7285" y="105079"/>
                      <a:pt x="0" y="87490"/>
                      <a:pt x="0" y="69150"/>
                    </a:cubicBezTo>
                    <a:lnTo>
                      <a:pt x="0" y="69150"/>
                    </a:lnTo>
                    <a:cubicBezTo>
                      <a:pt x="0" y="50810"/>
                      <a:pt x="7285" y="33222"/>
                      <a:pt x="20254" y="20254"/>
                    </a:cubicBezTo>
                    <a:cubicBezTo>
                      <a:pt x="33222" y="7285"/>
                      <a:pt x="50810" y="0"/>
                      <a:pt x="69150" y="0"/>
                    </a:cubicBezTo>
                    <a:close/>
                  </a:path>
                </a:pathLst>
              </a:custGeom>
              <a:solidFill>
                <a:srgbClr val="004AAD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38100"/>
                <a:ext cx="1061224" cy="176401"/>
              </a:xfrm>
              <a:prstGeom prst="rect">
                <a:avLst/>
              </a:prstGeom>
            </p:spPr>
            <p:txBody>
              <a:bodyPr anchor="ctr" rtlCol="false" tIns="48892" lIns="48892" bIns="48892" rIns="48892"/>
              <a:lstStyle/>
              <a:p>
                <a:pPr algn="ctr">
                  <a:lnSpc>
                    <a:spcPts val="1820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9" id="9"/>
            <p:cNvSpPr txBox="true"/>
            <p:nvPr/>
          </p:nvSpPr>
          <p:spPr>
            <a:xfrm rot="0">
              <a:off x="994956" y="8931"/>
              <a:ext cx="3436342" cy="42994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701"/>
                </a:lnSpc>
                <a:spcBef>
                  <a:spcPct val="0"/>
                </a:spcBef>
              </a:pPr>
              <a:r>
                <a:rPr lang="en-US" sz="1929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Molecular Formula</a:t>
              </a:r>
            </a:p>
          </p:txBody>
        </p:sp>
        <p:grpSp>
          <p:nvGrpSpPr>
            <p:cNvPr name="Group 10" id="10"/>
            <p:cNvGrpSpPr/>
            <p:nvPr/>
          </p:nvGrpSpPr>
          <p:grpSpPr>
            <a:xfrm rot="0">
              <a:off x="5864439" y="232350"/>
              <a:ext cx="5556832" cy="3078532"/>
              <a:chOff x="0" y="0"/>
              <a:chExt cx="635000" cy="351795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635000" cy="351795"/>
              </a:xfrm>
              <a:custGeom>
                <a:avLst/>
                <a:gdLst/>
                <a:ahLst/>
                <a:cxnLst/>
                <a:rect r="r" b="b" t="t" l="l"/>
                <a:pathLst>
                  <a:path h="351795" w="635000">
                    <a:moveTo>
                      <a:pt x="42087" y="0"/>
                    </a:moveTo>
                    <a:lnTo>
                      <a:pt x="592913" y="0"/>
                    </a:lnTo>
                    <a:cubicBezTo>
                      <a:pt x="616157" y="0"/>
                      <a:pt x="635000" y="18843"/>
                      <a:pt x="635000" y="42087"/>
                    </a:cubicBezTo>
                    <a:lnTo>
                      <a:pt x="635000" y="309708"/>
                    </a:lnTo>
                    <a:cubicBezTo>
                      <a:pt x="635000" y="332952"/>
                      <a:pt x="616157" y="351795"/>
                      <a:pt x="592913" y="351795"/>
                    </a:cubicBezTo>
                    <a:lnTo>
                      <a:pt x="42087" y="351795"/>
                    </a:lnTo>
                    <a:cubicBezTo>
                      <a:pt x="18843" y="351795"/>
                      <a:pt x="0" y="332952"/>
                      <a:pt x="0" y="309708"/>
                    </a:cubicBezTo>
                    <a:lnTo>
                      <a:pt x="0" y="42087"/>
                    </a:lnTo>
                    <a:cubicBezTo>
                      <a:pt x="0" y="18843"/>
                      <a:pt x="18843" y="0"/>
                      <a:pt x="4208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rnd">
                <a:noFill/>
                <a:prstDash val="sysDot"/>
                <a:round/>
              </a:ln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28575"/>
                <a:ext cx="635000" cy="38037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60"/>
                  </a:lnSpc>
                </a:pPr>
              </a:p>
            </p:txBody>
          </p:sp>
        </p:grpSp>
        <p:grpSp>
          <p:nvGrpSpPr>
            <p:cNvPr name="Group 13" id="13"/>
            <p:cNvGrpSpPr/>
            <p:nvPr/>
          </p:nvGrpSpPr>
          <p:grpSpPr>
            <a:xfrm rot="0">
              <a:off x="6713548" y="0"/>
              <a:ext cx="3799999" cy="495222"/>
              <a:chOff x="0" y="0"/>
              <a:chExt cx="1061224" cy="138301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1061224" cy="138301"/>
              </a:xfrm>
              <a:custGeom>
                <a:avLst/>
                <a:gdLst/>
                <a:ahLst/>
                <a:cxnLst/>
                <a:rect r="r" b="b" t="t" l="l"/>
                <a:pathLst>
                  <a:path h="138301" w="1061224">
                    <a:moveTo>
                      <a:pt x="69150" y="0"/>
                    </a:moveTo>
                    <a:lnTo>
                      <a:pt x="992073" y="0"/>
                    </a:lnTo>
                    <a:cubicBezTo>
                      <a:pt x="1010413" y="0"/>
                      <a:pt x="1028002" y="7285"/>
                      <a:pt x="1040970" y="20254"/>
                    </a:cubicBezTo>
                    <a:cubicBezTo>
                      <a:pt x="1053938" y="33222"/>
                      <a:pt x="1061224" y="50810"/>
                      <a:pt x="1061224" y="69150"/>
                    </a:cubicBezTo>
                    <a:lnTo>
                      <a:pt x="1061224" y="69150"/>
                    </a:lnTo>
                    <a:cubicBezTo>
                      <a:pt x="1061224" y="87490"/>
                      <a:pt x="1053938" y="105079"/>
                      <a:pt x="1040970" y="118047"/>
                    </a:cubicBezTo>
                    <a:cubicBezTo>
                      <a:pt x="1028002" y="131015"/>
                      <a:pt x="1010413" y="138301"/>
                      <a:pt x="992073" y="138301"/>
                    </a:cubicBezTo>
                    <a:lnTo>
                      <a:pt x="69150" y="138301"/>
                    </a:lnTo>
                    <a:cubicBezTo>
                      <a:pt x="50810" y="138301"/>
                      <a:pt x="33222" y="131015"/>
                      <a:pt x="20254" y="118047"/>
                    </a:cubicBezTo>
                    <a:cubicBezTo>
                      <a:pt x="7285" y="105079"/>
                      <a:pt x="0" y="87490"/>
                      <a:pt x="0" y="69150"/>
                    </a:cubicBezTo>
                    <a:lnTo>
                      <a:pt x="0" y="69150"/>
                    </a:lnTo>
                    <a:cubicBezTo>
                      <a:pt x="0" y="50810"/>
                      <a:pt x="7285" y="33222"/>
                      <a:pt x="20254" y="20254"/>
                    </a:cubicBezTo>
                    <a:cubicBezTo>
                      <a:pt x="33222" y="7285"/>
                      <a:pt x="50810" y="0"/>
                      <a:pt x="69150" y="0"/>
                    </a:cubicBezTo>
                    <a:close/>
                  </a:path>
                </a:pathLst>
              </a:custGeom>
              <a:solidFill>
                <a:srgbClr val="004AAD"/>
              </a:solidFill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0" y="-28575"/>
                <a:ext cx="1061224" cy="166876"/>
              </a:xfrm>
              <a:prstGeom prst="rect">
                <a:avLst/>
              </a:prstGeom>
            </p:spPr>
            <p:txBody>
              <a:bodyPr anchor="ctr" rtlCol="false" tIns="48892" lIns="48892" bIns="48892" rIns="48892"/>
              <a:lstStyle/>
              <a:p>
                <a:pPr algn="ctr">
                  <a:lnSpc>
                    <a:spcPts val="1960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16" id="16"/>
            <p:cNvSpPr txBox="true"/>
            <p:nvPr/>
          </p:nvSpPr>
          <p:spPr>
            <a:xfrm rot="0">
              <a:off x="6859395" y="8931"/>
              <a:ext cx="3436342" cy="42994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701"/>
                </a:lnSpc>
                <a:spcBef>
                  <a:spcPct val="0"/>
                </a:spcBef>
              </a:pPr>
              <a:r>
                <a:rPr lang="en-US" sz="1929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Lewis Structure</a:t>
              </a:r>
            </a:p>
          </p:txBody>
        </p:sp>
        <p:grpSp>
          <p:nvGrpSpPr>
            <p:cNvPr name="Group 17" id="17"/>
            <p:cNvGrpSpPr/>
            <p:nvPr/>
          </p:nvGrpSpPr>
          <p:grpSpPr>
            <a:xfrm rot="0">
              <a:off x="0" y="4076632"/>
              <a:ext cx="5556832" cy="3078532"/>
              <a:chOff x="0" y="0"/>
              <a:chExt cx="635000" cy="351795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635000" cy="351795"/>
              </a:xfrm>
              <a:custGeom>
                <a:avLst/>
                <a:gdLst/>
                <a:ahLst/>
                <a:cxnLst/>
                <a:rect r="r" b="b" t="t" l="l"/>
                <a:pathLst>
                  <a:path h="351795" w="635000">
                    <a:moveTo>
                      <a:pt x="42087" y="0"/>
                    </a:moveTo>
                    <a:lnTo>
                      <a:pt x="592913" y="0"/>
                    </a:lnTo>
                    <a:cubicBezTo>
                      <a:pt x="616157" y="0"/>
                      <a:pt x="635000" y="18843"/>
                      <a:pt x="635000" y="42087"/>
                    </a:cubicBezTo>
                    <a:lnTo>
                      <a:pt x="635000" y="309708"/>
                    </a:lnTo>
                    <a:cubicBezTo>
                      <a:pt x="635000" y="332952"/>
                      <a:pt x="616157" y="351795"/>
                      <a:pt x="592913" y="351795"/>
                    </a:cubicBezTo>
                    <a:lnTo>
                      <a:pt x="42087" y="351795"/>
                    </a:lnTo>
                    <a:cubicBezTo>
                      <a:pt x="18843" y="351795"/>
                      <a:pt x="0" y="332952"/>
                      <a:pt x="0" y="309708"/>
                    </a:cubicBezTo>
                    <a:lnTo>
                      <a:pt x="0" y="42087"/>
                    </a:lnTo>
                    <a:cubicBezTo>
                      <a:pt x="0" y="18843"/>
                      <a:pt x="18843" y="0"/>
                      <a:pt x="4208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rnd">
                <a:noFill/>
                <a:prstDash val="sysDot"/>
                <a:round/>
              </a:ln>
            </p:spPr>
          </p:sp>
          <p:sp>
            <p:nvSpPr>
              <p:cNvPr name="TextBox 19" id="19"/>
              <p:cNvSpPr txBox="true"/>
              <p:nvPr/>
            </p:nvSpPr>
            <p:spPr>
              <a:xfrm>
                <a:off x="0" y="-28575"/>
                <a:ext cx="635000" cy="38037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60"/>
                  </a:lnSpc>
                </a:pPr>
              </a:p>
            </p:txBody>
          </p:sp>
        </p:grpSp>
        <p:grpSp>
          <p:nvGrpSpPr>
            <p:cNvPr name="Group 20" id="20"/>
            <p:cNvGrpSpPr/>
            <p:nvPr/>
          </p:nvGrpSpPr>
          <p:grpSpPr>
            <a:xfrm rot="0">
              <a:off x="510787" y="3891314"/>
              <a:ext cx="4535257" cy="495222"/>
              <a:chOff x="0" y="0"/>
              <a:chExt cx="1266559" cy="138301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0" y="0"/>
                <a:ext cx="1266559" cy="138301"/>
              </a:xfrm>
              <a:custGeom>
                <a:avLst/>
                <a:gdLst/>
                <a:ahLst/>
                <a:cxnLst/>
                <a:rect r="r" b="b" t="t" l="l"/>
                <a:pathLst>
                  <a:path h="138301" w="1266559">
                    <a:moveTo>
                      <a:pt x="69150" y="0"/>
                    </a:moveTo>
                    <a:lnTo>
                      <a:pt x="1197409" y="0"/>
                    </a:lnTo>
                    <a:cubicBezTo>
                      <a:pt x="1235599" y="0"/>
                      <a:pt x="1266559" y="30960"/>
                      <a:pt x="1266559" y="69150"/>
                    </a:cubicBezTo>
                    <a:lnTo>
                      <a:pt x="1266559" y="69150"/>
                    </a:lnTo>
                    <a:cubicBezTo>
                      <a:pt x="1266559" y="87490"/>
                      <a:pt x="1259273" y="105079"/>
                      <a:pt x="1246305" y="118047"/>
                    </a:cubicBezTo>
                    <a:cubicBezTo>
                      <a:pt x="1233337" y="131015"/>
                      <a:pt x="1215748" y="138301"/>
                      <a:pt x="1197409" y="138301"/>
                    </a:cubicBezTo>
                    <a:lnTo>
                      <a:pt x="69150" y="138301"/>
                    </a:lnTo>
                    <a:cubicBezTo>
                      <a:pt x="50810" y="138301"/>
                      <a:pt x="33222" y="131015"/>
                      <a:pt x="20254" y="118047"/>
                    </a:cubicBezTo>
                    <a:cubicBezTo>
                      <a:pt x="7285" y="105079"/>
                      <a:pt x="0" y="87490"/>
                      <a:pt x="0" y="69150"/>
                    </a:cubicBezTo>
                    <a:lnTo>
                      <a:pt x="0" y="69150"/>
                    </a:lnTo>
                    <a:cubicBezTo>
                      <a:pt x="0" y="50810"/>
                      <a:pt x="7285" y="33222"/>
                      <a:pt x="20254" y="20254"/>
                    </a:cubicBezTo>
                    <a:cubicBezTo>
                      <a:pt x="33222" y="7285"/>
                      <a:pt x="50810" y="0"/>
                      <a:pt x="69150" y="0"/>
                    </a:cubicBezTo>
                    <a:close/>
                  </a:path>
                </a:pathLst>
              </a:custGeom>
              <a:solidFill>
                <a:srgbClr val="004AAD"/>
              </a:solidFill>
            </p:spPr>
          </p:sp>
          <p:sp>
            <p:nvSpPr>
              <p:cNvPr name="TextBox 22" id="22"/>
              <p:cNvSpPr txBox="true"/>
              <p:nvPr/>
            </p:nvSpPr>
            <p:spPr>
              <a:xfrm>
                <a:off x="0" y="-28575"/>
                <a:ext cx="1266559" cy="166876"/>
              </a:xfrm>
              <a:prstGeom prst="rect">
                <a:avLst/>
              </a:prstGeom>
            </p:spPr>
            <p:txBody>
              <a:bodyPr anchor="ctr" rtlCol="false" tIns="48892" lIns="48892" bIns="48892" rIns="48892"/>
              <a:lstStyle/>
              <a:p>
                <a:pPr algn="ctr">
                  <a:lnSpc>
                    <a:spcPts val="1960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23" id="23"/>
            <p:cNvSpPr txBox="true"/>
            <p:nvPr/>
          </p:nvSpPr>
          <p:spPr>
            <a:xfrm rot="0">
              <a:off x="636817" y="3937400"/>
              <a:ext cx="4283198" cy="3649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315"/>
                </a:lnSpc>
                <a:spcBef>
                  <a:spcPct val="0"/>
                </a:spcBef>
              </a:pPr>
              <a:r>
                <a:rPr lang="en-US" sz="1653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Condensed Structural Formula</a:t>
              </a:r>
            </a:p>
          </p:txBody>
        </p:sp>
        <p:grpSp>
          <p:nvGrpSpPr>
            <p:cNvPr name="Group 24" id="24"/>
            <p:cNvGrpSpPr/>
            <p:nvPr/>
          </p:nvGrpSpPr>
          <p:grpSpPr>
            <a:xfrm rot="0">
              <a:off x="5864439" y="4076632"/>
              <a:ext cx="5556832" cy="3078532"/>
              <a:chOff x="0" y="0"/>
              <a:chExt cx="635000" cy="351795"/>
            </a:xfrm>
          </p:grpSpPr>
          <p:sp>
            <p:nvSpPr>
              <p:cNvPr name="Freeform 25" id="25"/>
              <p:cNvSpPr/>
              <p:nvPr/>
            </p:nvSpPr>
            <p:spPr>
              <a:xfrm flipH="false" flipV="false" rot="0">
                <a:off x="0" y="0"/>
                <a:ext cx="635000" cy="351795"/>
              </a:xfrm>
              <a:custGeom>
                <a:avLst/>
                <a:gdLst/>
                <a:ahLst/>
                <a:cxnLst/>
                <a:rect r="r" b="b" t="t" l="l"/>
                <a:pathLst>
                  <a:path h="351795" w="635000">
                    <a:moveTo>
                      <a:pt x="42087" y="0"/>
                    </a:moveTo>
                    <a:lnTo>
                      <a:pt x="592913" y="0"/>
                    </a:lnTo>
                    <a:cubicBezTo>
                      <a:pt x="616157" y="0"/>
                      <a:pt x="635000" y="18843"/>
                      <a:pt x="635000" y="42087"/>
                    </a:cubicBezTo>
                    <a:lnTo>
                      <a:pt x="635000" y="309708"/>
                    </a:lnTo>
                    <a:cubicBezTo>
                      <a:pt x="635000" y="332952"/>
                      <a:pt x="616157" y="351795"/>
                      <a:pt x="592913" y="351795"/>
                    </a:cubicBezTo>
                    <a:lnTo>
                      <a:pt x="42087" y="351795"/>
                    </a:lnTo>
                    <a:cubicBezTo>
                      <a:pt x="18843" y="351795"/>
                      <a:pt x="0" y="332952"/>
                      <a:pt x="0" y="309708"/>
                    </a:cubicBezTo>
                    <a:lnTo>
                      <a:pt x="0" y="42087"/>
                    </a:lnTo>
                    <a:cubicBezTo>
                      <a:pt x="0" y="18843"/>
                      <a:pt x="18843" y="0"/>
                      <a:pt x="4208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rnd">
                <a:noFill/>
                <a:prstDash val="sysDot"/>
                <a:round/>
              </a:ln>
            </p:spPr>
          </p:sp>
          <p:sp>
            <p:nvSpPr>
              <p:cNvPr name="TextBox 26" id="26"/>
              <p:cNvSpPr txBox="true"/>
              <p:nvPr/>
            </p:nvSpPr>
            <p:spPr>
              <a:xfrm>
                <a:off x="0" y="-28575"/>
                <a:ext cx="635000" cy="38037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60"/>
                  </a:lnSpc>
                </a:pPr>
              </a:p>
            </p:txBody>
          </p:sp>
        </p:grpSp>
        <p:grpSp>
          <p:nvGrpSpPr>
            <p:cNvPr name="Group 27" id="27"/>
            <p:cNvGrpSpPr/>
            <p:nvPr/>
          </p:nvGrpSpPr>
          <p:grpSpPr>
            <a:xfrm rot="0">
              <a:off x="6713548" y="3844282"/>
              <a:ext cx="3799999" cy="495222"/>
              <a:chOff x="0" y="0"/>
              <a:chExt cx="1061224" cy="138301"/>
            </a:xfrm>
          </p:grpSpPr>
          <p:sp>
            <p:nvSpPr>
              <p:cNvPr name="Freeform 28" id="28"/>
              <p:cNvSpPr/>
              <p:nvPr/>
            </p:nvSpPr>
            <p:spPr>
              <a:xfrm flipH="false" flipV="false" rot="0">
                <a:off x="0" y="0"/>
                <a:ext cx="1061224" cy="138301"/>
              </a:xfrm>
              <a:custGeom>
                <a:avLst/>
                <a:gdLst/>
                <a:ahLst/>
                <a:cxnLst/>
                <a:rect r="r" b="b" t="t" l="l"/>
                <a:pathLst>
                  <a:path h="138301" w="1061224">
                    <a:moveTo>
                      <a:pt x="69150" y="0"/>
                    </a:moveTo>
                    <a:lnTo>
                      <a:pt x="992073" y="0"/>
                    </a:lnTo>
                    <a:cubicBezTo>
                      <a:pt x="1010413" y="0"/>
                      <a:pt x="1028002" y="7285"/>
                      <a:pt x="1040970" y="20254"/>
                    </a:cubicBezTo>
                    <a:cubicBezTo>
                      <a:pt x="1053938" y="33222"/>
                      <a:pt x="1061224" y="50810"/>
                      <a:pt x="1061224" y="69150"/>
                    </a:cubicBezTo>
                    <a:lnTo>
                      <a:pt x="1061224" y="69150"/>
                    </a:lnTo>
                    <a:cubicBezTo>
                      <a:pt x="1061224" y="87490"/>
                      <a:pt x="1053938" y="105079"/>
                      <a:pt x="1040970" y="118047"/>
                    </a:cubicBezTo>
                    <a:cubicBezTo>
                      <a:pt x="1028002" y="131015"/>
                      <a:pt x="1010413" y="138301"/>
                      <a:pt x="992073" y="138301"/>
                    </a:cubicBezTo>
                    <a:lnTo>
                      <a:pt x="69150" y="138301"/>
                    </a:lnTo>
                    <a:cubicBezTo>
                      <a:pt x="50810" y="138301"/>
                      <a:pt x="33222" y="131015"/>
                      <a:pt x="20254" y="118047"/>
                    </a:cubicBezTo>
                    <a:cubicBezTo>
                      <a:pt x="7285" y="105079"/>
                      <a:pt x="0" y="87490"/>
                      <a:pt x="0" y="69150"/>
                    </a:cubicBezTo>
                    <a:lnTo>
                      <a:pt x="0" y="69150"/>
                    </a:lnTo>
                    <a:cubicBezTo>
                      <a:pt x="0" y="50810"/>
                      <a:pt x="7285" y="33222"/>
                      <a:pt x="20254" y="20254"/>
                    </a:cubicBezTo>
                    <a:cubicBezTo>
                      <a:pt x="33222" y="7285"/>
                      <a:pt x="50810" y="0"/>
                      <a:pt x="69150" y="0"/>
                    </a:cubicBezTo>
                    <a:close/>
                  </a:path>
                </a:pathLst>
              </a:custGeom>
              <a:solidFill>
                <a:srgbClr val="004AAD"/>
              </a:solidFill>
            </p:spPr>
          </p:sp>
          <p:sp>
            <p:nvSpPr>
              <p:cNvPr name="TextBox 29" id="29"/>
              <p:cNvSpPr txBox="true"/>
              <p:nvPr/>
            </p:nvSpPr>
            <p:spPr>
              <a:xfrm>
                <a:off x="0" y="-28575"/>
                <a:ext cx="1061224" cy="166876"/>
              </a:xfrm>
              <a:prstGeom prst="rect">
                <a:avLst/>
              </a:prstGeom>
            </p:spPr>
            <p:txBody>
              <a:bodyPr anchor="ctr" rtlCol="false" tIns="48892" lIns="48892" bIns="48892" rIns="48892"/>
              <a:lstStyle/>
              <a:p>
                <a:pPr algn="ctr">
                  <a:lnSpc>
                    <a:spcPts val="1960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30" id="30"/>
            <p:cNvSpPr txBox="true"/>
            <p:nvPr/>
          </p:nvSpPr>
          <p:spPr>
            <a:xfrm rot="0">
              <a:off x="6924684" y="3853214"/>
              <a:ext cx="3436342" cy="42994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701"/>
                </a:lnSpc>
                <a:spcBef>
                  <a:spcPct val="0"/>
                </a:spcBef>
              </a:pPr>
              <a:r>
                <a:rPr lang="en-US" sz="1929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Bond-Line Structure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051506" y="366072"/>
            <a:ext cx="8588987" cy="650546"/>
            <a:chOff x="0" y="0"/>
            <a:chExt cx="3198189" cy="242237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3198189" cy="242237"/>
            </a:xfrm>
            <a:custGeom>
              <a:avLst/>
              <a:gdLst/>
              <a:ahLst/>
              <a:cxnLst/>
              <a:rect r="r" b="b" t="t" l="l"/>
              <a:pathLst>
                <a:path h="242237" w="3198189">
                  <a:moveTo>
                    <a:pt x="0" y="0"/>
                  </a:moveTo>
                  <a:lnTo>
                    <a:pt x="3198189" y="0"/>
                  </a:lnTo>
                  <a:lnTo>
                    <a:pt x="3198189" y="242237"/>
                  </a:lnTo>
                  <a:lnTo>
                    <a:pt x="0" y="242237"/>
                  </a:ln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100000"/>
                  </a:srgbClr>
                </a:gs>
                <a:gs pos="100000">
                  <a:srgbClr val="3533CD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28575"/>
              <a:ext cx="3198189" cy="270812"/>
            </a:xfrm>
            <a:prstGeom prst="rect">
              <a:avLst/>
            </a:prstGeom>
          </p:spPr>
          <p:txBody>
            <a:bodyPr anchor="ctr" rtlCol="false" tIns="48892" lIns="48892" bIns="48892" rIns="48892"/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5814315" y="2068188"/>
            <a:ext cx="3547265" cy="1446848"/>
            <a:chOff x="0" y="0"/>
            <a:chExt cx="4729687" cy="1929131"/>
          </a:xfrm>
        </p:grpSpPr>
        <p:sp>
          <p:nvSpPr>
            <p:cNvPr name="AutoShape 35" id="35"/>
            <p:cNvSpPr/>
            <p:nvPr/>
          </p:nvSpPr>
          <p:spPr>
            <a:xfrm>
              <a:off x="978190" y="941527"/>
              <a:ext cx="452996" cy="0"/>
            </a:xfrm>
            <a:prstGeom prst="line">
              <a:avLst/>
            </a:prstGeom>
            <a:ln cap="flat" w="18104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36" id="36"/>
            <p:cNvSpPr txBox="true"/>
            <p:nvPr/>
          </p:nvSpPr>
          <p:spPr>
            <a:xfrm rot="0">
              <a:off x="740966" y="743801"/>
              <a:ext cx="210068" cy="3849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480"/>
                </a:lnSpc>
                <a:spcBef>
                  <a:spcPct val="0"/>
                </a:spcBef>
              </a:pPr>
              <a:r>
                <a:rPr lang="en-US" b="true" sz="1771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C</a:t>
              </a:r>
            </a:p>
          </p:txBody>
        </p:sp>
        <p:sp>
          <p:nvSpPr>
            <p:cNvPr name="TextBox 37" id="37"/>
            <p:cNvSpPr txBox="true"/>
            <p:nvPr/>
          </p:nvSpPr>
          <p:spPr>
            <a:xfrm rot="0">
              <a:off x="0" y="743801"/>
              <a:ext cx="236263" cy="3849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480"/>
                </a:lnSpc>
                <a:spcBef>
                  <a:spcPct val="0"/>
                </a:spcBef>
              </a:pPr>
              <a:r>
                <a:rPr lang="en-US" b="true" sz="1771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H</a:t>
              </a:r>
            </a:p>
          </p:txBody>
        </p:sp>
        <p:sp>
          <p:nvSpPr>
            <p:cNvPr name="AutoShape 38" id="38"/>
            <p:cNvSpPr/>
            <p:nvPr/>
          </p:nvSpPr>
          <p:spPr>
            <a:xfrm>
              <a:off x="262116" y="941527"/>
              <a:ext cx="452996" cy="0"/>
            </a:xfrm>
            <a:prstGeom prst="line">
              <a:avLst/>
            </a:prstGeom>
            <a:ln cap="flat" w="18104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39" id="39"/>
            <p:cNvSpPr txBox="true"/>
            <p:nvPr/>
          </p:nvSpPr>
          <p:spPr>
            <a:xfrm rot="0">
              <a:off x="1475128" y="725273"/>
              <a:ext cx="210068" cy="3849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480"/>
                </a:lnSpc>
                <a:spcBef>
                  <a:spcPct val="0"/>
                </a:spcBef>
              </a:pPr>
              <a:r>
                <a:rPr lang="en-US" b="true" sz="1771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C</a:t>
              </a:r>
            </a:p>
          </p:txBody>
        </p:sp>
        <p:sp>
          <p:nvSpPr>
            <p:cNvPr name="AutoShape 40" id="40"/>
            <p:cNvSpPr/>
            <p:nvPr/>
          </p:nvSpPr>
          <p:spPr>
            <a:xfrm>
              <a:off x="1745384" y="941527"/>
              <a:ext cx="452996" cy="0"/>
            </a:xfrm>
            <a:prstGeom prst="line">
              <a:avLst/>
            </a:prstGeom>
            <a:ln cap="flat" w="18104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41" id="41"/>
            <p:cNvSpPr/>
            <p:nvPr/>
          </p:nvSpPr>
          <p:spPr>
            <a:xfrm>
              <a:off x="2512548" y="941527"/>
              <a:ext cx="452996" cy="0"/>
            </a:xfrm>
            <a:prstGeom prst="line">
              <a:avLst/>
            </a:prstGeom>
            <a:ln cap="flat" w="18104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42" id="42"/>
            <p:cNvSpPr txBox="true"/>
            <p:nvPr/>
          </p:nvSpPr>
          <p:spPr>
            <a:xfrm rot="0">
              <a:off x="3006280" y="725697"/>
              <a:ext cx="236263" cy="3849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480"/>
                </a:lnSpc>
                <a:spcBef>
                  <a:spcPct val="0"/>
                </a:spcBef>
              </a:pPr>
              <a:r>
                <a:rPr lang="en-US" b="true" sz="1771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C</a:t>
              </a:r>
            </a:p>
          </p:txBody>
        </p:sp>
        <p:sp>
          <p:nvSpPr>
            <p:cNvPr name="AutoShape 43" id="43"/>
            <p:cNvSpPr/>
            <p:nvPr/>
          </p:nvSpPr>
          <p:spPr>
            <a:xfrm flipV="true">
              <a:off x="856372" y="356405"/>
              <a:ext cx="0" cy="452996"/>
            </a:xfrm>
            <a:prstGeom prst="line">
              <a:avLst/>
            </a:prstGeom>
            <a:ln cap="flat" w="18104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44" id="44"/>
            <p:cNvSpPr/>
            <p:nvPr/>
          </p:nvSpPr>
          <p:spPr>
            <a:xfrm flipV="true">
              <a:off x="865424" y="1119729"/>
              <a:ext cx="0" cy="452996"/>
            </a:xfrm>
            <a:prstGeom prst="line">
              <a:avLst/>
            </a:prstGeom>
            <a:ln cap="flat" w="18104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45" id="45"/>
            <p:cNvSpPr txBox="true"/>
            <p:nvPr/>
          </p:nvSpPr>
          <p:spPr>
            <a:xfrm rot="0">
              <a:off x="747292" y="-28575"/>
              <a:ext cx="236263" cy="3849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480"/>
                </a:lnSpc>
                <a:spcBef>
                  <a:spcPct val="0"/>
                </a:spcBef>
              </a:pPr>
              <a:r>
                <a:rPr lang="en-US" b="true" sz="1771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H</a:t>
              </a:r>
            </a:p>
          </p:txBody>
        </p:sp>
        <p:sp>
          <p:nvSpPr>
            <p:cNvPr name="TextBox 46" id="46"/>
            <p:cNvSpPr txBox="true"/>
            <p:nvPr/>
          </p:nvSpPr>
          <p:spPr>
            <a:xfrm rot="0">
              <a:off x="747292" y="1544151"/>
              <a:ext cx="236263" cy="3849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480"/>
                </a:lnSpc>
                <a:spcBef>
                  <a:spcPct val="0"/>
                </a:spcBef>
              </a:pPr>
              <a:r>
                <a:rPr lang="en-US" b="true" sz="1771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H</a:t>
              </a:r>
            </a:p>
          </p:txBody>
        </p:sp>
        <p:sp>
          <p:nvSpPr>
            <p:cNvPr name="AutoShape 47" id="47"/>
            <p:cNvSpPr/>
            <p:nvPr/>
          </p:nvSpPr>
          <p:spPr>
            <a:xfrm flipV="true">
              <a:off x="1545480" y="356405"/>
              <a:ext cx="0" cy="452996"/>
            </a:xfrm>
            <a:prstGeom prst="line">
              <a:avLst/>
            </a:prstGeom>
            <a:ln cap="flat" w="18104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48" id="48"/>
            <p:cNvSpPr/>
            <p:nvPr/>
          </p:nvSpPr>
          <p:spPr>
            <a:xfrm flipV="true">
              <a:off x="1589214" y="356405"/>
              <a:ext cx="0" cy="452996"/>
            </a:xfrm>
            <a:prstGeom prst="line">
              <a:avLst/>
            </a:prstGeom>
            <a:ln cap="flat" w="18104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49" id="49"/>
            <p:cNvSpPr txBox="true"/>
            <p:nvPr/>
          </p:nvSpPr>
          <p:spPr>
            <a:xfrm rot="0">
              <a:off x="1463502" y="-28575"/>
              <a:ext cx="233321" cy="3849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480"/>
                </a:lnSpc>
                <a:spcBef>
                  <a:spcPct val="0"/>
                </a:spcBef>
              </a:pPr>
              <a:r>
                <a:rPr lang="en-US" b="true" sz="1771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O</a:t>
              </a:r>
            </a:p>
          </p:txBody>
        </p:sp>
        <p:sp>
          <p:nvSpPr>
            <p:cNvPr name="TextBox 50" id="50"/>
            <p:cNvSpPr txBox="true"/>
            <p:nvPr/>
          </p:nvSpPr>
          <p:spPr>
            <a:xfrm rot="5400000">
              <a:off x="1751676" y="-10957"/>
              <a:ext cx="165542" cy="3849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480"/>
                </a:lnSpc>
                <a:spcBef>
                  <a:spcPct val="0"/>
                </a:spcBef>
              </a:pPr>
              <a:r>
                <a:rPr lang="en-US" b="true" sz="1771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..</a:t>
              </a:r>
            </a:p>
          </p:txBody>
        </p:sp>
        <p:sp>
          <p:nvSpPr>
            <p:cNvPr name="TextBox 51" id="51"/>
            <p:cNvSpPr txBox="true"/>
            <p:nvPr/>
          </p:nvSpPr>
          <p:spPr>
            <a:xfrm rot="5464525">
              <a:off x="1448612" y="-14019"/>
              <a:ext cx="165542" cy="3849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480"/>
                </a:lnSpc>
                <a:spcBef>
                  <a:spcPct val="0"/>
                </a:spcBef>
              </a:pPr>
              <a:r>
                <a:rPr lang="en-US" b="true" sz="1771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..</a:t>
              </a:r>
            </a:p>
          </p:txBody>
        </p:sp>
        <p:sp>
          <p:nvSpPr>
            <p:cNvPr name="TextBox 52" id="52"/>
            <p:cNvSpPr txBox="true"/>
            <p:nvPr/>
          </p:nvSpPr>
          <p:spPr>
            <a:xfrm rot="0">
              <a:off x="2238804" y="725273"/>
              <a:ext cx="233321" cy="3849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480"/>
                </a:lnSpc>
                <a:spcBef>
                  <a:spcPct val="0"/>
                </a:spcBef>
              </a:pPr>
              <a:r>
                <a:rPr lang="en-US" b="true" sz="1771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O</a:t>
              </a:r>
            </a:p>
          </p:txBody>
        </p:sp>
        <p:sp>
          <p:nvSpPr>
            <p:cNvPr name="TextBox 53" id="53"/>
            <p:cNvSpPr txBox="true"/>
            <p:nvPr/>
          </p:nvSpPr>
          <p:spPr>
            <a:xfrm rot="0">
              <a:off x="2268648" y="459538"/>
              <a:ext cx="165542" cy="3849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480"/>
                </a:lnSpc>
                <a:spcBef>
                  <a:spcPct val="0"/>
                </a:spcBef>
              </a:pPr>
              <a:r>
                <a:rPr lang="en-US" b="true" sz="1771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..</a:t>
              </a:r>
            </a:p>
          </p:txBody>
        </p:sp>
        <p:sp>
          <p:nvSpPr>
            <p:cNvPr name="TextBox 54" id="54"/>
            <p:cNvSpPr txBox="true"/>
            <p:nvPr/>
          </p:nvSpPr>
          <p:spPr>
            <a:xfrm rot="-10800000">
              <a:off x="2279153" y="1056640"/>
              <a:ext cx="165542" cy="3849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480"/>
                </a:lnSpc>
                <a:spcBef>
                  <a:spcPct val="0"/>
                </a:spcBef>
              </a:pPr>
              <a:r>
                <a:rPr lang="en-US" b="true" sz="1771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..</a:t>
              </a:r>
            </a:p>
          </p:txBody>
        </p:sp>
        <p:sp>
          <p:nvSpPr>
            <p:cNvPr name="AutoShape 55" id="55"/>
            <p:cNvSpPr/>
            <p:nvPr/>
          </p:nvSpPr>
          <p:spPr>
            <a:xfrm>
              <a:off x="3269699" y="932475"/>
              <a:ext cx="452996" cy="0"/>
            </a:xfrm>
            <a:prstGeom prst="line">
              <a:avLst/>
            </a:prstGeom>
            <a:ln cap="flat" w="18104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56" id="56"/>
            <p:cNvSpPr/>
            <p:nvPr/>
          </p:nvSpPr>
          <p:spPr>
            <a:xfrm>
              <a:off x="4013271" y="932475"/>
              <a:ext cx="452996" cy="0"/>
            </a:xfrm>
            <a:prstGeom prst="line">
              <a:avLst/>
            </a:prstGeom>
            <a:ln cap="flat" w="18104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57" id="57"/>
            <p:cNvSpPr txBox="true"/>
            <p:nvPr/>
          </p:nvSpPr>
          <p:spPr>
            <a:xfrm rot="0">
              <a:off x="3749852" y="725273"/>
              <a:ext cx="236263" cy="3849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480"/>
                </a:lnSpc>
                <a:spcBef>
                  <a:spcPct val="0"/>
                </a:spcBef>
              </a:pPr>
              <a:r>
                <a:rPr lang="en-US" b="true" sz="1771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C</a:t>
              </a:r>
            </a:p>
          </p:txBody>
        </p:sp>
        <p:sp>
          <p:nvSpPr>
            <p:cNvPr name="TextBox 58" id="58"/>
            <p:cNvSpPr txBox="true"/>
            <p:nvPr/>
          </p:nvSpPr>
          <p:spPr>
            <a:xfrm rot="0">
              <a:off x="4493424" y="724850"/>
              <a:ext cx="236263" cy="3849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480"/>
                </a:lnSpc>
                <a:spcBef>
                  <a:spcPct val="0"/>
                </a:spcBef>
              </a:pPr>
              <a:r>
                <a:rPr lang="en-US" b="true" sz="1771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H</a:t>
              </a:r>
            </a:p>
          </p:txBody>
        </p:sp>
        <p:sp>
          <p:nvSpPr>
            <p:cNvPr name="AutoShape 59" id="59"/>
            <p:cNvSpPr/>
            <p:nvPr/>
          </p:nvSpPr>
          <p:spPr>
            <a:xfrm flipV="true">
              <a:off x="3133463" y="356405"/>
              <a:ext cx="0" cy="452996"/>
            </a:xfrm>
            <a:prstGeom prst="line">
              <a:avLst/>
            </a:prstGeom>
            <a:ln cap="flat" w="18104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60" id="60"/>
            <p:cNvSpPr/>
            <p:nvPr/>
          </p:nvSpPr>
          <p:spPr>
            <a:xfrm flipV="true">
              <a:off x="3867983" y="356405"/>
              <a:ext cx="0" cy="452996"/>
            </a:xfrm>
            <a:prstGeom prst="line">
              <a:avLst/>
            </a:prstGeom>
            <a:ln cap="flat" w="18104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61" id="61"/>
            <p:cNvSpPr/>
            <p:nvPr/>
          </p:nvSpPr>
          <p:spPr>
            <a:xfrm flipV="true">
              <a:off x="3142515" y="1110253"/>
              <a:ext cx="0" cy="452996"/>
            </a:xfrm>
            <a:prstGeom prst="line">
              <a:avLst/>
            </a:prstGeom>
            <a:ln cap="flat" w="18104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62" id="62"/>
            <p:cNvSpPr/>
            <p:nvPr/>
          </p:nvSpPr>
          <p:spPr>
            <a:xfrm flipV="true">
              <a:off x="3877035" y="1110677"/>
              <a:ext cx="0" cy="452996"/>
            </a:xfrm>
            <a:prstGeom prst="line">
              <a:avLst/>
            </a:prstGeom>
            <a:ln cap="flat" w="18104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63" id="63"/>
            <p:cNvSpPr txBox="true"/>
            <p:nvPr/>
          </p:nvSpPr>
          <p:spPr>
            <a:xfrm rot="0">
              <a:off x="3033436" y="1534675"/>
              <a:ext cx="236263" cy="3849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480"/>
                </a:lnSpc>
                <a:spcBef>
                  <a:spcPct val="0"/>
                </a:spcBef>
              </a:pPr>
              <a:r>
                <a:rPr lang="en-US" b="true" sz="1771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H</a:t>
              </a:r>
            </a:p>
          </p:txBody>
        </p:sp>
        <p:sp>
          <p:nvSpPr>
            <p:cNvPr name="TextBox 64" id="64"/>
            <p:cNvSpPr txBox="true"/>
            <p:nvPr/>
          </p:nvSpPr>
          <p:spPr>
            <a:xfrm rot="0">
              <a:off x="3777008" y="1534675"/>
              <a:ext cx="236263" cy="3849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480"/>
                </a:lnSpc>
                <a:spcBef>
                  <a:spcPct val="0"/>
                </a:spcBef>
              </a:pPr>
              <a:r>
                <a:rPr lang="en-US" b="true" sz="1771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H</a:t>
              </a:r>
            </a:p>
          </p:txBody>
        </p:sp>
        <p:sp>
          <p:nvSpPr>
            <p:cNvPr name="TextBox 65" id="65"/>
            <p:cNvSpPr txBox="true"/>
            <p:nvPr/>
          </p:nvSpPr>
          <p:spPr>
            <a:xfrm rot="0">
              <a:off x="3015332" y="-28575"/>
              <a:ext cx="236263" cy="3849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480"/>
                </a:lnSpc>
                <a:spcBef>
                  <a:spcPct val="0"/>
                </a:spcBef>
              </a:pPr>
              <a:r>
                <a:rPr lang="en-US" b="true" sz="1771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H</a:t>
              </a:r>
            </a:p>
          </p:txBody>
        </p:sp>
        <p:sp>
          <p:nvSpPr>
            <p:cNvPr name="TextBox 66" id="66"/>
            <p:cNvSpPr txBox="true"/>
            <p:nvPr/>
          </p:nvSpPr>
          <p:spPr>
            <a:xfrm rot="0">
              <a:off x="3749852" y="-25245"/>
              <a:ext cx="236263" cy="3849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480"/>
                </a:lnSpc>
                <a:spcBef>
                  <a:spcPct val="0"/>
                </a:spcBef>
              </a:pPr>
              <a:r>
                <a:rPr lang="en-US" b="true" sz="1771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H</a:t>
              </a:r>
            </a:p>
          </p:txBody>
        </p:sp>
      </p:grpSp>
      <p:sp>
        <p:nvSpPr>
          <p:cNvPr name="Freeform 67" id="67"/>
          <p:cNvSpPr/>
          <p:nvPr/>
        </p:nvSpPr>
        <p:spPr>
          <a:xfrm flipH="false" flipV="false" rot="0">
            <a:off x="6041179" y="4875780"/>
            <a:ext cx="3093536" cy="1718631"/>
          </a:xfrm>
          <a:custGeom>
            <a:avLst/>
            <a:gdLst/>
            <a:ahLst/>
            <a:cxnLst/>
            <a:rect r="r" b="b" t="t" l="l"/>
            <a:pathLst>
              <a:path h="1718631" w="3093536">
                <a:moveTo>
                  <a:pt x="0" y="0"/>
                </a:moveTo>
                <a:lnTo>
                  <a:pt x="3093536" y="0"/>
                </a:lnTo>
                <a:lnTo>
                  <a:pt x="3093536" y="1718631"/>
                </a:lnTo>
                <a:lnTo>
                  <a:pt x="0" y="171863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8" id="68"/>
          <p:cNvSpPr txBox="true"/>
          <p:nvPr/>
        </p:nvSpPr>
        <p:spPr>
          <a:xfrm rot="0">
            <a:off x="1305699" y="362256"/>
            <a:ext cx="8323278" cy="5355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81"/>
              </a:lnSpc>
              <a:spcBef>
                <a:spcPct val="0"/>
              </a:spcBef>
            </a:pPr>
            <a:r>
              <a:rPr lang="en-US" sz="2915">
                <a:solidFill>
                  <a:srgbClr val="FFFFFF"/>
                </a:solidFill>
                <a:latin typeface="Horizon"/>
                <a:ea typeface="Horizon"/>
                <a:cs typeface="Horizon"/>
                <a:sym typeface="Horizon"/>
              </a:rPr>
              <a:t>Card 05 - ETHYL ACETATE</a:t>
            </a:r>
          </a:p>
        </p:txBody>
      </p:sp>
      <p:grpSp>
        <p:nvGrpSpPr>
          <p:cNvPr name="Group 69" id="69"/>
          <p:cNvGrpSpPr/>
          <p:nvPr/>
        </p:nvGrpSpPr>
        <p:grpSpPr>
          <a:xfrm rot="0">
            <a:off x="860846" y="2068188"/>
            <a:ext cx="4320392" cy="1223521"/>
            <a:chOff x="0" y="0"/>
            <a:chExt cx="5760523" cy="1631362"/>
          </a:xfrm>
        </p:grpSpPr>
        <p:sp>
          <p:nvSpPr>
            <p:cNvPr name="TextBox 70" id="70"/>
            <p:cNvSpPr txBox="true"/>
            <p:nvPr/>
          </p:nvSpPr>
          <p:spPr>
            <a:xfrm rot="0">
              <a:off x="0" y="-161925"/>
              <a:ext cx="5760523" cy="179328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1292"/>
                </a:lnSpc>
                <a:spcBef>
                  <a:spcPct val="0"/>
                </a:spcBef>
              </a:pPr>
              <a:r>
                <a:rPr lang="en-US" sz="8065">
                  <a:solidFill>
                    <a:srgbClr val="000000"/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C H O</a:t>
              </a:r>
            </a:p>
          </p:txBody>
        </p:sp>
        <p:sp>
          <p:nvSpPr>
            <p:cNvPr name="TextBox 71" id="71"/>
            <p:cNvSpPr txBox="true"/>
            <p:nvPr/>
          </p:nvSpPr>
          <p:spPr>
            <a:xfrm rot="0">
              <a:off x="1650358" y="469844"/>
              <a:ext cx="788120" cy="10632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6634"/>
                </a:lnSpc>
                <a:spcBef>
                  <a:spcPct val="0"/>
                </a:spcBef>
              </a:pPr>
              <a:r>
                <a:rPr lang="en-US" sz="4739">
                  <a:solidFill>
                    <a:srgbClr val="000000"/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4</a:t>
              </a:r>
            </a:p>
          </p:txBody>
        </p:sp>
        <p:sp>
          <p:nvSpPr>
            <p:cNvPr name="TextBox 72" id="72"/>
            <p:cNvSpPr txBox="true"/>
            <p:nvPr/>
          </p:nvSpPr>
          <p:spPr>
            <a:xfrm rot="0">
              <a:off x="3251264" y="469844"/>
              <a:ext cx="788120" cy="10632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6634"/>
                </a:lnSpc>
                <a:spcBef>
                  <a:spcPct val="0"/>
                </a:spcBef>
              </a:pPr>
              <a:r>
                <a:rPr lang="en-US" sz="4739">
                  <a:solidFill>
                    <a:srgbClr val="000000"/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8</a:t>
              </a:r>
            </a:p>
          </p:txBody>
        </p:sp>
        <p:sp>
          <p:nvSpPr>
            <p:cNvPr name="TextBox 73" id="73"/>
            <p:cNvSpPr txBox="true"/>
            <p:nvPr/>
          </p:nvSpPr>
          <p:spPr>
            <a:xfrm rot="0">
              <a:off x="4850461" y="437805"/>
              <a:ext cx="788120" cy="10632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6634"/>
                </a:lnSpc>
                <a:spcBef>
                  <a:spcPct val="0"/>
                </a:spcBef>
              </a:pPr>
              <a:r>
                <a:rPr lang="en-US" sz="4739">
                  <a:solidFill>
                    <a:srgbClr val="000000"/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2</a:t>
              </a:r>
            </a:p>
          </p:txBody>
        </p:sp>
      </p:grpSp>
      <p:grpSp>
        <p:nvGrpSpPr>
          <p:cNvPr name="Group 74" id="74"/>
          <p:cNvGrpSpPr/>
          <p:nvPr/>
        </p:nvGrpSpPr>
        <p:grpSpPr>
          <a:xfrm rot="0">
            <a:off x="860846" y="5150192"/>
            <a:ext cx="4405814" cy="869590"/>
            <a:chOff x="0" y="0"/>
            <a:chExt cx="5874419" cy="1159454"/>
          </a:xfrm>
        </p:grpSpPr>
        <p:sp>
          <p:nvSpPr>
            <p:cNvPr name="TextBox 75" id="75"/>
            <p:cNvSpPr txBox="true"/>
            <p:nvPr/>
          </p:nvSpPr>
          <p:spPr>
            <a:xfrm rot="0">
              <a:off x="0" y="-228600"/>
              <a:ext cx="5874419" cy="138805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8006"/>
                </a:lnSpc>
                <a:spcBef>
                  <a:spcPct val="0"/>
                </a:spcBef>
              </a:pPr>
              <a:r>
                <a:rPr lang="en-US" sz="5719">
                  <a:solidFill>
                    <a:srgbClr val="000000"/>
                  </a:solidFill>
                  <a:latin typeface="Impact"/>
                  <a:ea typeface="Impact"/>
                  <a:cs typeface="Impact"/>
                  <a:sym typeface="Impact"/>
                </a:rPr>
                <a:t>CH COOCH CH</a:t>
              </a:r>
            </a:p>
          </p:txBody>
        </p:sp>
        <p:sp>
          <p:nvSpPr>
            <p:cNvPr name="TextBox 76" id="76"/>
            <p:cNvSpPr txBox="true"/>
            <p:nvPr/>
          </p:nvSpPr>
          <p:spPr>
            <a:xfrm rot="0">
              <a:off x="1403228" y="339233"/>
              <a:ext cx="558806" cy="75613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393"/>
                </a:lnSpc>
                <a:spcBef>
                  <a:spcPct val="0"/>
                </a:spcBef>
              </a:pPr>
              <a:r>
                <a:rPr lang="en-US" sz="3138">
                  <a:solidFill>
                    <a:srgbClr val="000000"/>
                  </a:solidFill>
                  <a:latin typeface="Impact"/>
                  <a:ea typeface="Impact"/>
                  <a:cs typeface="Impact"/>
                  <a:sym typeface="Impact"/>
                </a:rPr>
                <a:t>3</a:t>
              </a:r>
            </a:p>
          </p:txBody>
        </p:sp>
        <p:sp>
          <p:nvSpPr>
            <p:cNvPr name="TextBox 77" id="77"/>
            <p:cNvSpPr txBox="true"/>
            <p:nvPr/>
          </p:nvSpPr>
          <p:spPr>
            <a:xfrm rot="0">
              <a:off x="3918434" y="339233"/>
              <a:ext cx="558806" cy="75613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393"/>
                </a:lnSpc>
                <a:spcBef>
                  <a:spcPct val="0"/>
                </a:spcBef>
              </a:pPr>
              <a:r>
                <a:rPr lang="en-US" sz="3138">
                  <a:solidFill>
                    <a:srgbClr val="000000"/>
                  </a:solidFill>
                  <a:latin typeface="Impact"/>
                  <a:ea typeface="Impact"/>
                  <a:cs typeface="Impact"/>
                  <a:sym typeface="Impact"/>
                </a:rPr>
                <a:t>2</a:t>
              </a:r>
            </a:p>
          </p:txBody>
        </p:sp>
        <p:sp>
          <p:nvSpPr>
            <p:cNvPr name="TextBox 78" id="78"/>
            <p:cNvSpPr txBox="true"/>
            <p:nvPr/>
          </p:nvSpPr>
          <p:spPr>
            <a:xfrm rot="0">
              <a:off x="5091637" y="339233"/>
              <a:ext cx="558806" cy="75613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393"/>
                </a:lnSpc>
                <a:spcBef>
                  <a:spcPct val="0"/>
                </a:spcBef>
              </a:pPr>
              <a:r>
                <a:rPr lang="en-US" sz="3138">
                  <a:solidFill>
                    <a:srgbClr val="000000"/>
                  </a:solidFill>
                  <a:latin typeface="Impact"/>
                  <a:ea typeface="Impact"/>
                  <a:cs typeface="Impact"/>
                  <a:sym typeface="Impact"/>
                </a:rPr>
                <a:t>3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3E4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63023" y="1414346"/>
            <a:ext cx="8565953" cy="5366374"/>
            <a:chOff x="0" y="0"/>
            <a:chExt cx="11421271" cy="7155165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232350"/>
              <a:ext cx="5556832" cy="3078532"/>
              <a:chOff x="0" y="0"/>
              <a:chExt cx="635000" cy="351795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635000" cy="351795"/>
              </a:xfrm>
              <a:custGeom>
                <a:avLst/>
                <a:gdLst/>
                <a:ahLst/>
                <a:cxnLst/>
                <a:rect r="r" b="b" t="t" l="l"/>
                <a:pathLst>
                  <a:path h="351795" w="635000">
                    <a:moveTo>
                      <a:pt x="42087" y="0"/>
                    </a:moveTo>
                    <a:lnTo>
                      <a:pt x="592913" y="0"/>
                    </a:lnTo>
                    <a:cubicBezTo>
                      <a:pt x="616157" y="0"/>
                      <a:pt x="635000" y="18843"/>
                      <a:pt x="635000" y="42087"/>
                    </a:cubicBezTo>
                    <a:lnTo>
                      <a:pt x="635000" y="309708"/>
                    </a:lnTo>
                    <a:cubicBezTo>
                      <a:pt x="635000" y="332952"/>
                      <a:pt x="616157" y="351795"/>
                      <a:pt x="592913" y="351795"/>
                    </a:cubicBezTo>
                    <a:lnTo>
                      <a:pt x="42087" y="351795"/>
                    </a:lnTo>
                    <a:cubicBezTo>
                      <a:pt x="18843" y="351795"/>
                      <a:pt x="0" y="332952"/>
                      <a:pt x="0" y="309708"/>
                    </a:cubicBezTo>
                    <a:lnTo>
                      <a:pt x="0" y="42087"/>
                    </a:lnTo>
                    <a:cubicBezTo>
                      <a:pt x="0" y="18843"/>
                      <a:pt x="18843" y="0"/>
                      <a:pt x="4208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rnd">
                <a:noFill/>
                <a:prstDash val="sysDot"/>
                <a:round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38100"/>
                <a:ext cx="635000" cy="38989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820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849109" y="0"/>
              <a:ext cx="3799999" cy="495222"/>
              <a:chOff x="0" y="0"/>
              <a:chExt cx="1061224" cy="138301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1061224" cy="138301"/>
              </a:xfrm>
              <a:custGeom>
                <a:avLst/>
                <a:gdLst/>
                <a:ahLst/>
                <a:cxnLst/>
                <a:rect r="r" b="b" t="t" l="l"/>
                <a:pathLst>
                  <a:path h="138301" w="1061224">
                    <a:moveTo>
                      <a:pt x="69150" y="0"/>
                    </a:moveTo>
                    <a:lnTo>
                      <a:pt x="992073" y="0"/>
                    </a:lnTo>
                    <a:cubicBezTo>
                      <a:pt x="1010413" y="0"/>
                      <a:pt x="1028002" y="7285"/>
                      <a:pt x="1040970" y="20254"/>
                    </a:cubicBezTo>
                    <a:cubicBezTo>
                      <a:pt x="1053938" y="33222"/>
                      <a:pt x="1061224" y="50810"/>
                      <a:pt x="1061224" y="69150"/>
                    </a:cubicBezTo>
                    <a:lnTo>
                      <a:pt x="1061224" y="69150"/>
                    </a:lnTo>
                    <a:cubicBezTo>
                      <a:pt x="1061224" y="87490"/>
                      <a:pt x="1053938" y="105079"/>
                      <a:pt x="1040970" y="118047"/>
                    </a:cubicBezTo>
                    <a:cubicBezTo>
                      <a:pt x="1028002" y="131015"/>
                      <a:pt x="1010413" y="138301"/>
                      <a:pt x="992073" y="138301"/>
                    </a:cubicBezTo>
                    <a:lnTo>
                      <a:pt x="69150" y="138301"/>
                    </a:lnTo>
                    <a:cubicBezTo>
                      <a:pt x="50810" y="138301"/>
                      <a:pt x="33222" y="131015"/>
                      <a:pt x="20254" y="118047"/>
                    </a:cubicBezTo>
                    <a:cubicBezTo>
                      <a:pt x="7285" y="105079"/>
                      <a:pt x="0" y="87490"/>
                      <a:pt x="0" y="69150"/>
                    </a:cubicBezTo>
                    <a:lnTo>
                      <a:pt x="0" y="69150"/>
                    </a:lnTo>
                    <a:cubicBezTo>
                      <a:pt x="0" y="50810"/>
                      <a:pt x="7285" y="33222"/>
                      <a:pt x="20254" y="20254"/>
                    </a:cubicBezTo>
                    <a:cubicBezTo>
                      <a:pt x="33222" y="7285"/>
                      <a:pt x="50810" y="0"/>
                      <a:pt x="69150" y="0"/>
                    </a:cubicBezTo>
                    <a:close/>
                  </a:path>
                </a:pathLst>
              </a:custGeom>
              <a:solidFill>
                <a:srgbClr val="004AAD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38100"/>
                <a:ext cx="1061224" cy="176401"/>
              </a:xfrm>
              <a:prstGeom prst="rect">
                <a:avLst/>
              </a:prstGeom>
            </p:spPr>
            <p:txBody>
              <a:bodyPr anchor="ctr" rtlCol="false" tIns="48892" lIns="48892" bIns="48892" rIns="48892"/>
              <a:lstStyle/>
              <a:p>
                <a:pPr algn="ctr">
                  <a:lnSpc>
                    <a:spcPts val="1820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9" id="9"/>
            <p:cNvSpPr txBox="true"/>
            <p:nvPr/>
          </p:nvSpPr>
          <p:spPr>
            <a:xfrm rot="0">
              <a:off x="994956" y="8931"/>
              <a:ext cx="3436342" cy="42994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701"/>
                </a:lnSpc>
                <a:spcBef>
                  <a:spcPct val="0"/>
                </a:spcBef>
              </a:pPr>
              <a:r>
                <a:rPr lang="en-US" sz="1929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Molecular Formula</a:t>
              </a:r>
            </a:p>
          </p:txBody>
        </p:sp>
        <p:grpSp>
          <p:nvGrpSpPr>
            <p:cNvPr name="Group 10" id="10"/>
            <p:cNvGrpSpPr/>
            <p:nvPr/>
          </p:nvGrpSpPr>
          <p:grpSpPr>
            <a:xfrm rot="0">
              <a:off x="5864439" y="232350"/>
              <a:ext cx="5556832" cy="3078532"/>
              <a:chOff x="0" y="0"/>
              <a:chExt cx="635000" cy="351795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635000" cy="351795"/>
              </a:xfrm>
              <a:custGeom>
                <a:avLst/>
                <a:gdLst/>
                <a:ahLst/>
                <a:cxnLst/>
                <a:rect r="r" b="b" t="t" l="l"/>
                <a:pathLst>
                  <a:path h="351795" w="635000">
                    <a:moveTo>
                      <a:pt x="42087" y="0"/>
                    </a:moveTo>
                    <a:lnTo>
                      <a:pt x="592913" y="0"/>
                    </a:lnTo>
                    <a:cubicBezTo>
                      <a:pt x="616157" y="0"/>
                      <a:pt x="635000" y="18843"/>
                      <a:pt x="635000" y="42087"/>
                    </a:cubicBezTo>
                    <a:lnTo>
                      <a:pt x="635000" y="309708"/>
                    </a:lnTo>
                    <a:cubicBezTo>
                      <a:pt x="635000" y="332952"/>
                      <a:pt x="616157" y="351795"/>
                      <a:pt x="592913" y="351795"/>
                    </a:cubicBezTo>
                    <a:lnTo>
                      <a:pt x="42087" y="351795"/>
                    </a:lnTo>
                    <a:cubicBezTo>
                      <a:pt x="18843" y="351795"/>
                      <a:pt x="0" y="332952"/>
                      <a:pt x="0" y="309708"/>
                    </a:cubicBezTo>
                    <a:lnTo>
                      <a:pt x="0" y="42087"/>
                    </a:lnTo>
                    <a:cubicBezTo>
                      <a:pt x="0" y="18843"/>
                      <a:pt x="18843" y="0"/>
                      <a:pt x="4208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rnd">
                <a:noFill/>
                <a:prstDash val="sysDot"/>
                <a:round/>
              </a:ln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28575"/>
                <a:ext cx="635000" cy="38037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60"/>
                  </a:lnSpc>
                </a:pPr>
              </a:p>
            </p:txBody>
          </p:sp>
        </p:grpSp>
        <p:grpSp>
          <p:nvGrpSpPr>
            <p:cNvPr name="Group 13" id="13"/>
            <p:cNvGrpSpPr/>
            <p:nvPr/>
          </p:nvGrpSpPr>
          <p:grpSpPr>
            <a:xfrm rot="0">
              <a:off x="6713548" y="0"/>
              <a:ext cx="3799999" cy="495222"/>
              <a:chOff x="0" y="0"/>
              <a:chExt cx="1061224" cy="138301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1061224" cy="138301"/>
              </a:xfrm>
              <a:custGeom>
                <a:avLst/>
                <a:gdLst/>
                <a:ahLst/>
                <a:cxnLst/>
                <a:rect r="r" b="b" t="t" l="l"/>
                <a:pathLst>
                  <a:path h="138301" w="1061224">
                    <a:moveTo>
                      <a:pt x="69150" y="0"/>
                    </a:moveTo>
                    <a:lnTo>
                      <a:pt x="992073" y="0"/>
                    </a:lnTo>
                    <a:cubicBezTo>
                      <a:pt x="1010413" y="0"/>
                      <a:pt x="1028002" y="7285"/>
                      <a:pt x="1040970" y="20254"/>
                    </a:cubicBezTo>
                    <a:cubicBezTo>
                      <a:pt x="1053938" y="33222"/>
                      <a:pt x="1061224" y="50810"/>
                      <a:pt x="1061224" y="69150"/>
                    </a:cubicBezTo>
                    <a:lnTo>
                      <a:pt x="1061224" y="69150"/>
                    </a:lnTo>
                    <a:cubicBezTo>
                      <a:pt x="1061224" y="87490"/>
                      <a:pt x="1053938" y="105079"/>
                      <a:pt x="1040970" y="118047"/>
                    </a:cubicBezTo>
                    <a:cubicBezTo>
                      <a:pt x="1028002" y="131015"/>
                      <a:pt x="1010413" y="138301"/>
                      <a:pt x="992073" y="138301"/>
                    </a:cubicBezTo>
                    <a:lnTo>
                      <a:pt x="69150" y="138301"/>
                    </a:lnTo>
                    <a:cubicBezTo>
                      <a:pt x="50810" y="138301"/>
                      <a:pt x="33222" y="131015"/>
                      <a:pt x="20254" y="118047"/>
                    </a:cubicBezTo>
                    <a:cubicBezTo>
                      <a:pt x="7285" y="105079"/>
                      <a:pt x="0" y="87490"/>
                      <a:pt x="0" y="69150"/>
                    </a:cubicBezTo>
                    <a:lnTo>
                      <a:pt x="0" y="69150"/>
                    </a:lnTo>
                    <a:cubicBezTo>
                      <a:pt x="0" y="50810"/>
                      <a:pt x="7285" y="33222"/>
                      <a:pt x="20254" y="20254"/>
                    </a:cubicBezTo>
                    <a:cubicBezTo>
                      <a:pt x="33222" y="7285"/>
                      <a:pt x="50810" y="0"/>
                      <a:pt x="69150" y="0"/>
                    </a:cubicBezTo>
                    <a:close/>
                  </a:path>
                </a:pathLst>
              </a:custGeom>
              <a:solidFill>
                <a:srgbClr val="004AAD"/>
              </a:solidFill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0" y="-28575"/>
                <a:ext cx="1061224" cy="166876"/>
              </a:xfrm>
              <a:prstGeom prst="rect">
                <a:avLst/>
              </a:prstGeom>
            </p:spPr>
            <p:txBody>
              <a:bodyPr anchor="ctr" rtlCol="false" tIns="48892" lIns="48892" bIns="48892" rIns="48892"/>
              <a:lstStyle/>
              <a:p>
                <a:pPr algn="ctr">
                  <a:lnSpc>
                    <a:spcPts val="1960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16" id="16"/>
            <p:cNvSpPr txBox="true"/>
            <p:nvPr/>
          </p:nvSpPr>
          <p:spPr>
            <a:xfrm rot="0">
              <a:off x="6859395" y="8931"/>
              <a:ext cx="3436342" cy="42994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701"/>
                </a:lnSpc>
                <a:spcBef>
                  <a:spcPct val="0"/>
                </a:spcBef>
              </a:pPr>
              <a:r>
                <a:rPr lang="en-US" sz="1929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Lewis Structure</a:t>
              </a:r>
            </a:p>
          </p:txBody>
        </p:sp>
        <p:grpSp>
          <p:nvGrpSpPr>
            <p:cNvPr name="Group 17" id="17"/>
            <p:cNvGrpSpPr/>
            <p:nvPr/>
          </p:nvGrpSpPr>
          <p:grpSpPr>
            <a:xfrm rot="0">
              <a:off x="0" y="4076632"/>
              <a:ext cx="5556832" cy="3078532"/>
              <a:chOff x="0" y="0"/>
              <a:chExt cx="635000" cy="351795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635000" cy="351795"/>
              </a:xfrm>
              <a:custGeom>
                <a:avLst/>
                <a:gdLst/>
                <a:ahLst/>
                <a:cxnLst/>
                <a:rect r="r" b="b" t="t" l="l"/>
                <a:pathLst>
                  <a:path h="351795" w="635000">
                    <a:moveTo>
                      <a:pt x="42087" y="0"/>
                    </a:moveTo>
                    <a:lnTo>
                      <a:pt x="592913" y="0"/>
                    </a:lnTo>
                    <a:cubicBezTo>
                      <a:pt x="616157" y="0"/>
                      <a:pt x="635000" y="18843"/>
                      <a:pt x="635000" y="42087"/>
                    </a:cubicBezTo>
                    <a:lnTo>
                      <a:pt x="635000" y="309708"/>
                    </a:lnTo>
                    <a:cubicBezTo>
                      <a:pt x="635000" y="332952"/>
                      <a:pt x="616157" y="351795"/>
                      <a:pt x="592913" y="351795"/>
                    </a:cubicBezTo>
                    <a:lnTo>
                      <a:pt x="42087" y="351795"/>
                    </a:lnTo>
                    <a:cubicBezTo>
                      <a:pt x="18843" y="351795"/>
                      <a:pt x="0" y="332952"/>
                      <a:pt x="0" y="309708"/>
                    </a:cubicBezTo>
                    <a:lnTo>
                      <a:pt x="0" y="42087"/>
                    </a:lnTo>
                    <a:cubicBezTo>
                      <a:pt x="0" y="18843"/>
                      <a:pt x="18843" y="0"/>
                      <a:pt x="4208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rnd">
                <a:noFill/>
                <a:prstDash val="sysDot"/>
                <a:round/>
              </a:ln>
            </p:spPr>
          </p:sp>
          <p:sp>
            <p:nvSpPr>
              <p:cNvPr name="TextBox 19" id="19"/>
              <p:cNvSpPr txBox="true"/>
              <p:nvPr/>
            </p:nvSpPr>
            <p:spPr>
              <a:xfrm>
                <a:off x="0" y="-28575"/>
                <a:ext cx="635000" cy="38037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60"/>
                  </a:lnSpc>
                </a:pPr>
              </a:p>
            </p:txBody>
          </p:sp>
        </p:grpSp>
        <p:grpSp>
          <p:nvGrpSpPr>
            <p:cNvPr name="Group 20" id="20"/>
            <p:cNvGrpSpPr/>
            <p:nvPr/>
          </p:nvGrpSpPr>
          <p:grpSpPr>
            <a:xfrm rot="0">
              <a:off x="510787" y="3891314"/>
              <a:ext cx="4535257" cy="495222"/>
              <a:chOff x="0" y="0"/>
              <a:chExt cx="1266559" cy="138301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0" y="0"/>
                <a:ext cx="1266559" cy="138301"/>
              </a:xfrm>
              <a:custGeom>
                <a:avLst/>
                <a:gdLst/>
                <a:ahLst/>
                <a:cxnLst/>
                <a:rect r="r" b="b" t="t" l="l"/>
                <a:pathLst>
                  <a:path h="138301" w="1266559">
                    <a:moveTo>
                      <a:pt x="69150" y="0"/>
                    </a:moveTo>
                    <a:lnTo>
                      <a:pt x="1197409" y="0"/>
                    </a:lnTo>
                    <a:cubicBezTo>
                      <a:pt x="1235599" y="0"/>
                      <a:pt x="1266559" y="30960"/>
                      <a:pt x="1266559" y="69150"/>
                    </a:cubicBezTo>
                    <a:lnTo>
                      <a:pt x="1266559" y="69150"/>
                    </a:lnTo>
                    <a:cubicBezTo>
                      <a:pt x="1266559" y="87490"/>
                      <a:pt x="1259273" y="105079"/>
                      <a:pt x="1246305" y="118047"/>
                    </a:cubicBezTo>
                    <a:cubicBezTo>
                      <a:pt x="1233337" y="131015"/>
                      <a:pt x="1215748" y="138301"/>
                      <a:pt x="1197409" y="138301"/>
                    </a:cubicBezTo>
                    <a:lnTo>
                      <a:pt x="69150" y="138301"/>
                    </a:lnTo>
                    <a:cubicBezTo>
                      <a:pt x="50810" y="138301"/>
                      <a:pt x="33222" y="131015"/>
                      <a:pt x="20254" y="118047"/>
                    </a:cubicBezTo>
                    <a:cubicBezTo>
                      <a:pt x="7285" y="105079"/>
                      <a:pt x="0" y="87490"/>
                      <a:pt x="0" y="69150"/>
                    </a:cubicBezTo>
                    <a:lnTo>
                      <a:pt x="0" y="69150"/>
                    </a:lnTo>
                    <a:cubicBezTo>
                      <a:pt x="0" y="50810"/>
                      <a:pt x="7285" y="33222"/>
                      <a:pt x="20254" y="20254"/>
                    </a:cubicBezTo>
                    <a:cubicBezTo>
                      <a:pt x="33222" y="7285"/>
                      <a:pt x="50810" y="0"/>
                      <a:pt x="69150" y="0"/>
                    </a:cubicBezTo>
                    <a:close/>
                  </a:path>
                </a:pathLst>
              </a:custGeom>
              <a:solidFill>
                <a:srgbClr val="004AAD"/>
              </a:solidFill>
            </p:spPr>
          </p:sp>
          <p:sp>
            <p:nvSpPr>
              <p:cNvPr name="TextBox 22" id="22"/>
              <p:cNvSpPr txBox="true"/>
              <p:nvPr/>
            </p:nvSpPr>
            <p:spPr>
              <a:xfrm>
                <a:off x="0" y="-28575"/>
                <a:ext cx="1266559" cy="166876"/>
              </a:xfrm>
              <a:prstGeom prst="rect">
                <a:avLst/>
              </a:prstGeom>
            </p:spPr>
            <p:txBody>
              <a:bodyPr anchor="ctr" rtlCol="false" tIns="48892" lIns="48892" bIns="48892" rIns="48892"/>
              <a:lstStyle/>
              <a:p>
                <a:pPr algn="ctr">
                  <a:lnSpc>
                    <a:spcPts val="1960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23" id="23"/>
            <p:cNvSpPr txBox="true"/>
            <p:nvPr/>
          </p:nvSpPr>
          <p:spPr>
            <a:xfrm rot="0">
              <a:off x="636817" y="3937400"/>
              <a:ext cx="4283198" cy="3649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315"/>
                </a:lnSpc>
                <a:spcBef>
                  <a:spcPct val="0"/>
                </a:spcBef>
              </a:pPr>
              <a:r>
                <a:rPr lang="en-US" sz="1653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Condensed Structural Formula</a:t>
              </a:r>
            </a:p>
          </p:txBody>
        </p:sp>
        <p:grpSp>
          <p:nvGrpSpPr>
            <p:cNvPr name="Group 24" id="24"/>
            <p:cNvGrpSpPr/>
            <p:nvPr/>
          </p:nvGrpSpPr>
          <p:grpSpPr>
            <a:xfrm rot="0">
              <a:off x="5864439" y="4076632"/>
              <a:ext cx="5556832" cy="3078532"/>
              <a:chOff x="0" y="0"/>
              <a:chExt cx="635000" cy="351795"/>
            </a:xfrm>
          </p:grpSpPr>
          <p:sp>
            <p:nvSpPr>
              <p:cNvPr name="Freeform 25" id="25"/>
              <p:cNvSpPr/>
              <p:nvPr/>
            </p:nvSpPr>
            <p:spPr>
              <a:xfrm flipH="false" flipV="false" rot="0">
                <a:off x="0" y="0"/>
                <a:ext cx="635000" cy="351795"/>
              </a:xfrm>
              <a:custGeom>
                <a:avLst/>
                <a:gdLst/>
                <a:ahLst/>
                <a:cxnLst/>
                <a:rect r="r" b="b" t="t" l="l"/>
                <a:pathLst>
                  <a:path h="351795" w="635000">
                    <a:moveTo>
                      <a:pt x="42087" y="0"/>
                    </a:moveTo>
                    <a:lnTo>
                      <a:pt x="592913" y="0"/>
                    </a:lnTo>
                    <a:cubicBezTo>
                      <a:pt x="616157" y="0"/>
                      <a:pt x="635000" y="18843"/>
                      <a:pt x="635000" y="42087"/>
                    </a:cubicBezTo>
                    <a:lnTo>
                      <a:pt x="635000" y="309708"/>
                    </a:lnTo>
                    <a:cubicBezTo>
                      <a:pt x="635000" y="332952"/>
                      <a:pt x="616157" y="351795"/>
                      <a:pt x="592913" y="351795"/>
                    </a:cubicBezTo>
                    <a:lnTo>
                      <a:pt x="42087" y="351795"/>
                    </a:lnTo>
                    <a:cubicBezTo>
                      <a:pt x="18843" y="351795"/>
                      <a:pt x="0" y="332952"/>
                      <a:pt x="0" y="309708"/>
                    </a:cubicBezTo>
                    <a:lnTo>
                      <a:pt x="0" y="42087"/>
                    </a:lnTo>
                    <a:cubicBezTo>
                      <a:pt x="0" y="18843"/>
                      <a:pt x="18843" y="0"/>
                      <a:pt x="4208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rnd">
                <a:noFill/>
                <a:prstDash val="sysDot"/>
                <a:round/>
              </a:ln>
            </p:spPr>
          </p:sp>
          <p:sp>
            <p:nvSpPr>
              <p:cNvPr name="TextBox 26" id="26"/>
              <p:cNvSpPr txBox="true"/>
              <p:nvPr/>
            </p:nvSpPr>
            <p:spPr>
              <a:xfrm>
                <a:off x="0" y="-28575"/>
                <a:ext cx="635000" cy="38037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60"/>
                  </a:lnSpc>
                </a:pPr>
              </a:p>
            </p:txBody>
          </p:sp>
        </p:grpSp>
        <p:grpSp>
          <p:nvGrpSpPr>
            <p:cNvPr name="Group 27" id="27"/>
            <p:cNvGrpSpPr/>
            <p:nvPr/>
          </p:nvGrpSpPr>
          <p:grpSpPr>
            <a:xfrm rot="0">
              <a:off x="6713548" y="3844282"/>
              <a:ext cx="3799999" cy="495222"/>
              <a:chOff x="0" y="0"/>
              <a:chExt cx="1061224" cy="138301"/>
            </a:xfrm>
          </p:grpSpPr>
          <p:sp>
            <p:nvSpPr>
              <p:cNvPr name="Freeform 28" id="28"/>
              <p:cNvSpPr/>
              <p:nvPr/>
            </p:nvSpPr>
            <p:spPr>
              <a:xfrm flipH="false" flipV="false" rot="0">
                <a:off x="0" y="0"/>
                <a:ext cx="1061224" cy="138301"/>
              </a:xfrm>
              <a:custGeom>
                <a:avLst/>
                <a:gdLst/>
                <a:ahLst/>
                <a:cxnLst/>
                <a:rect r="r" b="b" t="t" l="l"/>
                <a:pathLst>
                  <a:path h="138301" w="1061224">
                    <a:moveTo>
                      <a:pt x="69150" y="0"/>
                    </a:moveTo>
                    <a:lnTo>
                      <a:pt x="992073" y="0"/>
                    </a:lnTo>
                    <a:cubicBezTo>
                      <a:pt x="1010413" y="0"/>
                      <a:pt x="1028002" y="7285"/>
                      <a:pt x="1040970" y="20254"/>
                    </a:cubicBezTo>
                    <a:cubicBezTo>
                      <a:pt x="1053938" y="33222"/>
                      <a:pt x="1061224" y="50810"/>
                      <a:pt x="1061224" y="69150"/>
                    </a:cubicBezTo>
                    <a:lnTo>
                      <a:pt x="1061224" y="69150"/>
                    </a:lnTo>
                    <a:cubicBezTo>
                      <a:pt x="1061224" y="87490"/>
                      <a:pt x="1053938" y="105079"/>
                      <a:pt x="1040970" y="118047"/>
                    </a:cubicBezTo>
                    <a:cubicBezTo>
                      <a:pt x="1028002" y="131015"/>
                      <a:pt x="1010413" y="138301"/>
                      <a:pt x="992073" y="138301"/>
                    </a:cubicBezTo>
                    <a:lnTo>
                      <a:pt x="69150" y="138301"/>
                    </a:lnTo>
                    <a:cubicBezTo>
                      <a:pt x="50810" y="138301"/>
                      <a:pt x="33222" y="131015"/>
                      <a:pt x="20254" y="118047"/>
                    </a:cubicBezTo>
                    <a:cubicBezTo>
                      <a:pt x="7285" y="105079"/>
                      <a:pt x="0" y="87490"/>
                      <a:pt x="0" y="69150"/>
                    </a:cubicBezTo>
                    <a:lnTo>
                      <a:pt x="0" y="69150"/>
                    </a:lnTo>
                    <a:cubicBezTo>
                      <a:pt x="0" y="50810"/>
                      <a:pt x="7285" y="33222"/>
                      <a:pt x="20254" y="20254"/>
                    </a:cubicBezTo>
                    <a:cubicBezTo>
                      <a:pt x="33222" y="7285"/>
                      <a:pt x="50810" y="0"/>
                      <a:pt x="69150" y="0"/>
                    </a:cubicBezTo>
                    <a:close/>
                  </a:path>
                </a:pathLst>
              </a:custGeom>
              <a:solidFill>
                <a:srgbClr val="004AAD"/>
              </a:solidFill>
            </p:spPr>
          </p:sp>
          <p:sp>
            <p:nvSpPr>
              <p:cNvPr name="TextBox 29" id="29"/>
              <p:cNvSpPr txBox="true"/>
              <p:nvPr/>
            </p:nvSpPr>
            <p:spPr>
              <a:xfrm>
                <a:off x="0" y="-28575"/>
                <a:ext cx="1061224" cy="166876"/>
              </a:xfrm>
              <a:prstGeom prst="rect">
                <a:avLst/>
              </a:prstGeom>
            </p:spPr>
            <p:txBody>
              <a:bodyPr anchor="ctr" rtlCol="false" tIns="48892" lIns="48892" bIns="48892" rIns="48892"/>
              <a:lstStyle/>
              <a:p>
                <a:pPr algn="ctr">
                  <a:lnSpc>
                    <a:spcPts val="1960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30" id="30"/>
            <p:cNvSpPr txBox="true"/>
            <p:nvPr/>
          </p:nvSpPr>
          <p:spPr>
            <a:xfrm rot="0">
              <a:off x="6924684" y="3853214"/>
              <a:ext cx="3436342" cy="42994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701"/>
                </a:lnSpc>
                <a:spcBef>
                  <a:spcPct val="0"/>
                </a:spcBef>
              </a:pPr>
              <a:r>
                <a:rPr lang="en-US" sz="1929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Bond-Line Structure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051506" y="366072"/>
            <a:ext cx="8588987" cy="650546"/>
            <a:chOff x="0" y="0"/>
            <a:chExt cx="3198189" cy="242237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3198189" cy="242237"/>
            </a:xfrm>
            <a:custGeom>
              <a:avLst/>
              <a:gdLst/>
              <a:ahLst/>
              <a:cxnLst/>
              <a:rect r="r" b="b" t="t" l="l"/>
              <a:pathLst>
                <a:path h="242237" w="3198189">
                  <a:moveTo>
                    <a:pt x="0" y="0"/>
                  </a:moveTo>
                  <a:lnTo>
                    <a:pt x="3198189" y="0"/>
                  </a:lnTo>
                  <a:lnTo>
                    <a:pt x="3198189" y="242237"/>
                  </a:lnTo>
                  <a:lnTo>
                    <a:pt x="0" y="242237"/>
                  </a:ln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100000"/>
                  </a:srgbClr>
                </a:gs>
                <a:gs pos="100000">
                  <a:srgbClr val="3533CD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28575"/>
              <a:ext cx="3198189" cy="270812"/>
            </a:xfrm>
            <a:prstGeom prst="rect">
              <a:avLst/>
            </a:prstGeom>
          </p:spPr>
          <p:txBody>
            <a:bodyPr anchor="ctr" rtlCol="false" tIns="48892" lIns="48892" bIns="48892" rIns="48892"/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6724829" y="1870631"/>
            <a:ext cx="1739818" cy="1836294"/>
            <a:chOff x="0" y="0"/>
            <a:chExt cx="2319757" cy="2448392"/>
          </a:xfrm>
        </p:grpSpPr>
        <p:sp>
          <p:nvSpPr>
            <p:cNvPr name="AutoShape 35" id="35"/>
            <p:cNvSpPr/>
            <p:nvPr/>
          </p:nvSpPr>
          <p:spPr>
            <a:xfrm>
              <a:off x="1242323" y="710836"/>
              <a:ext cx="290058" cy="167465"/>
            </a:xfrm>
            <a:prstGeom prst="line">
              <a:avLst/>
            </a:prstGeom>
            <a:ln cap="flat" w="14119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36" id="36"/>
            <p:cNvSpPr txBox="true"/>
            <p:nvPr/>
          </p:nvSpPr>
          <p:spPr>
            <a:xfrm rot="0">
              <a:off x="1050257" y="504162"/>
              <a:ext cx="184252" cy="30652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934"/>
                </a:lnSpc>
                <a:spcBef>
                  <a:spcPct val="0"/>
                </a:spcBef>
              </a:pPr>
              <a:r>
                <a:rPr lang="en-US" b="true" sz="1381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C</a:t>
              </a:r>
            </a:p>
          </p:txBody>
        </p:sp>
        <p:sp>
          <p:nvSpPr>
            <p:cNvPr name="TextBox 37" id="37"/>
            <p:cNvSpPr txBox="true"/>
            <p:nvPr/>
          </p:nvSpPr>
          <p:spPr>
            <a:xfrm rot="0">
              <a:off x="1540194" y="782109"/>
              <a:ext cx="184252" cy="30652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934"/>
                </a:lnSpc>
                <a:spcBef>
                  <a:spcPct val="0"/>
                </a:spcBef>
              </a:pPr>
              <a:r>
                <a:rPr lang="en-US" b="true" sz="1381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C</a:t>
              </a:r>
            </a:p>
          </p:txBody>
        </p:sp>
        <p:sp>
          <p:nvSpPr>
            <p:cNvPr name="TextBox 38" id="38"/>
            <p:cNvSpPr txBox="true"/>
            <p:nvPr/>
          </p:nvSpPr>
          <p:spPr>
            <a:xfrm rot="0">
              <a:off x="1556060" y="1387163"/>
              <a:ext cx="184252" cy="30652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934"/>
                </a:lnSpc>
                <a:spcBef>
                  <a:spcPct val="0"/>
                </a:spcBef>
              </a:pPr>
              <a:r>
                <a:rPr lang="en-US" b="true" sz="1381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C</a:t>
              </a:r>
            </a:p>
          </p:txBody>
        </p:sp>
        <p:sp>
          <p:nvSpPr>
            <p:cNvPr name="TextBox 39" id="39"/>
            <p:cNvSpPr txBox="true"/>
            <p:nvPr/>
          </p:nvSpPr>
          <p:spPr>
            <a:xfrm rot="0">
              <a:off x="1050257" y="1665110"/>
              <a:ext cx="184252" cy="30652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934"/>
                </a:lnSpc>
                <a:spcBef>
                  <a:spcPct val="0"/>
                </a:spcBef>
              </a:pPr>
              <a:r>
                <a:rPr lang="en-US" b="true" sz="1381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C</a:t>
              </a:r>
            </a:p>
          </p:txBody>
        </p:sp>
        <p:sp>
          <p:nvSpPr>
            <p:cNvPr name="TextBox 40" id="40"/>
            <p:cNvSpPr txBox="true"/>
            <p:nvPr/>
          </p:nvSpPr>
          <p:spPr>
            <a:xfrm rot="0">
              <a:off x="539714" y="1371838"/>
              <a:ext cx="184252" cy="30652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934"/>
                </a:lnSpc>
                <a:spcBef>
                  <a:spcPct val="0"/>
                </a:spcBef>
              </a:pPr>
              <a:r>
                <a:rPr lang="en-US" b="true" sz="1381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C</a:t>
              </a:r>
            </a:p>
          </p:txBody>
        </p:sp>
        <p:sp>
          <p:nvSpPr>
            <p:cNvPr name="TextBox 41" id="41"/>
            <p:cNvSpPr txBox="true"/>
            <p:nvPr/>
          </p:nvSpPr>
          <p:spPr>
            <a:xfrm rot="0">
              <a:off x="539714" y="800619"/>
              <a:ext cx="184252" cy="30652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934"/>
                </a:lnSpc>
                <a:spcBef>
                  <a:spcPct val="0"/>
                </a:spcBef>
              </a:pPr>
              <a:r>
                <a:rPr lang="en-US" b="true" sz="1381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C</a:t>
              </a:r>
            </a:p>
          </p:txBody>
        </p:sp>
        <p:sp>
          <p:nvSpPr>
            <p:cNvPr name="AutoShape 42" id="42"/>
            <p:cNvSpPr/>
            <p:nvPr/>
          </p:nvSpPr>
          <p:spPr>
            <a:xfrm>
              <a:off x="1655246" y="1080809"/>
              <a:ext cx="0" cy="334930"/>
            </a:xfrm>
            <a:prstGeom prst="line">
              <a:avLst/>
            </a:prstGeom>
            <a:ln cap="flat" w="14119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43" id="43"/>
            <p:cNvSpPr/>
            <p:nvPr/>
          </p:nvSpPr>
          <p:spPr>
            <a:xfrm flipV="true">
              <a:off x="1245853" y="1634610"/>
              <a:ext cx="290058" cy="167465"/>
            </a:xfrm>
            <a:prstGeom prst="line">
              <a:avLst/>
            </a:prstGeom>
            <a:ln cap="flat" w="14119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44" id="44"/>
            <p:cNvSpPr/>
            <p:nvPr/>
          </p:nvSpPr>
          <p:spPr>
            <a:xfrm>
              <a:off x="740613" y="1625668"/>
              <a:ext cx="290058" cy="167465"/>
            </a:xfrm>
            <a:prstGeom prst="line">
              <a:avLst/>
            </a:prstGeom>
            <a:ln cap="flat" w="14119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45" id="45"/>
            <p:cNvSpPr/>
            <p:nvPr/>
          </p:nvSpPr>
          <p:spPr>
            <a:xfrm>
              <a:off x="624780" y="1080809"/>
              <a:ext cx="0" cy="334930"/>
            </a:xfrm>
            <a:prstGeom prst="line">
              <a:avLst/>
            </a:prstGeom>
            <a:ln cap="flat" w="14119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46" id="46"/>
            <p:cNvSpPr/>
            <p:nvPr/>
          </p:nvSpPr>
          <p:spPr>
            <a:xfrm flipV="true">
              <a:off x="753140" y="716950"/>
              <a:ext cx="290058" cy="167465"/>
            </a:xfrm>
            <a:prstGeom prst="line">
              <a:avLst/>
            </a:prstGeom>
            <a:ln cap="flat" w="14119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47" id="47"/>
            <p:cNvSpPr/>
            <p:nvPr/>
          </p:nvSpPr>
          <p:spPr>
            <a:xfrm flipH="true" flipV="true">
              <a:off x="269945" y="707203"/>
              <a:ext cx="265103" cy="233501"/>
            </a:xfrm>
            <a:prstGeom prst="line">
              <a:avLst/>
            </a:prstGeom>
            <a:ln cap="flat" w="14119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48" id="48"/>
            <p:cNvSpPr/>
            <p:nvPr/>
          </p:nvSpPr>
          <p:spPr>
            <a:xfrm flipH="true">
              <a:off x="184252" y="996264"/>
              <a:ext cx="349810" cy="49352"/>
            </a:xfrm>
            <a:prstGeom prst="line">
              <a:avLst/>
            </a:prstGeom>
            <a:ln cap="flat" w="14119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49" id="49"/>
            <p:cNvSpPr/>
            <p:nvPr/>
          </p:nvSpPr>
          <p:spPr>
            <a:xfrm flipH="true" flipV="true">
              <a:off x="931327" y="270640"/>
              <a:ext cx="198104" cy="292502"/>
            </a:xfrm>
            <a:prstGeom prst="line">
              <a:avLst/>
            </a:prstGeom>
            <a:ln cap="flat" w="14119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50" id="50"/>
            <p:cNvSpPr/>
            <p:nvPr/>
          </p:nvSpPr>
          <p:spPr>
            <a:xfrm flipV="true">
              <a:off x="1190125" y="254395"/>
              <a:ext cx="169908" cy="309732"/>
            </a:xfrm>
            <a:prstGeom prst="line">
              <a:avLst/>
            </a:prstGeom>
            <a:ln cap="flat" w="14119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51" id="51"/>
            <p:cNvSpPr/>
            <p:nvPr/>
          </p:nvSpPr>
          <p:spPr>
            <a:xfrm>
              <a:off x="1740652" y="975813"/>
              <a:ext cx="344827" cy="76793"/>
            </a:xfrm>
            <a:prstGeom prst="line">
              <a:avLst/>
            </a:prstGeom>
            <a:ln cap="flat" w="14119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52" id="52"/>
            <p:cNvSpPr/>
            <p:nvPr/>
          </p:nvSpPr>
          <p:spPr>
            <a:xfrm flipV="true">
              <a:off x="1739118" y="740216"/>
              <a:ext cx="299960" cy="186619"/>
            </a:xfrm>
            <a:prstGeom prst="line">
              <a:avLst/>
            </a:prstGeom>
            <a:ln cap="flat" w="14119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53" id="53"/>
            <p:cNvSpPr/>
            <p:nvPr/>
          </p:nvSpPr>
          <p:spPr>
            <a:xfrm flipH="true" flipV="true">
              <a:off x="216906" y="1367542"/>
              <a:ext cx="319809" cy="150082"/>
            </a:xfrm>
            <a:prstGeom prst="line">
              <a:avLst/>
            </a:prstGeom>
            <a:ln cap="flat" w="14119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54" id="54"/>
            <p:cNvSpPr/>
            <p:nvPr/>
          </p:nvSpPr>
          <p:spPr>
            <a:xfrm flipH="true">
              <a:off x="195873" y="1587326"/>
              <a:ext cx="342078" cy="88233"/>
            </a:xfrm>
            <a:prstGeom prst="line">
              <a:avLst/>
            </a:prstGeom>
            <a:ln cap="flat" w="14119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55" id="55"/>
            <p:cNvSpPr/>
            <p:nvPr/>
          </p:nvSpPr>
          <p:spPr>
            <a:xfrm flipH="true">
              <a:off x="873354" y="1968173"/>
              <a:ext cx="261922" cy="237064"/>
            </a:xfrm>
            <a:prstGeom prst="line">
              <a:avLst/>
            </a:prstGeom>
            <a:ln cap="flat" w="14119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56" id="56"/>
            <p:cNvSpPr/>
            <p:nvPr/>
          </p:nvSpPr>
          <p:spPr>
            <a:xfrm flipH="true" flipV="true">
              <a:off x="1183936" y="1973411"/>
              <a:ext cx="262121" cy="236844"/>
            </a:xfrm>
            <a:prstGeom prst="line">
              <a:avLst/>
            </a:prstGeom>
            <a:ln cap="flat" w="14119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57" id="57"/>
            <p:cNvSpPr/>
            <p:nvPr/>
          </p:nvSpPr>
          <p:spPr>
            <a:xfrm>
              <a:off x="1778060" y="1591876"/>
              <a:ext cx="344827" cy="76793"/>
            </a:xfrm>
            <a:prstGeom prst="line">
              <a:avLst/>
            </a:prstGeom>
            <a:ln cap="flat" w="14119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58" id="58"/>
            <p:cNvSpPr/>
            <p:nvPr/>
          </p:nvSpPr>
          <p:spPr>
            <a:xfrm flipV="true">
              <a:off x="1776525" y="1356279"/>
              <a:ext cx="299960" cy="186619"/>
            </a:xfrm>
            <a:prstGeom prst="line">
              <a:avLst/>
            </a:prstGeom>
            <a:ln cap="flat" w="14119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59" id="59"/>
            <p:cNvSpPr txBox="true"/>
            <p:nvPr/>
          </p:nvSpPr>
          <p:spPr>
            <a:xfrm rot="0">
              <a:off x="1278859" y="-28575"/>
              <a:ext cx="184252" cy="30652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934"/>
                </a:lnSpc>
                <a:spcBef>
                  <a:spcPct val="0"/>
                </a:spcBef>
              </a:pPr>
              <a:r>
                <a:rPr lang="en-US" b="true" sz="1381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H</a:t>
              </a:r>
            </a:p>
          </p:txBody>
        </p:sp>
        <p:sp>
          <p:nvSpPr>
            <p:cNvPr name="TextBox 60" id="60"/>
            <p:cNvSpPr txBox="true"/>
            <p:nvPr/>
          </p:nvSpPr>
          <p:spPr>
            <a:xfrm rot="0">
              <a:off x="839201" y="-17710"/>
              <a:ext cx="184252" cy="30652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934"/>
                </a:lnSpc>
                <a:spcBef>
                  <a:spcPct val="0"/>
                </a:spcBef>
              </a:pPr>
              <a:r>
                <a:rPr lang="en-US" b="true" sz="1381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H</a:t>
              </a:r>
            </a:p>
          </p:txBody>
        </p:sp>
        <p:sp>
          <p:nvSpPr>
            <p:cNvPr name="TextBox 61" id="61"/>
            <p:cNvSpPr txBox="true"/>
            <p:nvPr/>
          </p:nvSpPr>
          <p:spPr>
            <a:xfrm rot="0">
              <a:off x="69783" y="486643"/>
              <a:ext cx="184252" cy="30652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934"/>
                </a:lnSpc>
                <a:spcBef>
                  <a:spcPct val="0"/>
                </a:spcBef>
              </a:pPr>
              <a:r>
                <a:rPr lang="en-US" b="true" sz="1381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H</a:t>
              </a:r>
            </a:p>
          </p:txBody>
        </p:sp>
        <p:sp>
          <p:nvSpPr>
            <p:cNvPr name="TextBox 62" id="62"/>
            <p:cNvSpPr txBox="true"/>
            <p:nvPr/>
          </p:nvSpPr>
          <p:spPr>
            <a:xfrm rot="0">
              <a:off x="2092223" y="534567"/>
              <a:ext cx="184252" cy="30652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934"/>
                </a:lnSpc>
                <a:spcBef>
                  <a:spcPct val="0"/>
                </a:spcBef>
              </a:pPr>
              <a:r>
                <a:rPr lang="en-US" b="true" sz="1381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H</a:t>
              </a:r>
            </a:p>
          </p:txBody>
        </p:sp>
        <p:sp>
          <p:nvSpPr>
            <p:cNvPr name="TextBox 63" id="63"/>
            <p:cNvSpPr txBox="true"/>
            <p:nvPr/>
          </p:nvSpPr>
          <p:spPr>
            <a:xfrm rot="0">
              <a:off x="0" y="852022"/>
              <a:ext cx="184252" cy="30652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934"/>
                </a:lnSpc>
                <a:spcBef>
                  <a:spcPct val="0"/>
                </a:spcBef>
              </a:pPr>
              <a:r>
                <a:rPr lang="en-US" b="true" sz="1381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H</a:t>
              </a:r>
            </a:p>
          </p:txBody>
        </p:sp>
        <p:sp>
          <p:nvSpPr>
            <p:cNvPr name="TextBox 64" id="64"/>
            <p:cNvSpPr txBox="true"/>
            <p:nvPr/>
          </p:nvSpPr>
          <p:spPr>
            <a:xfrm rot="0">
              <a:off x="11621" y="1190075"/>
              <a:ext cx="184252" cy="30652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934"/>
                </a:lnSpc>
                <a:spcBef>
                  <a:spcPct val="0"/>
                </a:spcBef>
              </a:pPr>
              <a:r>
                <a:rPr lang="en-US" b="true" sz="1381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H</a:t>
              </a:r>
            </a:p>
          </p:txBody>
        </p:sp>
        <p:sp>
          <p:nvSpPr>
            <p:cNvPr name="TextBox 65" id="65"/>
            <p:cNvSpPr txBox="true"/>
            <p:nvPr/>
          </p:nvSpPr>
          <p:spPr>
            <a:xfrm rot="0">
              <a:off x="11621" y="1508011"/>
              <a:ext cx="184252" cy="30652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934"/>
                </a:lnSpc>
                <a:spcBef>
                  <a:spcPct val="0"/>
                </a:spcBef>
              </a:pPr>
              <a:r>
                <a:rPr lang="en-US" b="true" sz="1381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H</a:t>
              </a:r>
            </a:p>
          </p:txBody>
        </p:sp>
        <p:sp>
          <p:nvSpPr>
            <p:cNvPr name="TextBox 66" id="66"/>
            <p:cNvSpPr txBox="true"/>
            <p:nvPr/>
          </p:nvSpPr>
          <p:spPr>
            <a:xfrm rot="0">
              <a:off x="781228" y="2141871"/>
              <a:ext cx="184252" cy="30652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934"/>
                </a:lnSpc>
                <a:spcBef>
                  <a:spcPct val="0"/>
                </a:spcBef>
              </a:pPr>
              <a:r>
                <a:rPr lang="en-US" b="true" sz="1381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H</a:t>
              </a:r>
            </a:p>
          </p:txBody>
        </p:sp>
        <p:sp>
          <p:nvSpPr>
            <p:cNvPr name="TextBox 67" id="67"/>
            <p:cNvSpPr txBox="true"/>
            <p:nvPr/>
          </p:nvSpPr>
          <p:spPr>
            <a:xfrm rot="0">
              <a:off x="1353930" y="2141871"/>
              <a:ext cx="184252" cy="30652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934"/>
                </a:lnSpc>
                <a:spcBef>
                  <a:spcPct val="0"/>
                </a:spcBef>
              </a:pPr>
              <a:r>
                <a:rPr lang="en-US" b="true" sz="1381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H</a:t>
              </a:r>
            </a:p>
          </p:txBody>
        </p:sp>
        <p:sp>
          <p:nvSpPr>
            <p:cNvPr name="TextBox 68" id="68"/>
            <p:cNvSpPr txBox="true"/>
            <p:nvPr/>
          </p:nvSpPr>
          <p:spPr>
            <a:xfrm rot="0">
              <a:off x="2122886" y="878068"/>
              <a:ext cx="184252" cy="30652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934"/>
                </a:lnSpc>
                <a:spcBef>
                  <a:spcPct val="0"/>
                </a:spcBef>
              </a:pPr>
              <a:r>
                <a:rPr lang="en-US" b="true" sz="1381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H</a:t>
              </a:r>
            </a:p>
          </p:txBody>
        </p:sp>
        <p:sp>
          <p:nvSpPr>
            <p:cNvPr name="TextBox 69" id="69"/>
            <p:cNvSpPr txBox="true"/>
            <p:nvPr/>
          </p:nvSpPr>
          <p:spPr>
            <a:xfrm rot="0">
              <a:off x="2122886" y="1199993"/>
              <a:ext cx="184252" cy="30652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934"/>
                </a:lnSpc>
                <a:spcBef>
                  <a:spcPct val="0"/>
                </a:spcBef>
              </a:pPr>
              <a:r>
                <a:rPr lang="en-US" b="true" sz="1381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H</a:t>
              </a:r>
            </a:p>
          </p:txBody>
        </p:sp>
        <p:sp>
          <p:nvSpPr>
            <p:cNvPr name="TextBox 70" id="70"/>
            <p:cNvSpPr txBox="true"/>
            <p:nvPr/>
          </p:nvSpPr>
          <p:spPr>
            <a:xfrm rot="0">
              <a:off x="2135505" y="1501120"/>
              <a:ext cx="184252" cy="30652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934"/>
                </a:lnSpc>
                <a:spcBef>
                  <a:spcPct val="0"/>
                </a:spcBef>
              </a:pPr>
              <a:r>
                <a:rPr lang="en-US" b="true" sz="1381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H</a:t>
              </a:r>
            </a:p>
          </p:txBody>
        </p:sp>
      </p:grpSp>
      <p:sp>
        <p:nvSpPr>
          <p:cNvPr name="Freeform 71" id="71"/>
          <p:cNvSpPr/>
          <p:nvPr/>
        </p:nvSpPr>
        <p:spPr>
          <a:xfrm flipH="false" flipV="false" rot="0">
            <a:off x="6833702" y="4825037"/>
            <a:ext cx="1522071" cy="1742371"/>
          </a:xfrm>
          <a:custGeom>
            <a:avLst/>
            <a:gdLst/>
            <a:ahLst/>
            <a:cxnLst/>
            <a:rect r="r" b="b" t="t" l="l"/>
            <a:pathLst>
              <a:path h="1742371" w="1522071">
                <a:moveTo>
                  <a:pt x="0" y="0"/>
                </a:moveTo>
                <a:lnTo>
                  <a:pt x="1522071" y="0"/>
                </a:lnTo>
                <a:lnTo>
                  <a:pt x="1522071" y="1742371"/>
                </a:lnTo>
                <a:lnTo>
                  <a:pt x="0" y="174237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72" id="72"/>
          <p:cNvSpPr txBox="true"/>
          <p:nvPr/>
        </p:nvSpPr>
        <p:spPr>
          <a:xfrm rot="0">
            <a:off x="1238884" y="384199"/>
            <a:ext cx="8214232" cy="5190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41"/>
              </a:lnSpc>
              <a:spcBef>
                <a:spcPct val="0"/>
              </a:spcBef>
            </a:pPr>
            <a:r>
              <a:rPr lang="en-US" sz="2815">
                <a:solidFill>
                  <a:srgbClr val="FFFFFF"/>
                </a:solidFill>
                <a:latin typeface="Horizon"/>
                <a:ea typeface="Horizon"/>
                <a:cs typeface="Horizon"/>
                <a:sym typeface="Horizon"/>
              </a:rPr>
              <a:t>Card 06 - CYCLOHEXANE</a:t>
            </a:r>
          </a:p>
        </p:txBody>
      </p:sp>
      <p:grpSp>
        <p:nvGrpSpPr>
          <p:cNvPr name="Group 73" id="73"/>
          <p:cNvGrpSpPr/>
          <p:nvPr/>
        </p:nvGrpSpPr>
        <p:grpSpPr>
          <a:xfrm rot="0">
            <a:off x="228227" y="2013268"/>
            <a:ext cx="5476827" cy="1551020"/>
            <a:chOff x="0" y="0"/>
            <a:chExt cx="7302436" cy="2068027"/>
          </a:xfrm>
        </p:grpSpPr>
        <p:sp>
          <p:nvSpPr>
            <p:cNvPr name="TextBox 74" id="74"/>
            <p:cNvSpPr txBox="true"/>
            <p:nvPr/>
          </p:nvSpPr>
          <p:spPr>
            <a:xfrm rot="0">
              <a:off x="0" y="-209550"/>
              <a:ext cx="7302436" cy="227757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4314"/>
                </a:lnSpc>
                <a:spcBef>
                  <a:spcPct val="0"/>
                </a:spcBef>
              </a:pPr>
              <a:r>
                <a:rPr lang="en-US" sz="10224">
                  <a:solidFill>
                    <a:srgbClr val="000000"/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C H </a:t>
              </a:r>
            </a:p>
          </p:txBody>
        </p:sp>
        <p:sp>
          <p:nvSpPr>
            <p:cNvPr name="TextBox 75" id="75"/>
            <p:cNvSpPr txBox="true"/>
            <p:nvPr/>
          </p:nvSpPr>
          <p:spPr>
            <a:xfrm rot="0">
              <a:off x="2778737" y="719635"/>
              <a:ext cx="999076" cy="134839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8410"/>
                </a:lnSpc>
                <a:spcBef>
                  <a:spcPct val="0"/>
                </a:spcBef>
              </a:pPr>
              <a:r>
                <a:rPr lang="en-US" sz="6007">
                  <a:solidFill>
                    <a:srgbClr val="000000"/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6</a:t>
              </a:r>
            </a:p>
          </p:txBody>
        </p:sp>
        <p:sp>
          <p:nvSpPr>
            <p:cNvPr name="TextBox 76" id="76"/>
            <p:cNvSpPr txBox="true"/>
            <p:nvPr/>
          </p:nvSpPr>
          <p:spPr>
            <a:xfrm rot="0">
              <a:off x="4500122" y="691463"/>
              <a:ext cx="2148188" cy="127973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8077"/>
                </a:lnSpc>
                <a:spcBef>
                  <a:spcPct val="0"/>
                </a:spcBef>
              </a:pPr>
              <a:r>
                <a:rPr lang="en-US" sz="5769">
                  <a:solidFill>
                    <a:srgbClr val="000000"/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12</a:t>
              </a:r>
            </a:p>
          </p:txBody>
        </p:sp>
      </p:grpSp>
      <p:grpSp>
        <p:nvGrpSpPr>
          <p:cNvPr name="Group 77" id="77"/>
          <p:cNvGrpSpPr/>
          <p:nvPr/>
        </p:nvGrpSpPr>
        <p:grpSpPr>
          <a:xfrm rot="0">
            <a:off x="1303758" y="4825037"/>
            <a:ext cx="3325764" cy="2107821"/>
            <a:chOff x="0" y="0"/>
            <a:chExt cx="4434352" cy="2810428"/>
          </a:xfrm>
        </p:grpSpPr>
        <p:sp>
          <p:nvSpPr>
            <p:cNvPr name="TextBox 78" id="78"/>
            <p:cNvSpPr txBox="true"/>
            <p:nvPr/>
          </p:nvSpPr>
          <p:spPr>
            <a:xfrm rot="0">
              <a:off x="275975" y="-181888"/>
              <a:ext cx="4158377" cy="25720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4932"/>
                </a:lnSpc>
                <a:spcBef>
                  <a:spcPct val="0"/>
                </a:spcBef>
              </a:pPr>
              <a:r>
                <a:rPr lang="en-US" sz="10666">
                  <a:solidFill>
                    <a:srgbClr val="000000"/>
                  </a:solidFill>
                  <a:latin typeface="Impact"/>
                  <a:ea typeface="Impact"/>
                  <a:cs typeface="Impact"/>
                  <a:sym typeface="Impact"/>
                </a:rPr>
                <a:t>CH </a:t>
              </a:r>
            </a:p>
          </p:txBody>
        </p:sp>
        <p:sp>
          <p:nvSpPr>
            <p:cNvPr name="TextBox 79" id="79"/>
            <p:cNvSpPr txBox="true"/>
            <p:nvPr/>
          </p:nvSpPr>
          <p:spPr>
            <a:xfrm rot="0">
              <a:off x="2984440" y="871007"/>
              <a:ext cx="395567" cy="140788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8193"/>
                </a:lnSpc>
                <a:spcBef>
                  <a:spcPct val="0"/>
                </a:spcBef>
              </a:pPr>
              <a:r>
                <a:rPr lang="en-US" sz="5852">
                  <a:solidFill>
                    <a:srgbClr val="000000"/>
                  </a:solidFill>
                  <a:latin typeface="Impact"/>
                  <a:ea typeface="Impact"/>
                  <a:cs typeface="Impact"/>
                  <a:sym typeface="Impact"/>
                </a:rPr>
                <a:t>2</a:t>
              </a:r>
            </a:p>
          </p:txBody>
        </p:sp>
        <p:sp>
          <p:nvSpPr>
            <p:cNvPr name="TextBox 80" id="80"/>
            <p:cNvSpPr txBox="true"/>
            <p:nvPr/>
          </p:nvSpPr>
          <p:spPr>
            <a:xfrm rot="0">
              <a:off x="3985847" y="871007"/>
              <a:ext cx="395567" cy="140788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8193"/>
                </a:lnSpc>
                <a:spcBef>
                  <a:spcPct val="0"/>
                </a:spcBef>
              </a:pPr>
              <a:r>
                <a:rPr lang="en-US" sz="5852">
                  <a:solidFill>
                    <a:srgbClr val="000000"/>
                  </a:solidFill>
                  <a:latin typeface="Impact"/>
                  <a:ea typeface="Impact"/>
                  <a:cs typeface="Impact"/>
                  <a:sym typeface="Impact"/>
                </a:rPr>
                <a:t>6</a:t>
              </a:r>
            </a:p>
          </p:txBody>
        </p:sp>
        <p:sp>
          <p:nvSpPr>
            <p:cNvPr name="TextBox 81" id="81"/>
            <p:cNvSpPr txBox="true"/>
            <p:nvPr/>
          </p:nvSpPr>
          <p:spPr>
            <a:xfrm rot="0">
              <a:off x="3148115" y="-542925"/>
              <a:ext cx="1233299" cy="335335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9407"/>
                </a:lnSpc>
                <a:spcBef>
                  <a:spcPct val="0"/>
                </a:spcBef>
              </a:pPr>
              <a:r>
                <a:rPr lang="en-US" sz="13862">
                  <a:solidFill>
                    <a:srgbClr val="000000"/>
                  </a:solidFill>
                  <a:latin typeface="Impact"/>
                  <a:ea typeface="Impact"/>
                  <a:cs typeface="Impact"/>
                  <a:sym typeface="Impact"/>
                </a:rPr>
                <a:t>)</a:t>
              </a:r>
            </a:p>
          </p:txBody>
        </p:sp>
        <p:sp>
          <p:nvSpPr>
            <p:cNvPr name="TextBox 82" id="82"/>
            <p:cNvSpPr txBox="true"/>
            <p:nvPr/>
          </p:nvSpPr>
          <p:spPr>
            <a:xfrm rot="0">
              <a:off x="0" y="-542925"/>
              <a:ext cx="1733716" cy="335335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9407"/>
                </a:lnSpc>
                <a:spcBef>
                  <a:spcPct val="0"/>
                </a:spcBef>
              </a:pPr>
              <a:r>
                <a:rPr lang="en-US" sz="13862">
                  <a:solidFill>
                    <a:srgbClr val="000000"/>
                  </a:solidFill>
                  <a:latin typeface="Impact"/>
                  <a:ea typeface="Impact"/>
                  <a:cs typeface="Impact"/>
                  <a:sym typeface="Impact"/>
                </a:rPr>
                <a:t>(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3E4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63023" y="1414346"/>
            <a:ext cx="8565953" cy="5366374"/>
            <a:chOff x="0" y="0"/>
            <a:chExt cx="11421271" cy="7155165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232350"/>
              <a:ext cx="5556832" cy="3078532"/>
              <a:chOff x="0" y="0"/>
              <a:chExt cx="635000" cy="351795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635000" cy="351795"/>
              </a:xfrm>
              <a:custGeom>
                <a:avLst/>
                <a:gdLst/>
                <a:ahLst/>
                <a:cxnLst/>
                <a:rect r="r" b="b" t="t" l="l"/>
                <a:pathLst>
                  <a:path h="351795" w="635000">
                    <a:moveTo>
                      <a:pt x="42087" y="0"/>
                    </a:moveTo>
                    <a:lnTo>
                      <a:pt x="592913" y="0"/>
                    </a:lnTo>
                    <a:cubicBezTo>
                      <a:pt x="616157" y="0"/>
                      <a:pt x="635000" y="18843"/>
                      <a:pt x="635000" y="42087"/>
                    </a:cubicBezTo>
                    <a:lnTo>
                      <a:pt x="635000" y="309708"/>
                    </a:lnTo>
                    <a:cubicBezTo>
                      <a:pt x="635000" y="332952"/>
                      <a:pt x="616157" y="351795"/>
                      <a:pt x="592913" y="351795"/>
                    </a:cubicBezTo>
                    <a:lnTo>
                      <a:pt x="42087" y="351795"/>
                    </a:lnTo>
                    <a:cubicBezTo>
                      <a:pt x="18843" y="351795"/>
                      <a:pt x="0" y="332952"/>
                      <a:pt x="0" y="309708"/>
                    </a:cubicBezTo>
                    <a:lnTo>
                      <a:pt x="0" y="42087"/>
                    </a:lnTo>
                    <a:cubicBezTo>
                      <a:pt x="0" y="18843"/>
                      <a:pt x="18843" y="0"/>
                      <a:pt x="4208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rnd">
                <a:noFill/>
                <a:prstDash val="sysDot"/>
                <a:round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38100"/>
                <a:ext cx="635000" cy="38989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820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849109" y="0"/>
              <a:ext cx="3799999" cy="495222"/>
              <a:chOff x="0" y="0"/>
              <a:chExt cx="1061224" cy="138301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1061224" cy="138301"/>
              </a:xfrm>
              <a:custGeom>
                <a:avLst/>
                <a:gdLst/>
                <a:ahLst/>
                <a:cxnLst/>
                <a:rect r="r" b="b" t="t" l="l"/>
                <a:pathLst>
                  <a:path h="138301" w="1061224">
                    <a:moveTo>
                      <a:pt x="69150" y="0"/>
                    </a:moveTo>
                    <a:lnTo>
                      <a:pt x="992073" y="0"/>
                    </a:lnTo>
                    <a:cubicBezTo>
                      <a:pt x="1010413" y="0"/>
                      <a:pt x="1028002" y="7285"/>
                      <a:pt x="1040970" y="20254"/>
                    </a:cubicBezTo>
                    <a:cubicBezTo>
                      <a:pt x="1053938" y="33222"/>
                      <a:pt x="1061224" y="50810"/>
                      <a:pt x="1061224" y="69150"/>
                    </a:cubicBezTo>
                    <a:lnTo>
                      <a:pt x="1061224" y="69150"/>
                    </a:lnTo>
                    <a:cubicBezTo>
                      <a:pt x="1061224" y="87490"/>
                      <a:pt x="1053938" y="105079"/>
                      <a:pt x="1040970" y="118047"/>
                    </a:cubicBezTo>
                    <a:cubicBezTo>
                      <a:pt x="1028002" y="131015"/>
                      <a:pt x="1010413" y="138301"/>
                      <a:pt x="992073" y="138301"/>
                    </a:cubicBezTo>
                    <a:lnTo>
                      <a:pt x="69150" y="138301"/>
                    </a:lnTo>
                    <a:cubicBezTo>
                      <a:pt x="50810" y="138301"/>
                      <a:pt x="33222" y="131015"/>
                      <a:pt x="20254" y="118047"/>
                    </a:cubicBezTo>
                    <a:cubicBezTo>
                      <a:pt x="7285" y="105079"/>
                      <a:pt x="0" y="87490"/>
                      <a:pt x="0" y="69150"/>
                    </a:cubicBezTo>
                    <a:lnTo>
                      <a:pt x="0" y="69150"/>
                    </a:lnTo>
                    <a:cubicBezTo>
                      <a:pt x="0" y="50810"/>
                      <a:pt x="7285" y="33222"/>
                      <a:pt x="20254" y="20254"/>
                    </a:cubicBezTo>
                    <a:cubicBezTo>
                      <a:pt x="33222" y="7285"/>
                      <a:pt x="50810" y="0"/>
                      <a:pt x="69150" y="0"/>
                    </a:cubicBezTo>
                    <a:close/>
                  </a:path>
                </a:pathLst>
              </a:custGeom>
              <a:solidFill>
                <a:srgbClr val="004AAD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38100"/>
                <a:ext cx="1061224" cy="176401"/>
              </a:xfrm>
              <a:prstGeom prst="rect">
                <a:avLst/>
              </a:prstGeom>
            </p:spPr>
            <p:txBody>
              <a:bodyPr anchor="ctr" rtlCol="false" tIns="48892" lIns="48892" bIns="48892" rIns="48892"/>
              <a:lstStyle/>
              <a:p>
                <a:pPr algn="ctr">
                  <a:lnSpc>
                    <a:spcPts val="1820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9" id="9"/>
            <p:cNvSpPr txBox="true"/>
            <p:nvPr/>
          </p:nvSpPr>
          <p:spPr>
            <a:xfrm rot="0">
              <a:off x="994956" y="8931"/>
              <a:ext cx="3436342" cy="42994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701"/>
                </a:lnSpc>
                <a:spcBef>
                  <a:spcPct val="0"/>
                </a:spcBef>
              </a:pPr>
              <a:r>
                <a:rPr lang="en-US" sz="1929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Molecular Formula</a:t>
              </a:r>
            </a:p>
          </p:txBody>
        </p:sp>
        <p:grpSp>
          <p:nvGrpSpPr>
            <p:cNvPr name="Group 10" id="10"/>
            <p:cNvGrpSpPr/>
            <p:nvPr/>
          </p:nvGrpSpPr>
          <p:grpSpPr>
            <a:xfrm rot="0">
              <a:off x="5864439" y="232350"/>
              <a:ext cx="5556832" cy="3078532"/>
              <a:chOff x="0" y="0"/>
              <a:chExt cx="635000" cy="351795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635000" cy="351795"/>
              </a:xfrm>
              <a:custGeom>
                <a:avLst/>
                <a:gdLst/>
                <a:ahLst/>
                <a:cxnLst/>
                <a:rect r="r" b="b" t="t" l="l"/>
                <a:pathLst>
                  <a:path h="351795" w="635000">
                    <a:moveTo>
                      <a:pt x="42087" y="0"/>
                    </a:moveTo>
                    <a:lnTo>
                      <a:pt x="592913" y="0"/>
                    </a:lnTo>
                    <a:cubicBezTo>
                      <a:pt x="616157" y="0"/>
                      <a:pt x="635000" y="18843"/>
                      <a:pt x="635000" y="42087"/>
                    </a:cubicBezTo>
                    <a:lnTo>
                      <a:pt x="635000" y="309708"/>
                    </a:lnTo>
                    <a:cubicBezTo>
                      <a:pt x="635000" y="332952"/>
                      <a:pt x="616157" y="351795"/>
                      <a:pt x="592913" y="351795"/>
                    </a:cubicBezTo>
                    <a:lnTo>
                      <a:pt x="42087" y="351795"/>
                    </a:lnTo>
                    <a:cubicBezTo>
                      <a:pt x="18843" y="351795"/>
                      <a:pt x="0" y="332952"/>
                      <a:pt x="0" y="309708"/>
                    </a:cubicBezTo>
                    <a:lnTo>
                      <a:pt x="0" y="42087"/>
                    </a:lnTo>
                    <a:cubicBezTo>
                      <a:pt x="0" y="18843"/>
                      <a:pt x="18843" y="0"/>
                      <a:pt x="4208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rnd">
                <a:noFill/>
                <a:prstDash val="sysDot"/>
                <a:round/>
              </a:ln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28575"/>
                <a:ext cx="635000" cy="38037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60"/>
                  </a:lnSpc>
                </a:pPr>
              </a:p>
            </p:txBody>
          </p:sp>
        </p:grpSp>
        <p:grpSp>
          <p:nvGrpSpPr>
            <p:cNvPr name="Group 13" id="13"/>
            <p:cNvGrpSpPr/>
            <p:nvPr/>
          </p:nvGrpSpPr>
          <p:grpSpPr>
            <a:xfrm rot="0">
              <a:off x="6713548" y="0"/>
              <a:ext cx="3799999" cy="495222"/>
              <a:chOff x="0" y="0"/>
              <a:chExt cx="1061224" cy="138301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1061224" cy="138301"/>
              </a:xfrm>
              <a:custGeom>
                <a:avLst/>
                <a:gdLst/>
                <a:ahLst/>
                <a:cxnLst/>
                <a:rect r="r" b="b" t="t" l="l"/>
                <a:pathLst>
                  <a:path h="138301" w="1061224">
                    <a:moveTo>
                      <a:pt x="69150" y="0"/>
                    </a:moveTo>
                    <a:lnTo>
                      <a:pt x="992073" y="0"/>
                    </a:lnTo>
                    <a:cubicBezTo>
                      <a:pt x="1010413" y="0"/>
                      <a:pt x="1028002" y="7285"/>
                      <a:pt x="1040970" y="20254"/>
                    </a:cubicBezTo>
                    <a:cubicBezTo>
                      <a:pt x="1053938" y="33222"/>
                      <a:pt x="1061224" y="50810"/>
                      <a:pt x="1061224" y="69150"/>
                    </a:cubicBezTo>
                    <a:lnTo>
                      <a:pt x="1061224" y="69150"/>
                    </a:lnTo>
                    <a:cubicBezTo>
                      <a:pt x="1061224" y="87490"/>
                      <a:pt x="1053938" y="105079"/>
                      <a:pt x="1040970" y="118047"/>
                    </a:cubicBezTo>
                    <a:cubicBezTo>
                      <a:pt x="1028002" y="131015"/>
                      <a:pt x="1010413" y="138301"/>
                      <a:pt x="992073" y="138301"/>
                    </a:cubicBezTo>
                    <a:lnTo>
                      <a:pt x="69150" y="138301"/>
                    </a:lnTo>
                    <a:cubicBezTo>
                      <a:pt x="50810" y="138301"/>
                      <a:pt x="33222" y="131015"/>
                      <a:pt x="20254" y="118047"/>
                    </a:cubicBezTo>
                    <a:cubicBezTo>
                      <a:pt x="7285" y="105079"/>
                      <a:pt x="0" y="87490"/>
                      <a:pt x="0" y="69150"/>
                    </a:cubicBezTo>
                    <a:lnTo>
                      <a:pt x="0" y="69150"/>
                    </a:lnTo>
                    <a:cubicBezTo>
                      <a:pt x="0" y="50810"/>
                      <a:pt x="7285" y="33222"/>
                      <a:pt x="20254" y="20254"/>
                    </a:cubicBezTo>
                    <a:cubicBezTo>
                      <a:pt x="33222" y="7285"/>
                      <a:pt x="50810" y="0"/>
                      <a:pt x="69150" y="0"/>
                    </a:cubicBezTo>
                    <a:close/>
                  </a:path>
                </a:pathLst>
              </a:custGeom>
              <a:solidFill>
                <a:srgbClr val="004AAD"/>
              </a:solidFill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0" y="-28575"/>
                <a:ext cx="1061224" cy="166876"/>
              </a:xfrm>
              <a:prstGeom prst="rect">
                <a:avLst/>
              </a:prstGeom>
            </p:spPr>
            <p:txBody>
              <a:bodyPr anchor="ctr" rtlCol="false" tIns="48892" lIns="48892" bIns="48892" rIns="48892"/>
              <a:lstStyle/>
              <a:p>
                <a:pPr algn="ctr">
                  <a:lnSpc>
                    <a:spcPts val="1960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16" id="16"/>
            <p:cNvSpPr txBox="true"/>
            <p:nvPr/>
          </p:nvSpPr>
          <p:spPr>
            <a:xfrm rot="0">
              <a:off x="6859395" y="8931"/>
              <a:ext cx="3436342" cy="42994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701"/>
                </a:lnSpc>
                <a:spcBef>
                  <a:spcPct val="0"/>
                </a:spcBef>
              </a:pPr>
              <a:r>
                <a:rPr lang="en-US" sz="1929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Lewis Structure</a:t>
              </a:r>
            </a:p>
          </p:txBody>
        </p:sp>
        <p:grpSp>
          <p:nvGrpSpPr>
            <p:cNvPr name="Group 17" id="17"/>
            <p:cNvGrpSpPr/>
            <p:nvPr/>
          </p:nvGrpSpPr>
          <p:grpSpPr>
            <a:xfrm rot="0">
              <a:off x="0" y="4076632"/>
              <a:ext cx="5556832" cy="3078532"/>
              <a:chOff x="0" y="0"/>
              <a:chExt cx="635000" cy="351795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635000" cy="351795"/>
              </a:xfrm>
              <a:custGeom>
                <a:avLst/>
                <a:gdLst/>
                <a:ahLst/>
                <a:cxnLst/>
                <a:rect r="r" b="b" t="t" l="l"/>
                <a:pathLst>
                  <a:path h="351795" w="635000">
                    <a:moveTo>
                      <a:pt x="42087" y="0"/>
                    </a:moveTo>
                    <a:lnTo>
                      <a:pt x="592913" y="0"/>
                    </a:lnTo>
                    <a:cubicBezTo>
                      <a:pt x="616157" y="0"/>
                      <a:pt x="635000" y="18843"/>
                      <a:pt x="635000" y="42087"/>
                    </a:cubicBezTo>
                    <a:lnTo>
                      <a:pt x="635000" y="309708"/>
                    </a:lnTo>
                    <a:cubicBezTo>
                      <a:pt x="635000" y="332952"/>
                      <a:pt x="616157" y="351795"/>
                      <a:pt x="592913" y="351795"/>
                    </a:cubicBezTo>
                    <a:lnTo>
                      <a:pt x="42087" y="351795"/>
                    </a:lnTo>
                    <a:cubicBezTo>
                      <a:pt x="18843" y="351795"/>
                      <a:pt x="0" y="332952"/>
                      <a:pt x="0" y="309708"/>
                    </a:cubicBezTo>
                    <a:lnTo>
                      <a:pt x="0" y="42087"/>
                    </a:lnTo>
                    <a:cubicBezTo>
                      <a:pt x="0" y="18843"/>
                      <a:pt x="18843" y="0"/>
                      <a:pt x="4208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rnd">
                <a:noFill/>
                <a:prstDash val="sysDot"/>
                <a:round/>
              </a:ln>
            </p:spPr>
          </p:sp>
          <p:sp>
            <p:nvSpPr>
              <p:cNvPr name="TextBox 19" id="19"/>
              <p:cNvSpPr txBox="true"/>
              <p:nvPr/>
            </p:nvSpPr>
            <p:spPr>
              <a:xfrm>
                <a:off x="0" y="-28575"/>
                <a:ext cx="635000" cy="38037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60"/>
                  </a:lnSpc>
                </a:pPr>
              </a:p>
            </p:txBody>
          </p:sp>
        </p:grpSp>
        <p:grpSp>
          <p:nvGrpSpPr>
            <p:cNvPr name="Group 20" id="20"/>
            <p:cNvGrpSpPr/>
            <p:nvPr/>
          </p:nvGrpSpPr>
          <p:grpSpPr>
            <a:xfrm rot="0">
              <a:off x="510787" y="3891314"/>
              <a:ext cx="4535257" cy="495222"/>
              <a:chOff x="0" y="0"/>
              <a:chExt cx="1266559" cy="138301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0" y="0"/>
                <a:ext cx="1266559" cy="138301"/>
              </a:xfrm>
              <a:custGeom>
                <a:avLst/>
                <a:gdLst/>
                <a:ahLst/>
                <a:cxnLst/>
                <a:rect r="r" b="b" t="t" l="l"/>
                <a:pathLst>
                  <a:path h="138301" w="1266559">
                    <a:moveTo>
                      <a:pt x="69150" y="0"/>
                    </a:moveTo>
                    <a:lnTo>
                      <a:pt x="1197409" y="0"/>
                    </a:lnTo>
                    <a:cubicBezTo>
                      <a:pt x="1235599" y="0"/>
                      <a:pt x="1266559" y="30960"/>
                      <a:pt x="1266559" y="69150"/>
                    </a:cubicBezTo>
                    <a:lnTo>
                      <a:pt x="1266559" y="69150"/>
                    </a:lnTo>
                    <a:cubicBezTo>
                      <a:pt x="1266559" y="87490"/>
                      <a:pt x="1259273" y="105079"/>
                      <a:pt x="1246305" y="118047"/>
                    </a:cubicBezTo>
                    <a:cubicBezTo>
                      <a:pt x="1233337" y="131015"/>
                      <a:pt x="1215748" y="138301"/>
                      <a:pt x="1197409" y="138301"/>
                    </a:cubicBezTo>
                    <a:lnTo>
                      <a:pt x="69150" y="138301"/>
                    </a:lnTo>
                    <a:cubicBezTo>
                      <a:pt x="50810" y="138301"/>
                      <a:pt x="33222" y="131015"/>
                      <a:pt x="20254" y="118047"/>
                    </a:cubicBezTo>
                    <a:cubicBezTo>
                      <a:pt x="7285" y="105079"/>
                      <a:pt x="0" y="87490"/>
                      <a:pt x="0" y="69150"/>
                    </a:cubicBezTo>
                    <a:lnTo>
                      <a:pt x="0" y="69150"/>
                    </a:lnTo>
                    <a:cubicBezTo>
                      <a:pt x="0" y="50810"/>
                      <a:pt x="7285" y="33222"/>
                      <a:pt x="20254" y="20254"/>
                    </a:cubicBezTo>
                    <a:cubicBezTo>
                      <a:pt x="33222" y="7285"/>
                      <a:pt x="50810" y="0"/>
                      <a:pt x="69150" y="0"/>
                    </a:cubicBezTo>
                    <a:close/>
                  </a:path>
                </a:pathLst>
              </a:custGeom>
              <a:solidFill>
                <a:srgbClr val="004AAD"/>
              </a:solidFill>
            </p:spPr>
          </p:sp>
          <p:sp>
            <p:nvSpPr>
              <p:cNvPr name="TextBox 22" id="22"/>
              <p:cNvSpPr txBox="true"/>
              <p:nvPr/>
            </p:nvSpPr>
            <p:spPr>
              <a:xfrm>
                <a:off x="0" y="-28575"/>
                <a:ext cx="1266559" cy="166876"/>
              </a:xfrm>
              <a:prstGeom prst="rect">
                <a:avLst/>
              </a:prstGeom>
            </p:spPr>
            <p:txBody>
              <a:bodyPr anchor="ctr" rtlCol="false" tIns="48892" lIns="48892" bIns="48892" rIns="48892"/>
              <a:lstStyle/>
              <a:p>
                <a:pPr algn="ctr">
                  <a:lnSpc>
                    <a:spcPts val="1960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23" id="23"/>
            <p:cNvSpPr txBox="true"/>
            <p:nvPr/>
          </p:nvSpPr>
          <p:spPr>
            <a:xfrm rot="0">
              <a:off x="636817" y="3937400"/>
              <a:ext cx="4283198" cy="3649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315"/>
                </a:lnSpc>
                <a:spcBef>
                  <a:spcPct val="0"/>
                </a:spcBef>
              </a:pPr>
              <a:r>
                <a:rPr lang="en-US" sz="1653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Condensed Structural Formula</a:t>
              </a:r>
            </a:p>
          </p:txBody>
        </p:sp>
        <p:grpSp>
          <p:nvGrpSpPr>
            <p:cNvPr name="Group 24" id="24"/>
            <p:cNvGrpSpPr/>
            <p:nvPr/>
          </p:nvGrpSpPr>
          <p:grpSpPr>
            <a:xfrm rot="0">
              <a:off x="5864439" y="4076632"/>
              <a:ext cx="5556832" cy="3078532"/>
              <a:chOff x="0" y="0"/>
              <a:chExt cx="635000" cy="351795"/>
            </a:xfrm>
          </p:grpSpPr>
          <p:sp>
            <p:nvSpPr>
              <p:cNvPr name="Freeform 25" id="25"/>
              <p:cNvSpPr/>
              <p:nvPr/>
            </p:nvSpPr>
            <p:spPr>
              <a:xfrm flipH="false" flipV="false" rot="0">
                <a:off x="0" y="0"/>
                <a:ext cx="635000" cy="351795"/>
              </a:xfrm>
              <a:custGeom>
                <a:avLst/>
                <a:gdLst/>
                <a:ahLst/>
                <a:cxnLst/>
                <a:rect r="r" b="b" t="t" l="l"/>
                <a:pathLst>
                  <a:path h="351795" w="635000">
                    <a:moveTo>
                      <a:pt x="42087" y="0"/>
                    </a:moveTo>
                    <a:lnTo>
                      <a:pt x="592913" y="0"/>
                    </a:lnTo>
                    <a:cubicBezTo>
                      <a:pt x="616157" y="0"/>
                      <a:pt x="635000" y="18843"/>
                      <a:pt x="635000" y="42087"/>
                    </a:cubicBezTo>
                    <a:lnTo>
                      <a:pt x="635000" y="309708"/>
                    </a:lnTo>
                    <a:cubicBezTo>
                      <a:pt x="635000" y="332952"/>
                      <a:pt x="616157" y="351795"/>
                      <a:pt x="592913" y="351795"/>
                    </a:cubicBezTo>
                    <a:lnTo>
                      <a:pt x="42087" y="351795"/>
                    </a:lnTo>
                    <a:cubicBezTo>
                      <a:pt x="18843" y="351795"/>
                      <a:pt x="0" y="332952"/>
                      <a:pt x="0" y="309708"/>
                    </a:cubicBezTo>
                    <a:lnTo>
                      <a:pt x="0" y="42087"/>
                    </a:lnTo>
                    <a:cubicBezTo>
                      <a:pt x="0" y="18843"/>
                      <a:pt x="18843" y="0"/>
                      <a:pt x="4208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rnd">
                <a:noFill/>
                <a:prstDash val="sysDot"/>
                <a:round/>
              </a:ln>
            </p:spPr>
          </p:sp>
          <p:sp>
            <p:nvSpPr>
              <p:cNvPr name="TextBox 26" id="26"/>
              <p:cNvSpPr txBox="true"/>
              <p:nvPr/>
            </p:nvSpPr>
            <p:spPr>
              <a:xfrm>
                <a:off x="0" y="-28575"/>
                <a:ext cx="635000" cy="38037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60"/>
                  </a:lnSpc>
                </a:pPr>
              </a:p>
            </p:txBody>
          </p:sp>
        </p:grpSp>
        <p:grpSp>
          <p:nvGrpSpPr>
            <p:cNvPr name="Group 27" id="27"/>
            <p:cNvGrpSpPr/>
            <p:nvPr/>
          </p:nvGrpSpPr>
          <p:grpSpPr>
            <a:xfrm rot="0">
              <a:off x="6713548" y="3844282"/>
              <a:ext cx="3799999" cy="495222"/>
              <a:chOff x="0" y="0"/>
              <a:chExt cx="1061224" cy="138301"/>
            </a:xfrm>
          </p:grpSpPr>
          <p:sp>
            <p:nvSpPr>
              <p:cNvPr name="Freeform 28" id="28"/>
              <p:cNvSpPr/>
              <p:nvPr/>
            </p:nvSpPr>
            <p:spPr>
              <a:xfrm flipH="false" flipV="false" rot="0">
                <a:off x="0" y="0"/>
                <a:ext cx="1061224" cy="138301"/>
              </a:xfrm>
              <a:custGeom>
                <a:avLst/>
                <a:gdLst/>
                <a:ahLst/>
                <a:cxnLst/>
                <a:rect r="r" b="b" t="t" l="l"/>
                <a:pathLst>
                  <a:path h="138301" w="1061224">
                    <a:moveTo>
                      <a:pt x="69150" y="0"/>
                    </a:moveTo>
                    <a:lnTo>
                      <a:pt x="992073" y="0"/>
                    </a:lnTo>
                    <a:cubicBezTo>
                      <a:pt x="1010413" y="0"/>
                      <a:pt x="1028002" y="7285"/>
                      <a:pt x="1040970" y="20254"/>
                    </a:cubicBezTo>
                    <a:cubicBezTo>
                      <a:pt x="1053938" y="33222"/>
                      <a:pt x="1061224" y="50810"/>
                      <a:pt x="1061224" y="69150"/>
                    </a:cubicBezTo>
                    <a:lnTo>
                      <a:pt x="1061224" y="69150"/>
                    </a:lnTo>
                    <a:cubicBezTo>
                      <a:pt x="1061224" y="87490"/>
                      <a:pt x="1053938" y="105079"/>
                      <a:pt x="1040970" y="118047"/>
                    </a:cubicBezTo>
                    <a:cubicBezTo>
                      <a:pt x="1028002" y="131015"/>
                      <a:pt x="1010413" y="138301"/>
                      <a:pt x="992073" y="138301"/>
                    </a:cubicBezTo>
                    <a:lnTo>
                      <a:pt x="69150" y="138301"/>
                    </a:lnTo>
                    <a:cubicBezTo>
                      <a:pt x="50810" y="138301"/>
                      <a:pt x="33222" y="131015"/>
                      <a:pt x="20254" y="118047"/>
                    </a:cubicBezTo>
                    <a:cubicBezTo>
                      <a:pt x="7285" y="105079"/>
                      <a:pt x="0" y="87490"/>
                      <a:pt x="0" y="69150"/>
                    </a:cubicBezTo>
                    <a:lnTo>
                      <a:pt x="0" y="69150"/>
                    </a:lnTo>
                    <a:cubicBezTo>
                      <a:pt x="0" y="50810"/>
                      <a:pt x="7285" y="33222"/>
                      <a:pt x="20254" y="20254"/>
                    </a:cubicBezTo>
                    <a:cubicBezTo>
                      <a:pt x="33222" y="7285"/>
                      <a:pt x="50810" y="0"/>
                      <a:pt x="69150" y="0"/>
                    </a:cubicBezTo>
                    <a:close/>
                  </a:path>
                </a:pathLst>
              </a:custGeom>
              <a:solidFill>
                <a:srgbClr val="004AAD"/>
              </a:solidFill>
            </p:spPr>
          </p:sp>
          <p:sp>
            <p:nvSpPr>
              <p:cNvPr name="TextBox 29" id="29"/>
              <p:cNvSpPr txBox="true"/>
              <p:nvPr/>
            </p:nvSpPr>
            <p:spPr>
              <a:xfrm>
                <a:off x="0" y="-28575"/>
                <a:ext cx="1061224" cy="166876"/>
              </a:xfrm>
              <a:prstGeom prst="rect">
                <a:avLst/>
              </a:prstGeom>
            </p:spPr>
            <p:txBody>
              <a:bodyPr anchor="ctr" rtlCol="false" tIns="48892" lIns="48892" bIns="48892" rIns="48892"/>
              <a:lstStyle/>
              <a:p>
                <a:pPr algn="ctr">
                  <a:lnSpc>
                    <a:spcPts val="1960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30" id="30"/>
            <p:cNvSpPr txBox="true"/>
            <p:nvPr/>
          </p:nvSpPr>
          <p:spPr>
            <a:xfrm rot="0">
              <a:off x="6924684" y="3853214"/>
              <a:ext cx="3436342" cy="42994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701"/>
                </a:lnSpc>
                <a:spcBef>
                  <a:spcPct val="0"/>
                </a:spcBef>
              </a:pPr>
              <a:r>
                <a:rPr lang="en-US" sz="1929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Bond-Line Structure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051506" y="366072"/>
            <a:ext cx="8588987" cy="650546"/>
            <a:chOff x="0" y="0"/>
            <a:chExt cx="3198189" cy="242237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3198189" cy="242237"/>
            </a:xfrm>
            <a:custGeom>
              <a:avLst/>
              <a:gdLst/>
              <a:ahLst/>
              <a:cxnLst/>
              <a:rect r="r" b="b" t="t" l="l"/>
              <a:pathLst>
                <a:path h="242237" w="3198189">
                  <a:moveTo>
                    <a:pt x="0" y="0"/>
                  </a:moveTo>
                  <a:lnTo>
                    <a:pt x="3198189" y="0"/>
                  </a:lnTo>
                  <a:lnTo>
                    <a:pt x="3198189" y="242237"/>
                  </a:lnTo>
                  <a:lnTo>
                    <a:pt x="0" y="242237"/>
                  </a:ln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100000"/>
                  </a:srgbClr>
                </a:gs>
                <a:gs pos="100000">
                  <a:srgbClr val="3533CD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28575"/>
              <a:ext cx="3198189" cy="270812"/>
            </a:xfrm>
            <a:prstGeom prst="rect">
              <a:avLst/>
            </a:prstGeom>
          </p:spPr>
          <p:txBody>
            <a:bodyPr anchor="ctr" rtlCol="false" tIns="48892" lIns="48892" bIns="48892" rIns="48892"/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6603877" y="1802467"/>
            <a:ext cx="1893840" cy="2054436"/>
            <a:chOff x="0" y="0"/>
            <a:chExt cx="2525121" cy="2739248"/>
          </a:xfrm>
        </p:grpSpPr>
        <p:sp>
          <p:nvSpPr>
            <p:cNvPr name="AutoShape 35" id="35"/>
            <p:cNvSpPr/>
            <p:nvPr/>
          </p:nvSpPr>
          <p:spPr>
            <a:xfrm>
              <a:off x="1352303" y="847870"/>
              <a:ext cx="315736" cy="182290"/>
            </a:xfrm>
            <a:prstGeom prst="line">
              <a:avLst/>
            </a:prstGeom>
            <a:ln cap="flat" w="15369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36" id="36"/>
            <p:cNvSpPr txBox="true"/>
            <p:nvPr/>
          </p:nvSpPr>
          <p:spPr>
            <a:xfrm rot="0">
              <a:off x="1143235" y="625429"/>
              <a:ext cx="200563" cy="33112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105"/>
                </a:lnSpc>
                <a:spcBef>
                  <a:spcPct val="0"/>
                </a:spcBef>
              </a:pPr>
              <a:r>
                <a:rPr lang="en-US" b="true" sz="1503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C</a:t>
              </a:r>
            </a:p>
          </p:txBody>
        </p:sp>
        <p:sp>
          <p:nvSpPr>
            <p:cNvPr name="TextBox 37" id="37"/>
            <p:cNvSpPr txBox="true"/>
            <p:nvPr/>
          </p:nvSpPr>
          <p:spPr>
            <a:xfrm rot="0">
              <a:off x="1676544" y="927981"/>
              <a:ext cx="200563" cy="33112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105"/>
                </a:lnSpc>
                <a:spcBef>
                  <a:spcPct val="0"/>
                </a:spcBef>
              </a:pPr>
              <a:r>
                <a:rPr lang="en-US" b="true" sz="1503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C</a:t>
              </a:r>
            </a:p>
          </p:txBody>
        </p:sp>
        <p:sp>
          <p:nvSpPr>
            <p:cNvPr name="TextBox 38" id="38"/>
            <p:cNvSpPr txBox="true"/>
            <p:nvPr/>
          </p:nvSpPr>
          <p:spPr>
            <a:xfrm rot="0">
              <a:off x="1693815" y="1586601"/>
              <a:ext cx="200563" cy="33112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105"/>
                </a:lnSpc>
                <a:spcBef>
                  <a:spcPct val="0"/>
                </a:spcBef>
              </a:pPr>
              <a:r>
                <a:rPr lang="en-US" b="true" sz="1503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C</a:t>
              </a:r>
            </a:p>
          </p:txBody>
        </p:sp>
        <p:sp>
          <p:nvSpPr>
            <p:cNvPr name="TextBox 39" id="39"/>
            <p:cNvSpPr txBox="true"/>
            <p:nvPr/>
          </p:nvSpPr>
          <p:spPr>
            <a:xfrm rot="0">
              <a:off x="1143235" y="1889153"/>
              <a:ext cx="200563" cy="33112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105"/>
                </a:lnSpc>
                <a:spcBef>
                  <a:spcPct val="0"/>
                </a:spcBef>
              </a:pPr>
              <a:r>
                <a:rPr lang="en-US" b="true" sz="1503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C</a:t>
              </a:r>
            </a:p>
          </p:txBody>
        </p:sp>
        <p:sp>
          <p:nvSpPr>
            <p:cNvPr name="TextBox 40" id="40"/>
            <p:cNvSpPr txBox="true"/>
            <p:nvPr/>
          </p:nvSpPr>
          <p:spPr>
            <a:xfrm rot="0">
              <a:off x="587494" y="1569918"/>
              <a:ext cx="200563" cy="33112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105"/>
                </a:lnSpc>
                <a:spcBef>
                  <a:spcPct val="0"/>
                </a:spcBef>
              </a:pPr>
              <a:r>
                <a:rPr lang="en-US" b="true" sz="1503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C</a:t>
              </a:r>
            </a:p>
          </p:txBody>
        </p:sp>
        <p:sp>
          <p:nvSpPr>
            <p:cNvPr name="TextBox 41" id="41"/>
            <p:cNvSpPr txBox="true"/>
            <p:nvPr/>
          </p:nvSpPr>
          <p:spPr>
            <a:xfrm rot="0">
              <a:off x="587494" y="948131"/>
              <a:ext cx="200563" cy="33112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105"/>
                </a:lnSpc>
                <a:spcBef>
                  <a:spcPct val="0"/>
                </a:spcBef>
              </a:pPr>
              <a:r>
                <a:rPr lang="en-US" b="true" sz="1503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C</a:t>
              </a:r>
            </a:p>
          </p:txBody>
        </p:sp>
        <p:sp>
          <p:nvSpPr>
            <p:cNvPr name="AutoShape 42" id="42"/>
            <p:cNvSpPr/>
            <p:nvPr/>
          </p:nvSpPr>
          <p:spPr>
            <a:xfrm>
              <a:off x="1801781" y="1250595"/>
              <a:ext cx="0" cy="364581"/>
            </a:xfrm>
            <a:prstGeom prst="line">
              <a:avLst/>
            </a:prstGeom>
            <a:ln cap="flat" w="15369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43" id="43"/>
            <p:cNvSpPr/>
            <p:nvPr/>
          </p:nvSpPr>
          <p:spPr>
            <a:xfrm flipV="true">
              <a:off x="1356145" y="1853423"/>
              <a:ext cx="315736" cy="182290"/>
            </a:xfrm>
            <a:prstGeom prst="line">
              <a:avLst/>
            </a:prstGeom>
            <a:ln cap="flat" w="15369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44" id="44"/>
            <p:cNvSpPr/>
            <p:nvPr/>
          </p:nvSpPr>
          <p:spPr>
            <a:xfrm>
              <a:off x="806178" y="1843690"/>
              <a:ext cx="315736" cy="182290"/>
            </a:xfrm>
            <a:prstGeom prst="line">
              <a:avLst/>
            </a:prstGeom>
            <a:ln cap="flat" w="15369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45" id="45"/>
            <p:cNvSpPr/>
            <p:nvPr/>
          </p:nvSpPr>
          <p:spPr>
            <a:xfrm>
              <a:off x="680091" y="1250595"/>
              <a:ext cx="0" cy="364581"/>
            </a:xfrm>
            <a:prstGeom prst="line">
              <a:avLst/>
            </a:prstGeom>
            <a:ln cap="flat" w="15369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46" id="46"/>
            <p:cNvSpPr/>
            <p:nvPr/>
          </p:nvSpPr>
          <p:spPr>
            <a:xfrm flipV="true">
              <a:off x="819814" y="854525"/>
              <a:ext cx="315736" cy="182290"/>
            </a:xfrm>
            <a:prstGeom prst="line">
              <a:avLst/>
            </a:prstGeom>
            <a:ln cap="flat" w="15369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47" id="47"/>
            <p:cNvSpPr/>
            <p:nvPr/>
          </p:nvSpPr>
          <p:spPr>
            <a:xfrm flipH="true" flipV="true">
              <a:off x="293842" y="843915"/>
              <a:ext cx="288572" cy="254172"/>
            </a:xfrm>
            <a:prstGeom prst="line">
              <a:avLst/>
            </a:prstGeom>
            <a:ln cap="flat" w="15369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48" id="48"/>
            <p:cNvSpPr/>
            <p:nvPr/>
          </p:nvSpPr>
          <p:spPr>
            <a:xfrm flipH="true">
              <a:off x="200563" y="1158566"/>
              <a:ext cx="380778" cy="53721"/>
            </a:xfrm>
            <a:prstGeom prst="line">
              <a:avLst/>
            </a:prstGeom>
            <a:ln cap="flat" w="15369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49" id="49"/>
            <p:cNvSpPr/>
            <p:nvPr/>
          </p:nvSpPr>
          <p:spPr>
            <a:xfrm>
              <a:off x="1894749" y="1136305"/>
              <a:ext cx="375353" cy="83591"/>
            </a:xfrm>
            <a:prstGeom prst="line">
              <a:avLst/>
            </a:prstGeom>
            <a:ln cap="flat" w="15369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50" id="50"/>
            <p:cNvSpPr/>
            <p:nvPr/>
          </p:nvSpPr>
          <p:spPr>
            <a:xfrm flipV="true">
              <a:off x="1893079" y="879851"/>
              <a:ext cx="326515" cy="203140"/>
            </a:xfrm>
            <a:prstGeom prst="line">
              <a:avLst/>
            </a:prstGeom>
            <a:ln cap="flat" w="15369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51" id="51"/>
            <p:cNvSpPr/>
            <p:nvPr/>
          </p:nvSpPr>
          <p:spPr>
            <a:xfrm flipH="true" flipV="true">
              <a:off x="236108" y="1562712"/>
              <a:ext cx="348121" cy="163369"/>
            </a:xfrm>
            <a:prstGeom prst="line">
              <a:avLst/>
            </a:prstGeom>
            <a:ln cap="flat" w="15369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52" id="52"/>
            <p:cNvSpPr/>
            <p:nvPr/>
          </p:nvSpPr>
          <p:spPr>
            <a:xfrm flipH="true">
              <a:off x="213213" y="1801953"/>
              <a:ext cx="372362" cy="96044"/>
            </a:xfrm>
            <a:prstGeom prst="line">
              <a:avLst/>
            </a:prstGeom>
            <a:ln cap="flat" w="15369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53" id="53"/>
            <p:cNvSpPr/>
            <p:nvPr/>
          </p:nvSpPr>
          <p:spPr>
            <a:xfrm flipH="true">
              <a:off x="950670" y="2216516"/>
              <a:ext cx="285110" cy="258051"/>
            </a:xfrm>
            <a:prstGeom prst="line">
              <a:avLst/>
            </a:prstGeom>
            <a:ln cap="flat" w="15369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54" id="54"/>
            <p:cNvSpPr/>
            <p:nvPr/>
          </p:nvSpPr>
          <p:spPr>
            <a:xfrm flipH="true" flipV="true">
              <a:off x="1288747" y="2222218"/>
              <a:ext cx="285326" cy="257812"/>
            </a:xfrm>
            <a:prstGeom prst="line">
              <a:avLst/>
            </a:prstGeom>
            <a:ln cap="flat" w="15369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55" id="55"/>
            <p:cNvSpPr/>
            <p:nvPr/>
          </p:nvSpPr>
          <p:spPr>
            <a:xfrm>
              <a:off x="1935468" y="1806906"/>
              <a:ext cx="375353" cy="83591"/>
            </a:xfrm>
            <a:prstGeom prst="line">
              <a:avLst/>
            </a:prstGeom>
            <a:ln cap="flat" w="15369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56" id="56"/>
            <p:cNvSpPr/>
            <p:nvPr/>
          </p:nvSpPr>
          <p:spPr>
            <a:xfrm flipV="true">
              <a:off x="1933797" y="1550452"/>
              <a:ext cx="326515" cy="203140"/>
            </a:xfrm>
            <a:prstGeom prst="line">
              <a:avLst/>
            </a:prstGeom>
            <a:ln cap="flat" w="15369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57" id="57"/>
            <p:cNvSpPr txBox="true"/>
            <p:nvPr/>
          </p:nvSpPr>
          <p:spPr>
            <a:xfrm rot="0">
              <a:off x="75961" y="606358"/>
              <a:ext cx="200563" cy="33112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105"/>
                </a:lnSpc>
                <a:spcBef>
                  <a:spcPct val="0"/>
                </a:spcBef>
              </a:pPr>
              <a:r>
                <a:rPr lang="en-US" b="true" sz="1503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H</a:t>
              </a:r>
            </a:p>
          </p:txBody>
        </p:sp>
        <p:sp>
          <p:nvSpPr>
            <p:cNvPr name="TextBox 58" id="58"/>
            <p:cNvSpPr txBox="true"/>
            <p:nvPr/>
          </p:nvSpPr>
          <p:spPr>
            <a:xfrm rot="0">
              <a:off x="2277443" y="658526"/>
              <a:ext cx="200563" cy="33112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105"/>
                </a:lnSpc>
                <a:spcBef>
                  <a:spcPct val="0"/>
                </a:spcBef>
              </a:pPr>
              <a:r>
                <a:rPr lang="en-US" b="true" sz="1503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H</a:t>
              </a:r>
            </a:p>
          </p:txBody>
        </p:sp>
        <p:sp>
          <p:nvSpPr>
            <p:cNvPr name="TextBox 59" id="59"/>
            <p:cNvSpPr txBox="true"/>
            <p:nvPr/>
          </p:nvSpPr>
          <p:spPr>
            <a:xfrm rot="0">
              <a:off x="0" y="1004084"/>
              <a:ext cx="200563" cy="33112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105"/>
                </a:lnSpc>
                <a:spcBef>
                  <a:spcPct val="0"/>
                </a:spcBef>
              </a:pPr>
              <a:r>
                <a:rPr lang="en-US" b="true" sz="1503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H</a:t>
              </a:r>
            </a:p>
          </p:txBody>
        </p:sp>
        <p:sp>
          <p:nvSpPr>
            <p:cNvPr name="TextBox 60" id="60"/>
            <p:cNvSpPr txBox="true"/>
            <p:nvPr/>
          </p:nvSpPr>
          <p:spPr>
            <a:xfrm rot="0">
              <a:off x="12650" y="1372065"/>
              <a:ext cx="200563" cy="33112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105"/>
                </a:lnSpc>
                <a:spcBef>
                  <a:spcPct val="0"/>
                </a:spcBef>
              </a:pPr>
              <a:r>
                <a:rPr lang="en-US" b="true" sz="1503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H</a:t>
              </a:r>
            </a:p>
          </p:txBody>
        </p:sp>
        <p:sp>
          <p:nvSpPr>
            <p:cNvPr name="TextBox 61" id="61"/>
            <p:cNvSpPr txBox="true"/>
            <p:nvPr/>
          </p:nvSpPr>
          <p:spPr>
            <a:xfrm rot="0">
              <a:off x="12650" y="1718147"/>
              <a:ext cx="200563" cy="33112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105"/>
                </a:lnSpc>
                <a:spcBef>
                  <a:spcPct val="0"/>
                </a:spcBef>
              </a:pPr>
              <a:r>
                <a:rPr lang="en-US" b="true" sz="1503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H</a:t>
              </a:r>
            </a:p>
          </p:txBody>
        </p:sp>
        <p:sp>
          <p:nvSpPr>
            <p:cNvPr name="TextBox 62" id="62"/>
            <p:cNvSpPr txBox="true"/>
            <p:nvPr/>
          </p:nvSpPr>
          <p:spPr>
            <a:xfrm rot="0">
              <a:off x="850388" y="2408120"/>
              <a:ext cx="200563" cy="33112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105"/>
                </a:lnSpc>
                <a:spcBef>
                  <a:spcPct val="0"/>
                </a:spcBef>
              </a:pPr>
              <a:r>
                <a:rPr lang="en-US" b="true" sz="1503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H</a:t>
              </a:r>
            </a:p>
          </p:txBody>
        </p:sp>
        <p:sp>
          <p:nvSpPr>
            <p:cNvPr name="TextBox 63" id="63"/>
            <p:cNvSpPr txBox="true"/>
            <p:nvPr/>
          </p:nvSpPr>
          <p:spPr>
            <a:xfrm rot="0">
              <a:off x="1473791" y="2408120"/>
              <a:ext cx="200563" cy="33112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105"/>
                </a:lnSpc>
                <a:spcBef>
                  <a:spcPct val="0"/>
                </a:spcBef>
              </a:pPr>
              <a:r>
                <a:rPr lang="en-US" b="true" sz="1503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H</a:t>
              </a:r>
            </a:p>
          </p:txBody>
        </p:sp>
        <p:sp>
          <p:nvSpPr>
            <p:cNvPr name="TextBox 64" id="64"/>
            <p:cNvSpPr txBox="true"/>
            <p:nvPr/>
          </p:nvSpPr>
          <p:spPr>
            <a:xfrm rot="0">
              <a:off x="2310821" y="1032436"/>
              <a:ext cx="200563" cy="33112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105"/>
                </a:lnSpc>
                <a:spcBef>
                  <a:spcPct val="0"/>
                </a:spcBef>
              </a:pPr>
              <a:r>
                <a:rPr lang="en-US" b="true" sz="1503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H</a:t>
              </a:r>
            </a:p>
          </p:txBody>
        </p:sp>
        <p:sp>
          <p:nvSpPr>
            <p:cNvPr name="TextBox 65" id="65"/>
            <p:cNvSpPr txBox="true"/>
            <p:nvPr/>
          </p:nvSpPr>
          <p:spPr>
            <a:xfrm rot="0">
              <a:off x="2310821" y="1382861"/>
              <a:ext cx="200563" cy="33112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105"/>
                </a:lnSpc>
                <a:spcBef>
                  <a:spcPct val="0"/>
                </a:spcBef>
              </a:pPr>
              <a:r>
                <a:rPr lang="en-US" b="true" sz="1503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H</a:t>
              </a:r>
            </a:p>
          </p:txBody>
        </p:sp>
        <p:sp>
          <p:nvSpPr>
            <p:cNvPr name="TextBox 66" id="66"/>
            <p:cNvSpPr txBox="true"/>
            <p:nvPr/>
          </p:nvSpPr>
          <p:spPr>
            <a:xfrm rot="0">
              <a:off x="2324557" y="1710646"/>
              <a:ext cx="200563" cy="33112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105"/>
                </a:lnSpc>
                <a:spcBef>
                  <a:spcPct val="0"/>
                </a:spcBef>
              </a:pPr>
              <a:r>
                <a:rPr lang="en-US" b="true" sz="1503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H</a:t>
              </a:r>
            </a:p>
          </p:txBody>
        </p:sp>
        <p:sp>
          <p:nvSpPr>
            <p:cNvPr name="AutoShape 67" id="67"/>
            <p:cNvSpPr/>
            <p:nvPr/>
          </p:nvSpPr>
          <p:spPr>
            <a:xfrm flipV="true">
              <a:off x="1227614" y="302552"/>
              <a:ext cx="0" cy="384549"/>
            </a:xfrm>
            <a:prstGeom prst="line">
              <a:avLst/>
            </a:prstGeom>
            <a:ln cap="flat" w="15369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68" id="68"/>
            <p:cNvSpPr/>
            <p:nvPr/>
          </p:nvSpPr>
          <p:spPr>
            <a:xfrm flipV="true">
              <a:off x="1264740" y="302552"/>
              <a:ext cx="0" cy="384549"/>
            </a:xfrm>
            <a:prstGeom prst="line">
              <a:avLst/>
            </a:prstGeom>
            <a:ln cap="flat" w="15369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69" id="69"/>
            <p:cNvSpPr txBox="true"/>
            <p:nvPr/>
          </p:nvSpPr>
          <p:spPr>
            <a:xfrm rot="0">
              <a:off x="1158022" y="-28575"/>
              <a:ext cx="198066" cy="33112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105"/>
                </a:lnSpc>
                <a:spcBef>
                  <a:spcPct val="0"/>
                </a:spcBef>
              </a:pPr>
              <a:r>
                <a:rPr lang="en-US" b="true" sz="1503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O</a:t>
              </a:r>
            </a:p>
          </p:txBody>
        </p:sp>
        <p:sp>
          <p:nvSpPr>
            <p:cNvPr name="TextBox 70" id="70"/>
            <p:cNvSpPr txBox="true"/>
            <p:nvPr/>
          </p:nvSpPr>
          <p:spPr>
            <a:xfrm rot="5400000">
              <a:off x="1404812" y="-11460"/>
              <a:ext cx="140529" cy="33112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105"/>
                </a:lnSpc>
                <a:spcBef>
                  <a:spcPct val="0"/>
                </a:spcBef>
              </a:pPr>
              <a:r>
                <a:rPr lang="en-US" b="true" sz="1503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..</a:t>
              </a:r>
            </a:p>
          </p:txBody>
        </p:sp>
        <p:sp>
          <p:nvSpPr>
            <p:cNvPr name="TextBox 71" id="71"/>
            <p:cNvSpPr txBox="true"/>
            <p:nvPr/>
          </p:nvSpPr>
          <p:spPr>
            <a:xfrm rot="5464525">
              <a:off x="1147541" y="-14019"/>
              <a:ext cx="140529" cy="33112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105"/>
                </a:lnSpc>
                <a:spcBef>
                  <a:spcPct val="0"/>
                </a:spcBef>
              </a:pPr>
              <a:r>
                <a:rPr lang="en-US" b="true" sz="1503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..</a:t>
              </a:r>
            </a:p>
          </p:txBody>
        </p:sp>
      </p:grpSp>
      <p:sp>
        <p:nvSpPr>
          <p:cNvPr name="Freeform 72" id="72"/>
          <p:cNvSpPr/>
          <p:nvPr/>
        </p:nvSpPr>
        <p:spPr>
          <a:xfrm flipH="false" flipV="false" rot="0">
            <a:off x="6996375" y="4647478"/>
            <a:ext cx="1108845" cy="1940478"/>
          </a:xfrm>
          <a:custGeom>
            <a:avLst/>
            <a:gdLst/>
            <a:ahLst/>
            <a:cxnLst/>
            <a:rect r="r" b="b" t="t" l="l"/>
            <a:pathLst>
              <a:path h="1940478" w="1108845">
                <a:moveTo>
                  <a:pt x="0" y="0"/>
                </a:moveTo>
                <a:lnTo>
                  <a:pt x="1108845" y="0"/>
                </a:lnTo>
                <a:lnTo>
                  <a:pt x="1108845" y="1940478"/>
                </a:lnTo>
                <a:lnTo>
                  <a:pt x="0" y="194047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73" id="73"/>
          <p:cNvSpPr txBox="true"/>
          <p:nvPr/>
        </p:nvSpPr>
        <p:spPr>
          <a:xfrm rot="0">
            <a:off x="756000" y="384199"/>
            <a:ext cx="9300057" cy="5190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41"/>
              </a:lnSpc>
              <a:spcBef>
                <a:spcPct val="0"/>
              </a:spcBef>
            </a:pPr>
            <a:r>
              <a:rPr lang="en-US" sz="2815">
                <a:solidFill>
                  <a:srgbClr val="FFFFFF"/>
                </a:solidFill>
                <a:latin typeface="Horizon"/>
                <a:ea typeface="Horizon"/>
                <a:cs typeface="Horizon"/>
                <a:sym typeface="Horizon"/>
              </a:rPr>
              <a:t>Card 07 - CYCLOHEXANONE</a:t>
            </a:r>
          </a:p>
        </p:txBody>
      </p:sp>
      <p:grpSp>
        <p:nvGrpSpPr>
          <p:cNvPr name="Group 74" id="74"/>
          <p:cNvGrpSpPr/>
          <p:nvPr/>
        </p:nvGrpSpPr>
        <p:grpSpPr>
          <a:xfrm rot="0">
            <a:off x="1002995" y="2095084"/>
            <a:ext cx="4343005" cy="1229925"/>
            <a:chOff x="0" y="0"/>
            <a:chExt cx="5790673" cy="1639900"/>
          </a:xfrm>
        </p:grpSpPr>
        <p:sp>
          <p:nvSpPr>
            <p:cNvPr name="TextBox 75" id="75"/>
            <p:cNvSpPr txBox="true"/>
            <p:nvPr/>
          </p:nvSpPr>
          <p:spPr>
            <a:xfrm rot="0">
              <a:off x="0" y="-152400"/>
              <a:ext cx="5790673" cy="17923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1351"/>
                </a:lnSpc>
                <a:spcBef>
                  <a:spcPct val="0"/>
                </a:spcBef>
              </a:pPr>
              <a:r>
                <a:rPr lang="en-US" sz="8108">
                  <a:solidFill>
                    <a:srgbClr val="000000"/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C H  O</a:t>
              </a:r>
            </a:p>
          </p:txBody>
        </p:sp>
        <p:sp>
          <p:nvSpPr>
            <p:cNvPr name="TextBox 76" id="76"/>
            <p:cNvSpPr txBox="true"/>
            <p:nvPr/>
          </p:nvSpPr>
          <p:spPr>
            <a:xfrm rot="0">
              <a:off x="1424069" y="482376"/>
              <a:ext cx="792245" cy="105875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6669"/>
                </a:lnSpc>
                <a:spcBef>
                  <a:spcPct val="0"/>
                </a:spcBef>
              </a:pPr>
              <a:r>
                <a:rPr lang="en-US" sz="4763">
                  <a:solidFill>
                    <a:srgbClr val="000000"/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6</a:t>
              </a:r>
            </a:p>
          </p:txBody>
        </p:sp>
        <p:sp>
          <p:nvSpPr>
            <p:cNvPr name="TextBox 77" id="77"/>
            <p:cNvSpPr txBox="true"/>
            <p:nvPr/>
          </p:nvSpPr>
          <p:spPr>
            <a:xfrm rot="0">
              <a:off x="3005163" y="482376"/>
              <a:ext cx="1280893" cy="104712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6581"/>
                </a:lnSpc>
                <a:spcBef>
                  <a:spcPct val="0"/>
                </a:spcBef>
              </a:pPr>
              <a:r>
                <a:rPr lang="en-US" sz="4700">
                  <a:solidFill>
                    <a:srgbClr val="000000"/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10</a:t>
              </a:r>
            </a:p>
          </p:txBody>
        </p:sp>
      </p:grpSp>
      <p:grpSp>
        <p:nvGrpSpPr>
          <p:cNvPr name="Group 78" id="78"/>
          <p:cNvGrpSpPr/>
          <p:nvPr/>
        </p:nvGrpSpPr>
        <p:grpSpPr>
          <a:xfrm rot="0">
            <a:off x="1002995" y="5024343"/>
            <a:ext cx="3953828" cy="1756376"/>
            <a:chOff x="0" y="0"/>
            <a:chExt cx="5271771" cy="2341835"/>
          </a:xfrm>
        </p:grpSpPr>
        <p:sp>
          <p:nvSpPr>
            <p:cNvPr name="TextBox 79" id="79"/>
            <p:cNvSpPr txBox="true"/>
            <p:nvPr/>
          </p:nvSpPr>
          <p:spPr>
            <a:xfrm rot="0">
              <a:off x="229961" y="-153176"/>
              <a:ext cx="3465035" cy="21447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2442"/>
                </a:lnSpc>
                <a:spcBef>
                  <a:spcPct val="0"/>
                </a:spcBef>
              </a:pPr>
              <a:r>
                <a:rPr lang="en-US" sz="8887">
                  <a:solidFill>
                    <a:srgbClr val="000000"/>
                  </a:solidFill>
                  <a:latin typeface="Impact"/>
                  <a:ea typeface="Impact"/>
                  <a:cs typeface="Impact"/>
                  <a:sym typeface="Impact"/>
                </a:rPr>
                <a:t>CH </a:t>
              </a:r>
            </a:p>
          </p:txBody>
        </p:sp>
        <p:sp>
          <p:nvSpPr>
            <p:cNvPr name="TextBox 80" id="80"/>
            <p:cNvSpPr txBox="true"/>
            <p:nvPr/>
          </p:nvSpPr>
          <p:spPr>
            <a:xfrm rot="0">
              <a:off x="2623218" y="-438150"/>
              <a:ext cx="1027666" cy="27799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6171"/>
                </a:lnSpc>
                <a:spcBef>
                  <a:spcPct val="0"/>
                </a:spcBef>
              </a:pPr>
              <a:r>
                <a:rPr lang="en-US" sz="11551">
                  <a:solidFill>
                    <a:srgbClr val="000000"/>
                  </a:solidFill>
                  <a:latin typeface="Impact"/>
                  <a:ea typeface="Impact"/>
                  <a:cs typeface="Impact"/>
                  <a:sym typeface="Impact"/>
                </a:rPr>
                <a:t>)</a:t>
              </a:r>
            </a:p>
          </p:txBody>
        </p:sp>
        <p:sp>
          <p:nvSpPr>
            <p:cNvPr name="TextBox 81" id="81"/>
            <p:cNvSpPr txBox="true"/>
            <p:nvPr/>
          </p:nvSpPr>
          <p:spPr>
            <a:xfrm rot="0">
              <a:off x="2486833" y="716240"/>
              <a:ext cx="329613" cy="11826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6827"/>
                </a:lnSpc>
                <a:spcBef>
                  <a:spcPct val="0"/>
                </a:spcBef>
              </a:pPr>
              <a:r>
                <a:rPr lang="en-US" sz="4876">
                  <a:solidFill>
                    <a:srgbClr val="000000"/>
                  </a:solidFill>
                  <a:latin typeface="Impact"/>
                  <a:ea typeface="Impact"/>
                  <a:cs typeface="Impact"/>
                  <a:sym typeface="Impact"/>
                </a:rPr>
                <a:t>2</a:t>
              </a:r>
            </a:p>
          </p:txBody>
        </p:sp>
        <p:sp>
          <p:nvSpPr>
            <p:cNvPr name="TextBox 82" id="82"/>
            <p:cNvSpPr txBox="true"/>
            <p:nvPr/>
          </p:nvSpPr>
          <p:spPr>
            <a:xfrm rot="0">
              <a:off x="3321272" y="716240"/>
              <a:ext cx="329613" cy="11826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6827"/>
                </a:lnSpc>
                <a:spcBef>
                  <a:spcPct val="0"/>
                </a:spcBef>
              </a:pPr>
              <a:r>
                <a:rPr lang="en-US" sz="4876">
                  <a:solidFill>
                    <a:srgbClr val="000000"/>
                  </a:solidFill>
                  <a:latin typeface="Impact"/>
                  <a:ea typeface="Impact"/>
                  <a:cs typeface="Impact"/>
                  <a:sym typeface="Impact"/>
                </a:rPr>
                <a:t>5</a:t>
              </a:r>
            </a:p>
          </p:txBody>
        </p:sp>
        <p:sp>
          <p:nvSpPr>
            <p:cNvPr name="TextBox 83" id="83"/>
            <p:cNvSpPr txBox="true"/>
            <p:nvPr/>
          </p:nvSpPr>
          <p:spPr>
            <a:xfrm rot="0">
              <a:off x="0" y="-438150"/>
              <a:ext cx="1444647" cy="27799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6171"/>
                </a:lnSpc>
                <a:spcBef>
                  <a:spcPct val="0"/>
                </a:spcBef>
              </a:pPr>
              <a:r>
                <a:rPr lang="en-US" sz="11551">
                  <a:solidFill>
                    <a:srgbClr val="000000"/>
                  </a:solidFill>
                  <a:latin typeface="Impact"/>
                  <a:ea typeface="Impact"/>
                  <a:cs typeface="Impact"/>
                  <a:sym typeface="Impact"/>
                </a:rPr>
                <a:t>(</a:t>
              </a:r>
            </a:p>
          </p:txBody>
        </p:sp>
        <p:sp>
          <p:nvSpPr>
            <p:cNvPr name="TextBox 84" id="84"/>
            <p:cNvSpPr txBox="true"/>
            <p:nvPr/>
          </p:nvSpPr>
          <p:spPr>
            <a:xfrm rot="0">
              <a:off x="3694996" y="-232083"/>
              <a:ext cx="1576775" cy="227401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3138"/>
                </a:lnSpc>
                <a:spcBef>
                  <a:spcPct val="0"/>
                </a:spcBef>
              </a:pPr>
              <a:r>
                <a:rPr lang="en-US" sz="9384">
                  <a:solidFill>
                    <a:srgbClr val="000000"/>
                  </a:solidFill>
                  <a:latin typeface="Impact"/>
                  <a:ea typeface="Impact"/>
                  <a:cs typeface="Impact"/>
                  <a:sym typeface="Impact"/>
                </a:rPr>
                <a:t>CO 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3E4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63023" y="1414346"/>
            <a:ext cx="8565953" cy="5366374"/>
            <a:chOff x="0" y="0"/>
            <a:chExt cx="11421271" cy="7155165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232350"/>
              <a:ext cx="5556832" cy="3078532"/>
              <a:chOff x="0" y="0"/>
              <a:chExt cx="635000" cy="351795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635000" cy="351795"/>
              </a:xfrm>
              <a:custGeom>
                <a:avLst/>
                <a:gdLst/>
                <a:ahLst/>
                <a:cxnLst/>
                <a:rect r="r" b="b" t="t" l="l"/>
                <a:pathLst>
                  <a:path h="351795" w="635000">
                    <a:moveTo>
                      <a:pt x="42087" y="0"/>
                    </a:moveTo>
                    <a:lnTo>
                      <a:pt x="592913" y="0"/>
                    </a:lnTo>
                    <a:cubicBezTo>
                      <a:pt x="616157" y="0"/>
                      <a:pt x="635000" y="18843"/>
                      <a:pt x="635000" y="42087"/>
                    </a:cubicBezTo>
                    <a:lnTo>
                      <a:pt x="635000" y="309708"/>
                    </a:lnTo>
                    <a:cubicBezTo>
                      <a:pt x="635000" y="332952"/>
                      <a:pt x="616157" y="351795"/>
                      <a:pt x="592913" y="351795"/>
                    </a:cubicBezTo>
                    <a:lnTo>
                      <a:pt x="42087" y="351795"/>
                    </a:lnTo>
                    <a:cubicBezTo>
                      <a:pt x="18843" y="351795"/>
                      <a:pt x="0" y="332952"/>
                      <a:pt x="0" y="309708"/>
                    </a:cubicBezTo>
                    <a:lnTo>
                      <a:pt x="0" y="42087"/>
                    </a:lnTo>
                    <a:cubicBezTo>
                      <a:pt x="0" y="18843"/>
                      <a:pt x="18843" y="0"/>
                      <a:pt x="4208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rnd">
                <a:noFill/>
                <a:prstDash val="sysDot"/>
                <a:round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38100"/>
                <a:ext cx="635000" cy="38989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820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849109" y="0"/>
              <a:ext cx="3799999" cy="495222"/>
              <a:chOff x="0" y="0"/>
              <a:chExt cx="1061224" cy="138301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1061224" cy="138301"/>
              </a:xfrm>
              <a:custGeom>
                <a:avLst/>
                <a:gdLst/>
                <a:ahLst/>
                <a:cxnLst/>
                <a:rect r="r" b="b" t="t" l="l"/>
                <a:pathLst>
                  <a:path h="138301" w="1061224">
                    <a:moveTo>
                      <a:pt x="69150" y="0"/>
                    </a:moveTo>
                    <a:lnTo>
                      <a:pt x="992073" y="0"/>
                    </a:lnTo>
                    <a:cubicBezTo>
                      <a:pt x="1010413" y="0"/>
                      <a:pt x="1028002" y="7285"/>
                      <a:pt x="1040970" y="20254"/>
                    </a:cubicBezTo>
                    <a:cubicBezTo>
                      <a:pt x="1053938" y="33222"/>
                      <a:pt x="1061224" y="50810"/>
                      <a:pt x="1061224" y="69150"/>
                    </a:cubicBezTo>
                    <a:lnTo>
                      <a:pt x="1061224" y="69150"/>
                    </a:lnTo>
                    <a:cubicBezTo>
                      <a:pt x="1061224" y="87490"/>
                      <a:pt x="1053938" y="105079"/>
                      <a:pt x="1040970" y="118047"/>
                    </a:cubicBezTo>
                    <a:cubicBezTo>
                      <a:pt x="1028002" y="131015"/>
                      <a:pt x="1010413" y="138301"/>
                      <a:pt x="992073" y="138301"/>
                    </a:cubicBezTo>
                    <a:lnTo>
                      <a:pt x="69150" y="138301"/>
                    </a:lnTo>
                    <a:cubicBezTo>
                      <a:pt x="50810" y="138301"/>
                      <a:pt x="33222" y="131015"/>
                      <a:pt x="20254" y="118047"/>
                    </a:cubicBezTo>
                    <a:cubicBezTo>
                      <a:pt x="7285" y="105079"/>
                      <a:pt x="0" y="87490"/>
                      <a:pt x="0" y="69150"/>
                    </a:cubicBezTo>
                    <a:lnTo>
                      <a:pt x="0" y="69150"/>
                    </a:lnTo>
                    <a:cubicBezTo>
                      <a:pt x="0" y="50810"/>
                      <a:pt x="7285" y="33222"/>
                      <a:pt x="20254" y="20254"/>
                    </a:cubicBezTo>
                    <a:cubicBezTo>
                      <a:pt x="33222" y="7285"/>
                      <a:pt x="50810" y="0"/>
                      <a:pt x="69150" y="0"/>
                    </a:cubicBezTo>
                    <a:close/>
                  </a:path>
                </a:pathLst>
              </a:custGeom>
              <a:solidFill>
                <a:srgbClr val="004AAD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38100"/>
                <a:ext cx="1061224" cy="176401"/>
              </a:xfrm>
              <a:prstGeom prst="rect">
                <a:avLst/>
              </a:prstGeom>
            </p:spPr>
            <p:txBody>
              <a:bodyPr anchor="ctr" rtlCol="false" tIns="48892" lIns="48892" bIns="48892" rIns="48892"/>
              <a:lstStyle/>
              <a:p>
                <a:pPr algn="ctr">
                  <a:lnSpc>
                    <a:spcPts val="1820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9" id="9"/>
            <p:cNvSpPr txBox="true"/>
            <p:nvPr/>
          </p:nvSpPr>
          <p:spPr>
            <a:xfrm rot="0">
              <a:off x="994956" y="8931"/>
              <a:ext cx="3436342" cy="42994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701"/>
                </a:lnSpc>
                <a:spcBef>
                  <a:spcPct val="0"/>
                </a:spcBef>
              </a:pPr>
              <a:r>
                <a:rPr lang="en-US" sz="1929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Molecular Formula</a:t>
              </a:r>
            </a:p>
          </p:txBody>
        </p:sp>
        <p:grpSp>
          <p:nvGrpSpPr>
            <p:cNvPr name="Group 10" id="10"/>
            <p:cNvGrpSpPr/>
            <p:nvPr/>
          </p:nvGrpSpPr>
          <p:grpSpPr>
            <a:xfrm rot="0">
              <a:off x="5864439" y="232350"/>
              <a:ext cx="5556832" cy="3078532"/>
              <a:chOff x="0" y="0"/>
              <a:chExt cx="635000" cy="351795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635000" cy="351795"/>
              </a:xfrm>
              <a:custGeom>
                <a:avLst/>
                <a:gdLst/>
                <a:ahLst/>
                <a:cxnLst/>
                <a:rect r="r" b="b" t="t" l="l"/>
                <a:pathLst>
                  <a:path h="351795" w="635000">
                    <a:moveTo>
                      <a:pt x="42087" y="0"/>
                    </a:moveTo>
                    <a:lnTo>
                      <a:pt x="592913" y="0"/>
                    </a:lnTo>
                    <a:cubicBezTo>
                      <a:pt x="616157" y="0"/>
                      <a:pt x="635000" y="18843"/>
                      <a:pt x="635000" y="42087"/>
                    </a:cubicBezTo>
                    <a:lnTo>
                      <a:pt x="635000" y="309708"/>
                    </a:lnTo>
                    <a:cubicBezTo>
                      <a:pt x="635000" y="332952"/>
                      <a:pt x="616157" y="351795"/>
                      <a:pt x="592913" y="351795"/>
                    </a:cubicBezTo>
                    <a:lnTo>
                      <a:pt x="42087" y="351795"/>
                    </a:lnTo>
                    <a:cubicBezTo>
                      <a:pt x="18843" y="351795"/>
                      <a:pt x="0" y="332952"/>
                      <a:pt x="0" y="309708"/>
                    </a:cubicBezTo>
                    <a:lnTo>
                      <a:pt x="0" y="42087"/>
                    </a:lnTo>
                    <a:cubicBezTo>
                      <a:pt x="0" y="18843"/>
                      <a:pt x="18843" y="0"/>
                      <a:pt x="4208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rnd">
                <a:noFill/>
                <a:prstDash val="sysDot"/>
                <a:round/>
              </a:ln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28575"/>
                <a:ext cx="635000" cy="38037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60"/>
                  </a:lnSpc>
                </a:pPr>
              </a:p>
            </p:txBody>
          </p:sp>
        </p:grpSp>
        <p:grpSp>
          <p:nvGrpSpPr>
            <p:cNvPr name="Group 13" id="13"/>
            <p:cNvGrpSpPr/>
            <p:nvPr/>
          </p:nvGrpSpPr>
          <p:grpSpPr>
            <a:xfrm rot="0">
              <a:off x="6713548" y="0"/>
              <a:ext cx="3799999" cy="495222"/>
              <a:chOff x="0" y="0"/>
              <a:chExt cx="1061224" cy="138301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1061224" cy="138301"/>
              </a:xfrm>
              <a:custGeom>
                <a:avLst/>
                <a:gdLst/>
                <a:ahLst/>
                <a:cxnLst/>
                <a:rect r="r" b="b" t="t" l="l"/>
                <a:pathLst>
                  <a:path h="138301" w="1061224">
                    <a:moveTo>
                      <a:pt x="69150" y="0"/>
                    </a:moveTo>
                    <a:lnTo>
                      <a:pt x="992073" y="0"/>
                    </a:lnTo>
                    <a:cubicBezTo>
                      <a:pt x="1010413" y="0"/>
                      <a:pt x="1028002" y="7285"/>
                      <a:pt x="1040970" y="20254"/>
                    </a:cubicBezTo>
                    <a:cubicBezTo>
                      <a:pt x="1053938" y="33222"/>
                      <a:pt x="1061224" y="50810"/>
                      <a:pt x="1061224" y="69150"/>
                    </a:cubicBezTo>
                    <a:lnTo>
                      <a:pt x="1061224" y="69150"/>
                    </a:lnTo>
                    <a:cubicBezTo>
                      <a:pt x="1061224" y="87490"/>
                      <a:pt x="1053938" y="105079"/>
                      <a:pt x="1040970" y="118047"/>
                    </a:cubicBezTo>
                    <a:cubicBezTo>
                      <a:pt x="1028002" y="131015"/>
                      <a:pt x="1010413" y="138301"/>
                      <a:pt x="992073" y="138301"/>
                    </a:cubicBezTo>
                    <a:lnTo>
                      <a:pt x="69150" y="138301"/>
                    </a:lnTo>
                    <a:cubicBezTo>
                      <a:pt x="50810" y="138301"/>
                      <a:pt x="33222" y="131015"/>
                      <a:pt x="20254" y="118047"/>
                    </a:cubicBezTo>
                    <a:cubicBezTo>
                      <a:pt x="7285" y="105079"/>
                      <a:pt x="0" y="87490"/>
                      <a:pt x="0" y="69150"/>
                    </a:cubicBezTo>
                    <a:lnTo>
                      <a:pt x="0" y="69150"/>
                    </a:lnTo>
                    <a:cubicBezTo>
                      <a:pt x="0" y="50810"/>
                      <a:pt x="7285" y="33222"/>
                      <a:pt x="20254" y="20254"/>
                    </a:cubicBezTo>
                    <a:cubicBezTo>
                      <a:pt x="33222" y="7285"/>
                      <a:pt x="50810" y="0"/>
                      <a:pt x="69150" y="0"/>
                    </a:cubicBezTo>
                    <a:close/>
                  </a:path>
                </a:pathLst>
              </a:custGeom>
              <a:solidFill>
                <a:srgbClr val="004AAD"/>
              </a:solidFill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0" y="-28575"/>
                <a:ext cx="1061224" cy="166876"/>
              </a:xfrm>
              <a:prstGeom prst="rect">
                <a:avLst/>
              </a:prstGeom>
            </p:spPr>
            <p:txBody>
              <a:bodyPr anchor="ctr" rtlCol="false" tIns="48892" lIns="48892" bIns="48892" rIns="48892"/>
              <a:lstStyle/>
              <a:p>
                <a:pPr algn="ctr">
                  <a:lnSpc>
                    <a:spcPts val="1960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16" id="16"/>
            <p:cNvSpPr txBox="true"/>
            <p:nvPr/>
          </p:nvSpPr>
          <p:spPr>
            <a:xfrm rot="0">
              <a:off x="6859395" y="8931"/>
              <a:ext cx="3436342" cy="42994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701"/>
                </a:lnSpc>
                <a:spcBef>
                  <a:spcPct val="0"/>
                </a:spcBef>
              </a:pPr>
              <a:r>
                <a:rPr lang="en-US" sz="1929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Lewis Structure</a:t>
              </a:r>
            </a:p>
          </p:txBody>
        </p:sp>
        <p:grpSp>
          <p:nvGrpSpPr>
            <p:cNvPr name="Group 17" id="17"/>
            <p:cNvGrpSpPr/>
            <p:nvPr/>
          </p:nvGrpSpPr>
          <p:grpSpPr>
            <a:xfrm rot="0">
              <a:off x="0" y="4076632"/>
              <a:ext cx="5556832" cy="3078532"/>
              <a:chOff x="0" y="0"/>
              <a:chExt cx="635000" cy="351795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635000" cy="351795"/>
              </a:xfrm>
              <a:custGeom>
                <a:avLst/>
                <a:gdLst/>
                <a:ahLst/>
                <a:cxnLst/>
                <a:rect r="r" b="b" t="t" l="l"/>
                <a:pathLst>
                  <a:path h="351795" w="635000">
                    <a:moveTo>
                      <a:pt x="42087" y="0"/>
                    </a:moveTo>
                    <a:lnTo>
                      <a:pt x="592913" y="0"/>
                    </a:lnTo>
                    <a:cubicBezTo>
                      <a:pt x="616157" y="0"/>
                      <a:pt x="635000" y="18843"/>
                      <a:pt x="635000" y="42087"/>
                    </a:cubicBezTo>
                    <a:lnTo>
                      <a:pt x="635000" y="309708"/>
                    </a:lnTo>
                    <a:cubicBezTo>
                      <a:pt x="635000" y="332952"/>
                      <a:pt x="616157" y="351795"/>
                      <a:pt x="592913" y="351795"/>
                    </a:cubicBezTo>
                    <a:lnTo>
                      <a:pt x="42087" y="351795"/>
                    </a:lnTo>
                    <a:cubicBezTo>
                      <a:pt x="18843" y="351795"/>
                      <a:pt x="0" y="332952"/>
                      <a:pt x="0" y="309708"/>
                    </a:cubicBezTo>
                    <a:lnTo>
                      <a:pt x="0" y="42087"/>
                    </a:lnTo>
                    <a:cubicBezTo>
                      <a:pt x="0" y="18843"/>
                      <a:pt x="18843" y="0"/>
                      <a:pt x="4208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rnd">
                <a:noFill/>
                <a:prstDash val="sysDot"/>
                <a:round/>
              </a:ln>
            </p:spPr>
          </p:sp>
          <p:sp>
            <p:nvSpPr>
              <p:cNvPr name="TextBox 19" id="19"/>
              <p:cNvSpPr txBox="true"/>
              <p:nvPr/>
            </p:nvSpPr>
            <p:spPr>
              <a:xfrm>
                <a:off x="0" y="-28575"/>
                <a:ext cx="635000" cy="38037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60"/>
                  </a:lnSpc>
                </a:pPr>
              </a:p>
            </p:txBody>
          </p:sp>
        </p:grpSp>
        <p:grpSp>
          <p:nvGrpSpPr>
            <p:cNvPr name="Group 20" id="20"/>
            <p:cNvGrpSpPr/>
            <p:nvPr/>
          </p:nvGrpSpPr>
          <p:grpSpPr>
            <a:xfrm rot="0">
              <a:off x="510787" y="3891314"/>
              <a:ext cx="4535257" cy="495222"/>
              <a:chOff x="0" y="0"/>
              <a:chExt cx="1266559" cy="138301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0" y="0"/>
                <a:ext cx="1266559" cy="138301"/>
              </a:xfrm>
              <a:custGeom>
                <a:avLst/>
                <a:gdLst/>
                <a:ahLst/>
                <a:cxnLst/>
                <a:rect r="r" b="b" t="t" l="l"/>
                <a:pathLst>
                  <a:path h="138301" w="1266559">
                    <a:moveTo>
                      <a:pt x="69150" y="0"/>
                    </a:moveTo>
                    <a:lnTo>
                      <a:pt x="1197409" y="0"/>
                    </a:lnTo>
                    <a:cubicBezTo>
                      <a:pt x="1235599" y="0"/>
                      <a:pt x="1266559" y="30960"/>
                      <a:pt x="1266559" y="69150"/>
                    </a:cubicBezTo>
                    <a:lnTo>
                      <a:pt x="1266559" y="69150"/>
                    </a:lnTo>
                    <a:cubicBezTo>
                      <a:pt x="1266559" y="87490"/>
                      <a:pt x="1259273" y="105079"/>
                      <a:pt x="1246305" y="118047"/>
                    </a:cubicBezTo>
                    <a:cubicBezTo>
                      <a:pt x="1233337" y="131015"/>
                      <a:pt x="1215748" y="138301"/>
                      <a:pt x="1197409" y="138301"/>
                    </a:cubicBezTo>
                    <a:lnTo>
                      <a:pt x="69150" y="138301"/>
                    </a:lnTo>
                    <a:cubicBezTo>
                      <a:pt x="50810" y="138301"/>
                      <a:pt x="33222" y="131015"/>
                      <a:pt x="20254" y="118047"/>
                    </a:cubicBezTo>
                    <a:cubicBezTo>
                      <a:pt x="7285" y="105079"/>
                      <a:pt x="0" y="87490"/>
                      <a:pt x="0" y="69150"/>
                    </a:cubicBezTo>
                    <a:lnTo>
                      <a:pt x="0" y="69150"/>
                    </a:lnTo>
                    <a:cubicBezTo>
                      <a:pt x="0" y="50810"/>
                      <a:pt x="7285" y="33222"/>
                      <a:pt x="20254" y="20254"/>
                    </a:cubicBezTo>
                    <a:cubicBezTo>
                      <a:pt x="33222" y="7285"/>
                      <a:pt x="50810" y="0"/>
                      <a:pt x="69150" y="0"/>
                    </a:cubicBezTo>
                    <a:close/>
                  </a:path>
                </a:pathLst>
              </a:custGeom>
              <a:solidFill>
                <a:srgbClr val="004AAD"/>
              </a:solidFill>
            </p:spPr>
          </p:sp>
          <p:sp>
            <p:nvSpPr>
              <p:cNvPr name="TextBox 22" id="22"/>
              <p:cNvSpPr txBox="true"/>
              <p:nvPr/>
            </p:nvSpPr>
            <p:spPr>
              <a:xfrm>
                <a:off x="0" y="-28575"/>
                <a:ext cx="1266559" cy="166876"/>
              </a:xfrm>
              <a:prstGeom prst="rect">
                <a:avLst/>
              </a:prstGeom>
            </p:spPr>
            <p:txBody>
              <a:bodyPr anchor="ctr" rtlCol="false" tIns="48892" lIns="48892" bIns="48892" rIns="48892"/>
              <a:lstStyle/>
              <a:p>
                <a:pPr algn="ctr">
                  <a:lnSpc>
                    <a:spcPts val="1960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23" id="23"/>
            <p:cNvSpPr txBox="true"/>
            <p:nvPr/>
          </p:nvSpPr>
          <p:spPr>
            <a:xfrm rot="0">
              <a:off x="636817" y="3937400"/>
              <a:ext cx="4283198" cy="3649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315"/>
                </a:lnSpc>
                <a:spcBef>
                  <a:spcPct val="0"/>
                </a:spcBef>
              </a:pPr>
              <a:r>
                <a:rPr lang="en-US" sz="1653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Condensed Structural Formula</a:t>
              </a:r>
            </a:p>
          </p:txBody>
        </p:sp>
        <p:grpSp>
          <p:nvGrpSpPr>
            <p:cNvPr name="Group 24" id="24"/>
            <p:cNvGrpSpPr/>
            <p:nvPr/>
          </p:nvGrpSpPr>
          <p:grpSpPr>
            <a:xfrm rot="0">
              <a:off x="5864439" y="4076632"/>
              <a:ext cx="5556832" cy="3078532"/>
              <a:chOff x="0" y="0"/>
              <a:chExt cx="635000" cy="351795"/>
            </a:xfrm>
          </p:grpSpPr>
          <p:sp>
            <p:nvSpPr>
              <p:cNvPr name="Freeform 25" id="25"/>
              <p:cNvSpPr/>
              <p:nvPr/>
            </p:nvSpPr>
            <p:spPr>
              <a:xfrm flipH="false" flipV="false" rot="0">
                <a:off x="0" y="0"/>
                <a:ext cx="635000" cy="351795"/>
              </a:xfrm>
              <a:custGeom>
                <a:avLst/>
                <a:gdLst/>
                <a:ahLst/>
                <a:cxnLst/>
                <a:rect r="r" b="b" t="t" l="l"/>
                <a:pathLst>
                  <a:path h="351795" w="635000">
                    <a:moveTo>
                      <a:pt x="42087" y="0"/>
                    </a:moveTo>
                    <a:lnTo>
                      <a:pt x="592913" y="0"/>
                    </a:lnTo>
                    <a:cubicBezTo>
                      <a:pt x="616157" y="0"/>
                      <a:pt x="635000" y="18843"/>
                      <a:pt x="635000" y="42087"/>
                    </a:cubicBezTo>
                    <a:lnTo>
                      <a:pt x="635000" y="309708"/>
                    </a:lnTo>
                    <a:cubicBezTo>
                      <a:pt x="635000" y="332952"/>
                      <a:pt x="616157" y="351795"/>
                      <a:pt x="592913" y="351795"/>
                    </a:cubicBezTo>
                    <a:lnTo>
                      <a:pt x="42087" y="351795"/>
                    </a:lnTo>
                    <a:cubicBezTo>
                      <a:pt x="18843" y="351795"/>
                      <a:pt x="0" y="332952"/>
                      <a:pt x="0" y="309708"/>
                    </a:cubicBezTo>
                    <a:lnTo>
                      <a:pt x="0" y="42087"/>
                    </a:lnTo>
                    <a:cubicBezTo>
                      <a:pt x="0" y="18843"/>
                      <a:pt x="18843" y="0"/>
                      <a:pt x="4208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rnd">
                <a:noFill/>
                <a:prstDash val="sysDot"/>
                <a:round/>
              </a:ln>
            </p:spPr>
          </p:sp>
          <p:sp>
            <p:nvSpPr>
              <p:cNvPr name="TextBox 26" id="26"/>
              <p:cNvSpPr txBox="true"/>
              <p:nvPr/>
            </p:nvSpPr>
            <p:spPr>
              <a:xfrm>
                <a:off x="0" y="-28575"/>
                <a:ext cx="635000" cy="38037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60"/>
                  </a:lnSpc>
                </a:pPr>
              </a:p>
            </p:txBody>
          </p:sp>
        </p:grpSp>
        <p:grpSp>
          <p:nvGrpSpPr>
            <p:cNvPr name="Group 27" id="27"/>
            <p:cNvGrpSpPr/>
            <p:nvPr/>
          </p:nvGrpSpPr>
          <p:grpSpPr>
            <a:xfrm rot="0">
              <a:off x="6713548" y="3844282"/>
              <a:ext cx="3799999" cy="495222"/>
              <a:chOff x="0" y="0"/>
              <a:chExt cx="1061224" cy="138301"/>
            </a:xfrm>
          </p:grpSpPr>
          <p:sp>
            <p:nvSpPr>
              <p:cNvPr name="Freeform 28" id="28"/>
              <p:cNvSpPr/>
              <p:nvPr/>
            </p:nvSpPr>
            <p:spPr>
              <a:xfrm flipH="false" flipV="false" rot="0">
                <a:off x="0" y="0"/>
                <a:ext cx="1061224" cy="138301"/>
              </a:xfrm>
              <a:custGeom>
                <a:avLst/>
                <a:gdLst/>
                <a:ahLst/>
                <a:cxnLst/>
                <a:rect r="r" b="b" t="t" l="l"/>
                <a:pathLst>
                  <a:path h="138301" w="1061224">
                    <a:moveTo>
                      <a:pt x="69150" y="0"/>
                    </a:moveTo>
                    <a:lnTo>
                      <a:pt x="992073" y="0"/>
                    </a:lnTo>
                    <a:cubicBezTo>
                      <a:pt x="1010413" y="0"/>
                      <a:pt x="1028002" y="7285"/>
                      <a:pt x="1040970" y="20254"/>
                    </a:cubicBezTo>
                    <a:cubicBezTo>
                      <a:pt x="1053938" y="33222"/>
                      <a:pt x="1061224" y="50810"/>
                      <a:pt x="1061224" y="69150"/>
                    </a:cubicBezTo>
                    <a:lnTo>
                      <a:pt x="1061224" y="69150"/>
                    </a:lnTo>
                    <a:cubicBezTo>
                      <a:pt x="1061224" y="87490"/>
                      <a:pt x="1053938" y="105079"/>
                      <a:pt x="1040970" y="118047"/>
                    </a:cubicBezTo>
                    <a:cubicBezTo>
                      <a:pt x="1028002" y="131015"/>
                      <a:pt x="1010413" y="138301"/>
                      <a:pt x="992073" y="138301"/>
                    </a:cubicBezTo>
                    <a:lnTo>
                      <a:pt x="69150" y="138301"/>
                    </a:lnTo>
                    <a:cubicBezTo>
                      <a:pt x="50810" y="138301"/>
                      <a:pt x="33222" y="131015"/>
                      <a:pt x="20254" y="118047"/>
                    </a:cubicBezTo>
                    <a:cubicBezTo>
                      <a:pt x="7285" y="105079"/>
                      <a:pt x="0" y="87490"/>
                      <a:pt x="0" y="69150"/>
                    </a:cubicBezTo>
                    <a:lnTo>
                      <a:pt x="0" y="69150"/>
                    </a:lnTo>
                    <a:cubicBezTo>
                      <a:pt x="0" y="50810"/>
                      <a:pt x="7285" y="33222"/>
                      <a:pt x="20254" y="20254"/>
                    </a:cubicBezTo>
                    <a:cubicBezTo>
                      <a:pt x="33222" y="7285"/>
                      <a:pt x="50810" y="0"/>
                      <a:pt x="69150" y="0"/>
                    </a:cubicBezTo>
                    <a:close/>
                  </a:path>
                </a:pathLst>
              </a:custGeom>
              <a:solidFill>
                <a:srgbClr val="004AAD"/>
              </a:solidFill>
            </p:spPr>
          </p:sp>
          <p:sp>
            <p:nvSpPr>
              <p:cNvPr name="TextBox 29" id="29"/>
              <p:cNvSpPr txBox="true"/>
              <p:nvPr/>
            </p:nvSpPr>
            <p:spPr>
              <a:xfrm>
                <a:off x="0" y="-28575"/>
                <a:ext cx="1061224" cy="166876"/>
              </a:xfrm>
              <a:prstGeom prst="rect">
                <a:avLst/>
              </a:prstGeom>
            </p:spPr>
            <p:txBody>
              <a:bodyPr anchor="ctr" rtlCol="false" tIns="48892" lIns="48892" bIns="48892" rIns="48892"/>
              <a:lstStyle/>
              <a:p>
                <a:pPr algn="ctr">
                  <a:lnSpc>
                    <a:spcPts val="1960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30" id="30"/>
            <p:cNvSpPr txBox="true"/>
            <p:nvPr/>
          </p:nvSpPr>
          <p:spPr>
            <a:xfrm rot="0">
              <a:off x="6924684" y="3853214"/>
              <a:ext cx="3436342" cy="42994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701"/>
                </a:lnSpc>
                <a:spcBef>
                  <a:spcPct val="0"/>
                </a:spcBef>
              </a:pPr>
              <a:r>
                <a:rPr lang="en-US" sz="1929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Bond-Line Structure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051506" y="366072"/>
            <a:ext cx="8588987" cy="650546"/>
            <a:chOff x="0" y="0"/>
            <a:chExt cx="3198189" cy="242237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3198189" cy="242237"/>
            </a:xfrm>
            <a:custGeom>
              <a:avLst/>
              <a:gdLst/>
              <a:ahLst/>
              <a:cxnLst/>
              <a:rect r="r" b="b" t="t" l="l"/>
              <a:pathLst>
                <a:path h="242237" w="3198189">
                  <a:moveTo>
                    <a:pt x="0" y="0"/>
                  </a:moveTo>
                  <a:lnTo>
                    <a:pt x="3198189" y="0"/>
                  </a:lnTo>
                  <a:lnTo>
                    <a:pt x="3198189" y="242237"/>
                  </a:lnTo>
                  <a:lnTo>
                    <a:pt x="0" y="242237"/>
                  </a:ln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100000"/>
                  </a:srgbClr>
                </a:gs>
                <a:gs pos="100000">
                  <a:srgbClr val="3533CD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28575"/>
              <a:ext cx="3198189" cy="270812"/>
            </a:xfrm>
            <a:prstGeom prst="rect">
              <a:avLst/>
            </a:prstGeom>
          </p:spPr>
          <p:txBody>
            <a:bodyPr anchor="ctr" rtlCol="false" tIns="48892" lIns="48892" bIns="48892" rIns="48892"/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5745920" y="1855643"/>
            <a:ext cx="3545899" cy="1924357"/>
            <a:chOff x="0" y="0"/>
            <a:chExt cx="4727866" cy="2565809"/>
          </a:xfrm>
        </p:grpSpPr>
        <p:sp>
          <p:nvSpPr>
            <p:cNvPr name="AutoShape 35" id="35"/>
            <p:cNvSpPr/>
            <p:nvPr/>
          </p:nvSpPr>
          <p:spPr>
            <a:xfrm>
              <a:off x="1917312" y="764474"/>
              <a:ext cx="279247" cy="161223"/>
            </a:xfrm>
            <a:prstGeom prst="line">
              <a:avLst/>
            </a:prstGeom>
            <a:ln cap="flat" w="1329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36" id="36"/>
            <p:cNvSpPr txBox="true"/>
            <p:nvPr/>
          </p:nvSpPr>
          <p:spPr>
            <a:xfrm rot="0">
              <a:off x="1727745" y="559995"/>
              <a:ext cx="177384" cy="29616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862"/>
                </a:lnSpc>
                <a:spcBef>
                  <a:spcPct val="0"/>
                </a:spcBef>
              </a:pPr>
              <a:r>
                <a:rPr lang="en-US" b="true" sz="1330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C</a:t>
              </a:r>
            </a:p>
          </p:txBody>
        </p:sp>
        <p:sp>
          <p:nvSpPr>
            <p:cNvPr name="TextBox 37" id="37"/>
            <p:cNvSpPr txBox="true"/>
            <p:nvPr/>
          </p:nvSpPr>
          <p:spPr>
            <a:xfrm rot="0">
              <a:off x="2199421" y="827582"/>
              <a:ext cx="177384" cy="29616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862"/>
                </a:lnSpc>
                <a:spcBef>
                  <a:spcPct val="0"/>
                </a:spcBef>
              </a:pPr>
              <a:r>
                <a:rPr lang="en-US" b="true" sz="1330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C</a:t>
              </a:r>
            </a:p>
          </p:txBody>
        </p:sp>
        <p:sp>
          <p:nvSpPr>
            <p:cNvPr name="TextBox 38" id="38"/>
            <p:cNvSpPr txBox="true"/>
            <p:nvPr/>
          </p:nvSpPr>
          <p:spPr>
            <a:xfrm rot="0">
              <a:off x="2196559" y="1395331"/>
              <a:ext cx="177384" cy="29616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862"/>
                </a:lnSpc>
                <a:spcBef>
                  <a:spcPct val="0"/>
                </a:spcBef>
              </a:pPr>
              <a:r>
                <a:rPr lang="en-US" b="true" sz="1330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C</a:t>
              </a:r>
            </a:p>
          </p:txBody>
        </p:sp>
        <p:sp>
          <p:nvSpPr>
            <p:cNvPr name="TextBox 39" id="39"/>
            <p:cNvSpPr txBox="true"/>
            <p:nvPr/>
          </p:nvSpPr>
          <p:spPr>
            <a:xfrm rot="0">
              <a:off x="1727745" y="1677672"/>
              <a:ext cx="177384" cy="29616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862"/>
                </a:lnSpc>
                <a:spcBef>
                  <a:spcPct val="0"/>
                </a:spcBef>
              </a:pPr>
              <a:r>
                <a:rPr lang="en-US" b="true" sz="1330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C</a:t>
              </a:r>
            </a:p>
          </p:txBody>
        </p:sp>
        <p:sp>
          <p:nvSpPr>
            <p:cNvPr name="TextBox 40" id="40"/>
            <p:cNvSpPr txBox="true"/>
            <p:nvPr/>
          </p:nvSpPr>
          <p:spPr>
            <a:xfrm rot="0">
              <a:off x="1245730" y="1395331"/>
              <a:ext cx="177384" cy="29616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862"/>
                </a:lnSpc>
                <a:spcBef>
                  <a:spcPct val="0"/>
                </a:spcBef>
              </a:pPr>
              <a:r>
                <a:rPr lang="en-US" b="true" sz="1330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C</a:t>
              </a:r>
            </a:p>
          </p:txBody>
        </p:sp>
        <p:sp>
          <p:nvSpPr>
            <p:cNvPr name="TextBox 41" id="41"/>
            <p:cNvSpPr txBox="true"/>
            <p:nvPr/>
          </p:nvSpPr>
          <p:spPr>
            <a:xfrm rot="0">
              <a:off x="1252257" y="827714"/>
              <a:ext cx="177384" cy="29616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862"/>
                </a:lnSpc>
                <a:spcBef>
                  <a:spcPct val="0"/>
                </a:spcBef>
              </a:pPr>
              <a:r>
                <a:rPr lang="en-US" b="true" sz="1330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C</a:t>
              </a:r>
            </a:p>
          </p:txBody>
        </p:sp>
        <p:sp>
          <p:nvSpPr>
            <p:cNvPr name="AutoShape 42" id="42"/>
            <p:cNvSpPr/>
            <p:nvPr/>
          </p:nvSpPr>
          <p:spPr>
            <a:xfrm>
              <a:off x="2310184" y="1116214"/>
              <a:ext cx="0" cy="322446"/>
            </a:xfrm>
            <a:prstGeom prst="line">
              <a:avLst/>
            </a:prstGeom>
            <a:ln cap="flat" w="1329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43" id="43"/>
            <p:cNvSpPr/>
            <p:nvPr/>
          </p:nvSpPr>
          <p:spPr>
            <a:xfrm flipV="true">
              <a:off x="1916050" y="1649374"/>
              <a:ext cx="279247" cy="161223"/>
            </a:xfrm>
            <a:prstGeom prst="line">
              <a:avLst/>
            </a:prstGeom>
            <a:ln cap="flat" w="1329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44" id="44"/>
            <p:cNvSpPr/>
            <p:nvPr/>
          </p:nvSpPr>
          <p:spPr>
            <a:xfrm>
              <a:off x="1429641" y="1640765"/>
              <a:ext cx="279247" cy="161223"/>
            </a:xfrm>
            <a:prstGeom prst="line">
              <a:avLst/>
            </a:prstGeom>
            <a:ln cap="flat" w="1329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45" id="45"/>
            <p:cNvSpPr/>
            <p:nvPr/>
          </p:nvSpPr>
          <p:spPr>
            <a:xfrm>
              <a:off x="1318126" y="1116214"/>
              <a:ext cx="0" cy="322446"/>
            </a:xfrm>
            <a:prstGeom prst="line">
              <a:avLst/>
            </a:prstGeom>
            <a:ln cap="flat" w="1329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46" id="46"/>
            <p:cNvSpPr/>
            <p:nvPr/>
          </p:nvSpPr>
          <p:spPr>
            <a:xfrm flipV="true">
              <a:off x="1441702" y="765917"/>
              <a:ext cx="279247" cy="161223"/>
            </a:xfrm>
            <a:prstGeom prst="line">
              <a:avLst/>
            </a:prstGeom>
            <a:ln cap="flat" w="1329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47" id="47"/>
            <p:cNvSpPr/>
            <p:nvPr/>
          </p:nvSpPr>
          <p:spPr>
            <a:xfrm flipH="true" flipV="true">
              <a:off x="826834" y="791888"/>
              <a:ext cx="405827" cy="178603"/>
            </a:xfrm>
            <a:prstGeom prst="line">
              <a:avLst/>
            </a:prstGeom>
            <a:ln cap="flat" w="1772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48" id="48"/>
            <p:cNvSpPr/>
            <p:nvPr/>
          </p:nvSpPr>
          <p:spPr>
            <a:xfrm flipH="true">
              <a:off x="830375" y="1625337"/>
              <a:ext cx="406430" cy="177227"/>
            </a:xfrm>
            <a:prstGeom prst="line">
              <a:avLst/>
            </a:prstGeom>
            <a:ln cap="flat" w="1772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49" id="49"/>
            <p:cNvSpPr txBox="true"/>
            <p:nvPr/>
          </p:nvSpPr>
          <p:spPr>
            <a:xfrm rot="0">
              <a:off x="598461" y="1674317"/>
              <a:ext cx="228373" cy="29810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860"/>
                </a:lnSpc>
                <a:spcBef>
                  <a:spcPct val="0"/>
                </a:spcBef>
              </a:pPr>
              <a:r>
                <a:rPr lang="en-US" b="true" sz="1329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O</a:t>
              </a:r>
            </a:p>
          </p:txBody>
        </p:sp>
        <p:sp>
          <p:nvSpPr>
            <p:cNvPr name="TextBox 50" id="50"/>
            <p:cNvSpPr txBox="true"/>
            <p:nvPr/>
          </p:nvSpPr>
          <p:spPr>
            <a:xfrm rot="0">
              <a:off x="627672" y="1414217"/>
              <a:ext cx="162032" cy="3774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427"/>
                </a:lnSpc>
                <a:spcBef>
                  <a:spcPct val="0"/>
                </a:spcBef>
              </a:pPr>
              <a:r>
                <a:rPr lang="en-US" b="true" sz="1733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..</a:t>
              </a:r>
            </a:p>
          </p:txBody>
        </p:sp>
        <p:sp>
          <p:nvSpPr>
            <p:cNvPr name="TextBox 51" id="51"/>
            <p:cNvSpPr txBox="true"/>
            <p:nvPr/>
          </p:nvSpPr>
          <p:spPr>
            <a:xfrm rot="-10800000">
              <a:off x="631632" y="1904165"/>
              <a:ext cx="162032" cy="3774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427"/>
                </a:lnSpc>
                <a:spcBef>
                  <a:spcPct val="0"/>
                </a:spcBef>
              </a:pPr>
              <a:r>
                <a:rPr lang="en-US" b="true" sz="1733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..</a:t>
              </a:r>
            </a:p>
          </p:txBody>
        </p:sp>
        <p:sp>
          <p:nvSpPr>
            <p:cNvPr name="TextBox 52" id="52"/>
            <p:cNvSpPr txBox="true"/>
            <p:nvPr/>
          </p:nvSpPr>
          <p:spPr>
            <a:xfrm rot="0">
              <a:off x="0" y="1677672"/>
              <a:ext cx="228373" cy="29810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860"/>
                </a:lnSpc>
                <a:spcBef>
                  <a:spcPct val="0"/>
                </a:spcBef>
              </a:pPr>
              <a:r>
                <a:rPr lang="en-US" b="true" sz="1329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H</a:t>
              </a:r>
            </a:p>
          </p:txBody>
        </p:sp>
        <p:sp>
          <p:nvSpPr>
            <p:cNvPr name="AutoShape 53" id="53"/>
            <p:cNvSpPr/>
            <p:nvPr/>
          </p:nvSpPr>
          <p:spPr>
            <a:xfrm flipH="true" flipV="true">
              <a:off x="212169" y="1848901"/>
              <a:ext cx="386289" cy="132"/>
            </a:xfrm>
            <a:prstGeom prst="line">
              <a:avLst/>
            </a:prstGeom>
            <a:ln cap="flat" w="1772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54" id="54"/>
            <p:cNvSpPr/>
            <p:nvPr/>
          </p:nvSpPr>
          <p:spPr>
            <a:xfrm flipH="true" flipV="true">
              <a:off x="2392083" y="989884"/>
              <a:ext cx="386289" cy="132"/>
            </a:xfrm>
            <a:prstGeom prst="line">
              <a:avLst/>
            </a:prstGeom>
            <a:ln cap="flat" w="1772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55" id="55"/>
            <p:cNvSpPr txBox="true"/>
            <p:nvPr/>
          </p:nvSpPr>
          <p:spPr>
            <a:xfrm rot="0">
              <a:off x="2804345" y="827516"/>
              <a:ext cx="177384" cy="29616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862"/>
                </a:lnSpc>
                <a:spcBef>
                  <a:spcPct val="0"/>
                </a:spcBef>
              </a:pPr>
              <a:r>
                <a:rPr lang="en-US" b="true" sz="1330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N</a:t>
              </a:r>
            </a:p>
          </p:txBody>
        </p:sp>
        <p:sp>
          <p:nvSpPr>
            <p:cNvPr name="TextBox 56" id="56"/>
            <p:cNvSpPr txBox="true"/>
            <p:nvPr/>
          </p:nvSpPr>
          <p:spPr>
            <a:xfrm rot="0">
              <a:off x="3396544" y="820052"/>
              <a:ext cx="177384" cy="29616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862"/>
                </a:lnSpc>
                <a:spcBef>
                  <a:spcPct val="0"/>
                </a:spcBef>
              </a:pPr>
              <a:r>
                <a:rPr lang="en-US" b="true" sz="1330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C</a:t>
              </a:r>
            </a:p>
          </p:txBody>
        </p:sp>
        <p:sp>
          <p:nvSpPr>
            <p:cNvPr name="AutoShape 57" id="57"/>
            <p:cNvSpPr/>
            <p:nvPr/>
          </p:nvSpPr>
          <p:spPr>
            <a:xfrm flipH="true" flipV="true">
              <a:off x="2999147" y="989818"/>
              <a:ext cx="386289" cy="132"/>
            </a:xfrm>
            <a:prstGeom prst="line">
              <a:avLst/>
            </a:prstGeom>
            <a:ln cap="flat" w="1772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58" id="58"/>
            <p:cNvSpPr/>
            <p:nvPr/>
          </p:nvSpPr>
          <p:spPr>
            <a:xfrm flipH="true" flipV="true">
              <a:off x="3573932" y="991281"/>
              <a:ext cx="386289" cy="132"/>
            </a:xfrm>
            <a:prstGeom prst="line">
              <a:avLst/>
            </a:prstGeom>
            <a:ln cap="flat" w="1772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59" id="59"/>
            <p:cNvSpPr txBox="true"/>
            <p:nvPr/>
          </p:nvSpPr>
          <p:spPr>
            <a:xfrm rot="0">
              <a:off x="3973514" y="820052"/>
              <a:ext cx="177384" cy="29616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862"/>
                </a:lnSpc>
                <a:spcBef>
                  <a:spcPct val="0"/>
                </a:spcBef>
              </a:pPr>
              <a:r>
                <a:rPr lang="en-US" b="true" sz="1330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C</a:t>
              </a:r>
            </a:p>
          </p:txBody>
        </p:sp>
        <p:sp>
          <p:nvSpPr>
            <p:cNvPr name="AutoShape 60" id="60"/>
            <p:cNvSpPr/>
            <p:nvPr/>
          </p:nvSpPr>
          <p:spPr>
            <a:xfrm flipH="true" flipV="true">
              <a:off x="4164192" y="989950"/>
              <a:ext cx="386289" cy="132"/>
            </a:xfrm>
            <a:prstGeom prst="line">
              <a:avLst/>
            </a:prstGeom>
            <a:ln cap="flat" w="1772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61" id="61"/>
            <p:cNvSpPr txBox="true"/>
            <p:nvPr/>
          </p:nvSpPr>
          <p:spPr>
            <a:xfrm rot="0">
              <a:off x="4550481" y="829045"/>
              <a:ext cx="177384" cy="29616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862"/>
                </a:lnSpc>
                <a:spcBef>
                  <a:spcPct val="0"/>
                </a:spcBef>
              </a:pPr>
              <a:r>
                <a:rPr lang="en-US" b="true" sz="1330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H</a:t>
              </a:r>
            </a:p>
          </p:txBody>
        </p:sp>
        <p:sp>
          <p:nvSpPr>
            <p:cNvPr name="TextBox 62" id="62"/>
            <p:cNvSpPr txBox="true"/>
            <p:nvPr/>
          </p:nvSpPr>
          <p:spPr>
            <a:xfrm rot="-10800000">
              <a:off x="2812021" y="1055592"/>
              <a:ext cx="162032" cy="3774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427"/>
                </a:lnSpc>
                <a:spcBef>
                  <a:spcPct val="0"/>
                </a:spcBef>
              </a:pPr>
              <a:r>
                <a:rPr lang="en-US" b="true" sz="1733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..</a:t>
              </a:r>
            </a:p>
          </p:txBody>
        </p:sp>
        <p:sp>
          <p:nvSpPr>
            <p:cNvPr name="AutoShape 63" id="63"/>
            <p:cNvSpPr/>
            <p:nvPr/>
          </p:nvSpPr>
          <p:spPr>
            <a:xfrm>
              <a:off x="2886392" y="561141"/>
              <a:ext cx="0" cy="322446"/>
            </a:xfrm>
            <a:prstGeom prst="line">
              <a:avLst/>
            </a:prstGeom>
            <a:ln cap="flat" w="1329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64" id="64"/>
            <p:cNvSpPr/>
            <p:nvPr/>
          </p:nvSpPr>
          <p:spPr>
            <a:xfrm>
              <a:off x="4068852" y="535173"/>
              <a:ext cx="0" cy="322446"/>
            </a:xfrm>
            <a:prstGeom prst="line">
              <a:avLst/>
            </a:prstGeom>
            <a:ln cap="flat" w="1329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65" id="65"/>
            <p:cNvSpPr/>
            <p:nvPr/>
          </p:nvSpPr>
          <p:spPr>
            <a:xfrm>
              <a:off x="3521968" y="1101460"/>
              <a:ext cx="0" cy="322446"/>
            </a:xfrm>
            <a:prstGeom prst="line">
              <a:avLst/>
            </a:prstGeom>
            <a:ln cap="flat" w="1329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66" id="66"/>
            <p:cNvSpPr/>
            <p:nvPr/>
          </p:nvSpPr>
          <p:spPr>
            <a:xfrm>
              <a:off x="3475688" y="1101460"/>
              <a:ext cx="0" cy="322446"/>
            </a:xfrm>
            <a:prstGeom prst="line">
              <a:avLst/>
            </a:prstGeom>
            <a:ln cap="flat" w="1329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67" id="67"/>
            <p:cNvSpPr/>
            <p:nvPr/>
          </p:nvSpPr>
          <p:spPr>
            <a:xfrm>
              <a:off x="4068852" y="1101460"/>
              <a:ext cx="0" cy="322446"/>
            </a:xfrm>
            <a:prstGeom prst="line">
              <a:avLst/>
            </a:prstGeom>
            <a:ln cap="flat" w="1329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68" id="68"/>
            <p:cNvSpPr txBox="true"/>
            <p:nvPr/>
          </p:nvSpPr>
          <p:spPr>
            <a:xfrm rot="5464525">
              <a:off x="3380004" y="1358682"/>
              <a:ext cx="162032" cy="3774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427"/>
                </a:lnSpc>
                <a:spcBef>
                  <a:spcPct val="0"/>
                </a:spcBef>
              </a:pPr>
              <a:r>
                <a:rPr lang="en-US" b="true" sz="1733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..</a:t>
              </a:r>
            </a:p>
          </p:txBody>
        </p:sp>
        <p:sp>
          <p:nvSpPr>
            <p:cNvPr name="TextBox 69" id="69"/>
            <p:cNvSpPr txBox="true"/>
            <p:nvPr/>
          </p:nvSpPr>
          <p:spPr>
            <a:xfrm rot="0">
              <a:off x="3373897" y="1375864"/>
              <a:ext cx="228373" cy="29810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860"/>
                </a:lnSpc>
                <a:spcBef>
                  <a:spcPct val="0"/>
                </a:spcBef>
              </a:pPr>
              <a:r>
                <a:rPr lang="en-US" b="true" sz="1329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O</a:t>
              </a:r>
            </a:p>
          </p:txBody>
        </p:sp>
        <p:sp>
          <p:nvSpPr>
            <p:cNvPr name="TextBox 70" id="70"/>
            <p:cNvSpPr txBox="true"/>
            <p:nvPr/>
          </p:nvSpPr>
          <p:spPr>
            <a:xfrm rot="5400000">
              <a:off x="3651832" y="1358414"/>
              <a:ext cx="162032" cy="3774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427"/>
                </a:lnSpc>
                <a:spcBef>
                  <a:spcPct val="0"/>
                </a:spcBef>
              </a:pPr>
              <a:r>
                <a:rPr lang="en-US" b="true" sz="1733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..</a:t>
              </a:r>
            </a:p>
          </p:txBody>
        </p:sp>
        <p:sp>
          <p:nvSpPr>
            <p:cNvPr name="TextBox 71" id="71"/>
            <p:cNvSpPr txBox="true"/>
            <p:nvPr/>
          </p:nvSpPr>
          <p:spPr>
            <a:xfrm rot="0">
              <a:off x="2796668" y="292409"/>
              <a:ext cx="177384" cy="29616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862"/>
                </a:lnSpc>
                <a:spcBef>
                  <a:spcPct val="0"/>
                </a:spcBef>
              </a:pPr>
              <a:r>
                <a:rPr lang="en-US" b="true" sz="1330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H</a:t>
              </a:r>
            </a:p>
          </p:txBody>
        </p:sp>
        <p:sp>
          <p:nvSpPr>
            <p:cNvPr name="TextBox 72" id="72"/>
            <p:cNvSpPr txBox="true"/>
            <p:nvPr/>
          </p:nvSpPr>
          <p:spPr>
            <a:xfrm rot="0">
              <a:off x="3973514" y="239012"/>
              <a:ext cx="177384" cy="29616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862"/>
                </a:lnSpc>
                <a:spcBef>
                  <a:spcPct val="0"/>
                </a:spcBef>
              </a:pPr>
              <a:r>
                <a:rPr lang="en-US" b="true" sz="1330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H</a:t>
              </a:r>
            </a:p>
          </p:txBody>
        </p:sp>
        <p:sp>
          <p:nvSpPr>
            <p:cNvPr name="TextBox 73" id="73"/>
            <p:cNvSpPr txBox="true"/>
            <p:nvPr/>
          </p:nvSpPr>
          <p:spPr>
            <a:xfrm rot="0">
              <a:off x="3986808" y="1344604"/>
              <a:ext cx="177384" cy="29616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862"/>
                </a:lnSpc>
                <a:spcBef>
                  <a:spcPct val="0"/>
                </a:spcBef>
              </a:pPr>
              <a:r>
                <a:rPr lang="en-US" b="true" sz="1330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H</a:t>
              </a:r>
            </a:p>
          </p:txBody>
        </p:sp>
        <p:sp>
          <p:nvSpPr>
            <p:cNvPr name="TextBox 74" id="74"/>
            <p:cNvSpPr txBox="true"/>
            <p:nvPr/>
          </p:nvSpPr>
          <p:spPr>
            <a:xfrm rot="0">
              <a:off x="612319" y="587425"/>
              <a:ext cx="177384" cy="29616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862"/>
                </a:lnSpc>
                <a:spcBef>
                  <a:spcPct val="0"/>
                </a:spcBef>
              </a:pPr>
              <a:r>
                <a:rPr lang="en-US" b="true" sz="1330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H</a:t>
              </a:r>
            </a:p>
          </p:txBody>
        </p:sp>
        <p:sp>
          <p:nvSpPr>
            <p:cNvPr name="AutoShape 75" id="75"/>
            <p:cNvSpPr/>
            <p:nvPr/>
          </p:nvSpPr>
          <p:spPr>
            <a:xfrm>
              <a:off x="1908452" y="809143"/>
              <a:ext cx="257882" cy="148888"/>
            </a:xfrm>
            <a:prstGeom prst="line">
              <a:avLst/>
            </a:prstGeom>
            <a:ln cap="flat" w="1329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76" id="76"/>
            <p:cNvSpPr/>
            <p:nvPr/>
          </p:nvSpPr>
          <p:spPr>
            <a:xfrm>
              <a:off x="1360269" y="1131742"/>
              <a:ext cx="0" cy="292164"/>
            </a:xfrm>
            <a:prstGeom prst="line">
              <a:avLst/>
            </a:prstGeom>
            <a:ln cap="flat" w="1329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77" id="77"/>
            <p:cNvSpPr/>
            <p:nvPr/>
          </p:nvSpPr>
          <p:spPr>
            <a:xfrm flipV="true">
              <a:off x="1911762" y="1622977"/>
              <a:ext cx="258199" cy="148337"/>
            </a:xfrm>
            <a:prstGeom prst="line">
              <a:avLst/>
            </a:prstGeom>
            <a:ln cap="flat" w="1329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78" id="78"/>
            <p:cNvSpPr/>
            <p:nvPr/>
          </p:nvSpPr>
          <p:spPr>
            <a:xfrm>
              <a:off x="1823082" y="267587"/>
              <a:ext cx="0" cy="322446"/>
            </a:xfrm>
            <a:prstGeom prst="line">
              <a:avLst/>
            </a:prstGeom>
            <a:ln cap="flat" w="1329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79" id="79"/>
            <p:cNvSpPr txBox="true"/>
            <p:nvPr/>
          </p:nvSpPr>
          <p:spPr>
            <a:xfrm rot="0">
              <a:off x="1739928" y="-28575"/>
              <a:ext cx="177384" cy="29616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862"/>
                </a:lnSpc>
                <a:spcBef>
                  <a:spcPct val="0"/>
                </a:spcBef>
              </a:pPr>
              <a:r>
                <a:rPr lang="en-US" b="true" sz="1330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H</a:t>
              </a:r>
            </a:p>
          </p:txBody>
        </p:sp>
        <p:sp>
          <p:nvSpPr>
            <p:cNvPr name="AutoShape 80" id="80"/>
            <p:cNvSpPr/>
            <p:nvPr/>
          </p:nvSpPr>
          <p:spPr>
            <a:xfrm>
              <a:off x="1823082" y="1975776"/>
              <a:ext cx="0" cy="322446"/>
            </a:xfrm>
            <a:prstGeom prst="line">
              <a:avLst/>
            </a:prstGeom>
            <a:ln cap="flat" w="1329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81" id="81"/>
            <p:cNvSpPr txBox="true"/>
            <p:nvPr/>
          </p:nvSpPr>
          <p:spPr>
            <a:xfrm rot="0">
              <a:off x="1739928" y="2269647"/>
              <a:ext cx="177384" cy="29616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862"/>
                </a:lnSpc>
                <a:spcBef>
                  <a:spcPct val="0"/>
                </a:spcBef>
              </a:pPr>
              <a:r>
                <a:rPr lang="en-US" b="true" sz="1330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H</a:t>
              </a:r>
            </a:p>
          </p:txBody>
        </p:sp>
        <p:sp>
          <p:nvSpPr>
            <p:cNvPr name="TextBox 82" id="82"/>
            <p:cNvSpPr txBox="true"/>
            <p:nvPr/>
          </p:nvSpPr>
          <p:spPr>
            <a:xfrm rot="0">
              <a:off x="2832109" y="1629270"/>
              <a:ext cx="177384" cy="29616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862"/>
                </a:lnSpc>
                <a:spcBef>
                  <a:spcPct val="0"/>
                </a:spcBef>
              </a:pPr>
              <a:r>
                <a:rPr lang="en-US" b="true" sz="1330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H</a:t>
              </a:r>
            </a:p>
          </p:txBody>
        </p:sp>
        <p:sp>
          <p:nvSpPr>
            <p:cNvPr name="AutoShape 83" id="83"/>
            <p:cNvSpPr/>
            <p:nvPr/>
          </p:nvSpPr>
          <p:spPr>
            <a:xfrm flipH="true" flipV="true">
              <a:off x="2387272" y="1584602"/>
              <a:ext cx="405827" cy="178603"/>
            </a:xfrm>
            <a:prstGeom prst="line">
              <a:avLst/>
            </a:prstGeom>
            <a:ln cap="flat" w="1772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</p:grpSp>
      <p:sp>
        <p:nvSpPr>
          <p:cNvPr name="Freeform 84" id="84"/>
          <p:cNvSpPr/>
          <p:nvPr/>
        </p:nvSpPr>
        <p:spPr>
          <a:xfrm flipH="false" flipV="false" rot="0">
            <a:off x="5861683" y="4732500"/>
            <a:ext cx="3430136" cy="1840884"/>
          </a:xfrm>
          <a:custGeom>
            <a:avLst/>
            <a:gdLst/>
            <a:ahLst/>
            <a:cxnLst/>
            <a:rect r="r" b="b" t="t" l="l"/>
            <a:pathLst>
              <a:path h="1840884" w="3430136">
                <a:moveTo>
                  <a:pt x="0" y="0"/>
                </a:moveTo>
                <a:lnTo>
                  <a:pt x="3430136" y="0"/>
                </a:lnTo>
                <a:lnTo>
                  <a:pt x="3430136" y="1840884"/>
                </a:lnTo>
                <a:lnTo>
                  <a:pt x="0" y="184088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85" id="85"/>
          <p:cNvSpPr txBox="true"/>
          <p:nvPr/>
        </p:nvSpPr>
        <p:spPr>
          <a:xfrm rot="0">
            <a:off x="756000" y="384199"/>
            <a:ext cx="9278880" cy="5190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41"/>
              </a:lnSpc>
              <a:spcBef>
                <a:spcPct val="0"/>
              </a:spcBef>
            </a:pPr>
            <a:r>
              <a:rPr lang="en-US" sz="2815">
                <a:solidFill>
                  <a:srgbClr val="FFFFFF"/>
                </a:solidFill>
                <a:latin typeface="Horizon"/>
                <a:ea typeface="Horizon"/>
                <a:cs typeface="Horizon"/>
                <a:sym typeface="Horizon"/>
              </a:rPr>
              <a:t>Card 08 - ACETAMINOPHEN</a:t>
            </a:r>
          </a:p>
        </p:txBody>
      </p:sp>
      <p:grpSp>
        <p:nvGrpSpPr>
          <p:cNvPr name="Group 86" id="86"/>
          <p:cNvGrpSpPr/>
          <p:nvPr/>
        </p:nvGrpSpPr>
        <p:grpSpPr>
          <a:xfrm rot="0">
            <a:off x="1051506" y="2265554"/>
            <a:ext cx="4167043" cy="1104535"/>
            <a:chOff x="0" y="0"/>
            <a:chExt cx="5556058" cy="1472714"/>
          </a:xfrm>
        </p:grpSpPr>
        <p:sp>
          <p:nvSpPr>
            <p:cNvPr name="TextBox 87" id="87"/>
            <p:cNvSpPr txBox="true"/>
            <p:nvPr/>
          </p:nvSpPr>
          <p:spPr>
            <a:xfrm rot="0">
              <a:off x="0" y="-142875"/>
              <a:ext cx="5200319" cy="161558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0194"/>
                </a:lnSpc>
                <a:spcBef>
                  <a:spcPct val="0"/>
                </a:spcBef>
              </a:pPr>
              <a:r>
                <a:rPr lang="en-US" sz="7281">
                  <a:solidFill>
                    <a:srgbClr val="000000"/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C H NO</a:t>
              </a:r>
            </a:p>
          </p:txBody>
        </p:sp>
        <p:sp>
          <p:nvSpPr>
            <p:cNvPr name="TextBox 88" id="88"/>
            <p:cNvSpPr txBox="true"/>
            <p:nvPr/>
          </p:nvSpPr>
          <p:spPr>
            <a:xfrm rot="0">
              <a:off x="972732" y="423488"/>
              <a:ext cx="711477" cy="96052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989"/>
                </a:lnSpc>
                <a:spcBef>
                  <a:spcPct val="0"/>
                </a:spcBef>
              </a:pPr>
              <a:r>
                <a:rPr lang="en-US" sz="4278">
                  <a:solidFill>
                    <a:srgbClr val="000000"/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8</a:t>
              </a:r>
            </a:p>
          </p:txBody>
        </p:sp>
        <p:sp>
          <p:nvSpPr>
            <p:cNvPr name="TextBox 89" id="89"/>
            <p:cNvSpPr txBox="true"/>
            <p:nvPr/>
          </p:nvSpPr>
          <p:spPr>
            <a:xfrm rot="0">
              <a:off x="2388902" y="423488"/>
              <a:ext cx="711477" cy="96052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989"/>
                </a:lnSpc>
                <a:spcBef>
                  <a:spcPct val="0"/>
                </a:spcBef>
              </a:pPr>
              <a:r>
                <a:rPr lang="en-US" sz="4278">
                  <a:solidFill>
                    <a:srgbClr val="000000"/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9</a:t>
              </a:r>
            </a:p>
          </p:txBody>
        </p:sp>
        <p:sp>
          <p:nvSpPr>
            <p:cNvPr name="TextBox 90" id="90"/>
            <p:cNvSpPr txBox="true"/>
            <p:nvPr/>
          </p:nvSpPr>
          <p:spPr>
            <a:xfrm rot="0">
              <a:off x="4844581" y="423488"/>
              <a:ext cx="711477" cy="96052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989"/>
                </a:lnSpc>
                <a:spcBef>
                  <a:spcPct val="0"/>
                </a:spcBef>
              </a:pPr>
              <a:r>
                <a:rPr lang="en-US" sz="4278">
                  <a:solidFill>
                    <a:srgbClr val="000000"/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2</a:t>
              </a:r>
            </a:p>
          </p:txBody>
        </p:sp>
      </p:grpSp>
      <p:grpSp>
        <p:nvGrpSpPr>
          <p:cNvPr name="Group 91" id="91"/>
          <p:cNvGrpSpPr/>
          <p:nvPr/>
        </p:nvGrpSpPr>
        <p:grpSpPr>
          <a:xfrm rot="0">
            <a:off x="1194497" y="5269933"/>
            <a:ext cx="3881061" cy="766018"/>
            <a:chOff x="0" y="0"/>
            <a:chExt cx="5174748" cy="1021357"/>
          </a:xfrm>
        </p:grpSpPr>
        <p:sp>
          <p:nvSpPr>
            <p:cNvPr name="TextBox 92" id="92"/>
            <p:cNvSpPr txBox="true"/>
            <p:nvPr/>
          </p:nvSpPr>
          <p:spPr>
            <a:xfrm rot="0">
              <a:off x="0" y="-200025"/>
              <a:ext cx="5174748" cy="122138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7052"/>
                </a:lnSpc>
                <a:spcBef>
                  <a:spcPct val="0"/>
                </a:spcBef>
              </a:pPr>
              <a:r>
                <a:rPr lang="en-US" sz="5037">
                  <a:solidFill>
                    <a:srgbClr val="000000"/>
                  </a:solidFill>
                  <a:latin typeface="Impact"/>
                  <a:ea typeface="Impact"/>
                  <a:cs typeface="Impact"/>
                  <a:sym typeface="Impact"/>
                </a:rPr>
                <a:t>HOC H NHCOCH</a:t>
              </a:r>
            </a:p>
          </p:txBody>
        </p:sp>
        <p:sp>
          <p:nvSpPr>
            <p:cNvPr name="TextBox 93" id="93"/>
            <p:cNvSpPr txBox="true"/>
            <p:nvPr/>
          </p:nvSpPr>
          <p:spPr>
            <a:xfrm rot="0">
              <a:off x="1421046" y="317434"/>
              <a:ext cx="492250" cy="64952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760"/>
                </a:lnSpc>
                <a:spcBef>
                  <a:spcPct val="0"/>
                </a:spcBef>
              </a:pPr>
              <a:r>
                <a:rPr lang="en-US" sz="2686">
                  <a:solidFill>
                    <a:srgbClr val="000000"/>
                  </a:solidFill>
                  <a:latin typeface="Impact"/>
                  <a:ea typeface="Impact"/>
                  <a:cs typeface="Impact"/>
                  <a:sym typeface="Impact"/>
                </a:rPr>
                <a:t>6</a:t>
              </a:r>
            </a:p>
          </p:txBody>
        </p:sp>
        <p:sp>
          <p:nvSpPr>
            <p:cNvPr name="TextBox 94" id="94"/>
            <p:cNvSpPr txBox="true"/>
            <p:nvPr/>
          </p:nvSpPr>
          <p:spPr>
            <a:xfrm rot="0">
              <a:off x="2042602" y="330347"/>
              <a:ext cx="492250" cy="64952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760"/>
                </a:lnSpc>
                <a:spcBef>
                  <a:spcPct val="0"/>
                </a:spcBef>
              </a:pPr>
              <a:r>
                <a:rPr lang="en-US" sz="2686">
                  <a:solidFill>
                    <a:srgbClr val="000000"/>
                  </a:solidFill>
                  <a:latin typeface="Impact"/>
                  <a:ea typeface="Impact"/>
                  <a:cs typeface="Impact"/>
                  <a:sym typeface="Impact"/>
                </a:rPr>
                <a:t>4</a:t>
              </a:r>
            </a:p>
          </p:txBody>
        </p:sp>
        <p:sp>
          <p:nvSpPr>
            <p:cNvPr name="TextBox 95" id="95"/>
            <p:cNvSpPr txBox="true"/>
            <p:nvPr/>
          </p:nvSpPr>
          <p:spPr>
            <a:xfrm rot="0">
              <a:off x="4682498" y="317434"/>
              <a:ext cx="492250" cy="64952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760"/>
                </a:lnSpc>
                <a:spcBef>
                  <a:spcPct val="0"/>
                </a:spcBef>
              </a:pPr>
              <a:r>
                <a:rPr lang="en-US" sz="2686">
                  <a:solidFill>
                    <a:srgbClr val="000000"/>
                  </a:solidFill>
                  <a:latin typeface="Impact"/>
                  <a:ea typeface="Impact"/>
                  <a:cs typeface="Impact"/>
                  <a:sym typeface="Impact"/>
                </a:rPr>
                <a:t>3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3E4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63023" y="1414346"/>
            <a:ext cx="8565953" cy="5366374"/>
            <a:chOff x="0" y="0"/>
            <a:chExt cx="11421271" cy="7155165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232350"/>
              <a:ext cx="5556832" cy="3078532"/>
              <a:chOff x="0" y="0"/>
              <a:chExt cx="635000" cy="351795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635000" cy="351795"/>
              </a:xfrm>
              <a:custGeom>
                <a:avLst/>
                <a:gdLst/>
                <a:ahLst/>
                <a:cxnLst/>
                <a:rect r="r" b="b" t="t" l="l"/>
                <a:pathLst>
                  <a:path h="351795" w="635000">
                    <a:moveTo>
                      <a:pt x="42087" y="0"/>
                    </a:moveTo>
                    <a:lnTo>
                      <a:pt x="592913" y="0"/>
                    </a:lnTo>
                    <a:cubicBezTo>
                      <a:pt x="616157" y="0"/>
                      <a:pt x="635000" y="18843"/>
                      <a:pt x="635000" y="42087"/>
                    </a:cubicBezTo>
                    <a:lnTo>
                      <a:pt x="635000" y="309708"/>
                    </a:lnTo>
                    <a:cubicBezTo>
                      <a:pt x="635000" y="332952"/>
                      <a:pt x="616157" y="351795"/>
                      <a:pt x="592913" y="351795"/>
                    </a:cubicBezTo>
                    <a:lnTo>
                      <a:pt x="42087" y="351795"/>
                    </a:lnTo>
                    <a:cubicBezTo>
                      <a:pt x="18843" y="351795"/>
                      <a:pt x="0" y="332952"/>
                      <a:pt x="0" y="309708"/>
                    </a:cubicBezTo>
                    <a:lnTo>
                      <a:pt x="0" y="42087"/>
                    </a:lnTo>
                    <a:cubicBezTo>
                      <a:pt x="0" y="18843"/>
                      <a:pt x="18843" y="0"/>
                      <a:pt x="4208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rnd">
                <a:noFill/>
                <a:prstDash val="sysDot"/>
                <a:round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38100"/>
                <a:ext cx="635000" cy="38989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820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849109" y="0"/>
              <a:ext cx="3799999" cy="495222"/>
              <a:chOff x="0" y="0"/>
              <a:chExt cx="1061224" cy="138301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1061224" cy="138301"/>
              </a:xfrm>
              <a:custGeom>
                <a:avLst/>
                <a:gdLst/>
                <a:ahLst/>
                <a:cxnLst/>
                <a:rect r="r" b="b" t="t" l="l"/>
                <a:pathLst>
                  <a:path h="138301" w="1061224">
                    <a:moveTo>
                      <a:pt x="69150" y="0"/>
                    </a:moveTo>
                    <a:lnTo>
                      <a:pt x="992073" y="0"/>
                    </a:lnTo>
                    <a:cubicBezTo>
                      <a:pt x="1010413" y="0"/>
                      <a:pt x="1028002" y="7285"/>
                      <a:pt x="1040970" y="20254"/>
                    </a:cubicBezTo>
                    <a:cubicBezTo>
                      <a:pt x="1053938" y="33222"/>
                      <a:pt x="1061224" y="50810"/>
                      <a:pt x="1061224" y="69150"/>
                    </a:cubicBezTo>
                    <a:lnTo>
                      <a:pt x="1061224" y="69150"/>
                    </a:lnTo>
                    <a:cubicBezTo>
                      <a:pt x="1061224" y="87490"/>
                      <a:pt x="1053938" y="105079"/>
                      <a:pt x="1040970" y="118047"/>
                    </a:cubicBezTo>
                    <a:cubicBezTo>
                      <a:pt x="1028002" y="131015"/>
                      <a:pt x="1010413" y="138301"/>
                      <a:pt x="992073" y="138301"/>
                    </a:cubicBezTo>
                    <a:lnTo>
                      <a:pt x="69150" y="138301"/>
                    </a:lnTo>
                    <a:cubicBezTo>
                      <a:pt x="50810" y="138301"/>
                      <a:pt x="33222" y="131015"/>
                      <a:pt x="20254" y="118047"/>
                    </a:cubicBezTo>
                    <a:cubicBezTo>
                      <a:pt x="7285" y="105079"/>
                      <a:pt x="0" y="87490"/>
                      <a:pt x="0" y="69150"/>
                    </a:cubicBezTo>
                    <a:lnTo>
                      <a:pt x="0" y="69150"/>
                    </a:lnTo>
                    <a:cubicBezTo>
                      <a:pt x="0" y="50810"/>
                      <a:pt x="7285" y="33222"/>
                      <a:pt x="20254" y="20254"/>
                    </a:cubicBezTo>
                    <a:cubicBezTo>
                      <a:pt x="33222" y="7285"/>
                      <a:pt x="50810" y="0"/>
                      <a:pt x="69150" y="0"/>
                    </a:cubicBezTo>
                    <a:close/>
                  </a:path>
                </a:pathLst>
              </a:custGeom>
              <a:solidFill>
                <a:srgbClr val="004AAD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38100"/>
                <a:ext cx="1061224" cy="176401"/>
              </a:xfrm>
              <a:prstGeom prst="rect">
                <a:avLst/>
              </a:prstGeom>
            </p:spPr>
            <p:txBody>
              <a:bodyPr anchor="ctr" rtlCol="false" tIns="48892" lIns="48892" bIns="48892" rIns="48892"/>
              <a:lstStyle/>
              <a:p>
                <a:pPr algn="ctr">
                  <a:lnSpc>
                    <a:spcPts val="1820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9" id="9"/>
            <p:cNvSpPr txBox="true"/>
            <p:nvPr/>
          </p:nvSpPr>
          <p:spPr>
            <a:xfrm rot="0">
              <a:off x="994956" y="8931"/>
              <a:ext cx="3436342" cy="42994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701"/>
                </a:lnSpc>
                <a:spcBef>
                  <a:spcPct val="0"/>
                </a:spcBef>
              </a:pPr>
              <a:r>
                <a:rPr lang="en-US" sz="1929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Molecular Formula</a:t>
              </a:r>
            </a:p>
          </p:txBody>
        </p:sp>
        <p:grpSp>
          <p:nvGrpSpPr>
            <p:cNvPr name="Group 10" id="10"/>
            <p:cNvGrpSpPr/>
            <p:nvPr/>
          </p:nvGrpSpPr>
          <p:grpSpPr>
            <a:xfrm rot="0">
              <a:off x="5864439" y="232350"/>
              <a:ext cx="5556832" cy="3078532"/>
              <a:chOff x="0" y="0"/>
              <a:chExt cx="635000" cy="351795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635000" cy="351795"/>
              </a:xfrm>
              <a:custGeom>
                <a:avLst/>
                <a:gdLst/>
                <a:ahLst/>
                <a:cxnLst/>
                <a:rect r="r" b="b" t="t" l="l"/>
                <a:pathLst>
                  <a:path h="351795" w="635000">
                    <a:moveTo>
                      <a:pt x="42087" y="0"/>
                    </a:moveTo>
                    <a:lnTo>
                      <a:pt x="592913" y="0"/>
                    </a:lnTo>
                    <a:cubicBezTo>
                      <a:pt x="616157" y="0"/>
                      <a:pt x="635000" y="18843"/>
                      <a:pt x="635000" y="42087"/>
                    </a:cubicBezTo>
                    <a:lnTo>
                      <a:pt x="635000" y="309708"/>
                    </a:lnTo>
                    <a:cubicBezTo>
                      <a:pt x="635000" y="332952"/>
                      <a:pt x="616157" y="351795"/>
                      <a:pt x="592913" y="351795"/>
                    </a:cubicBezTo>
                    <a:lnTo>
                      <a:pt x="42087" y="351795"/>
                    </a:lnTo>
                    <a:cubicBezTo>
                      <a:pt x="18843" y="351795"/>
                      <a:pt x="0" y="332952"/>
                      <a:pt x="0" y="309708"/>
                    </a:cubicBezTo>
                    <a:lnTo>
                      <a:pt x="0" y="42087"/>
                    </a:lnTo>
                    <a:cubicBezTo>
                      <a:pt x="0" y="18843"/>
                      <a:pt x="18843" y="0"/>
                      <a:pt x="4208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rnd">
                <a:noFill/>
                <a:prstDash val="sysDot"/>
                <a:round/>
              </a:ln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28575"/>
                <a:ext cx="635000" cy="38037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60"/>
                  </a:lnSpc>
                </a:pPr>
              </a:p>
            </p:txBody>
          </p:sp>
        </p:grpSp>
        <p:grpSp>
          <p:nvGrpSpPr>
            <p:cNvPr name="Group 13" id="13"/>
            <p:cNvGrpSpPr/>
            <p:nvPr/>
          </p:nvGrpSpPr>
          <p:grpSpPr>
            <a:xfrm rot="0">
              <a:off x="6713548" y="0"/>
              <a:ext cx="3799999" cy="495222"/>
              <a:chOff x="0" y="0"/>
              <a:chExt cx="1061224" cy="138301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1061224" cy="138301"/>
              </a:xfrm>
              <a:custGeom>
                <a:avLst/>
                <a:gdLst/>
                <a:ahLst/>
                <a:cxnLst/>
                <a:rect r="r" b="b" t="t" l="l"/>
                <a:pathLst>
                  <a:path h="138301" w="1061224">
                    <a:moveTo>
                      <a:pt x="69150" y="0"/>
                    </a:moveTo>
                    <a:lnTo>
                      <a:pt x="992073" y="0"/>
                    </a:lnTo>
                    <a:cubicBezTo>
                      <a:pt x="1010413" y="0"/>
                      <a:pt x="1028002" y="7285"/>
                      <a:pt x="1040970" y="20254"/>
                    </a:cubicBezTo>
                    <a:cubicBezTo>
                      <a:pt x="1053938" y="33222"/>
                      <a:pt x="1061224" y="50810"/>
                      <a:pt x="1061224" y="69150"/>
                    </a:cubicBezTo>
                    <a:lnTo>
                      <a:pt x="1061224" y="69150"/>
                    </a:lnTo>
                    <a:cubicBezTo>
                      <a:pt x="1061224" y="87490"/>
                      <a:pt x="1053938" y="105079"/>
                      <a:pt x="1040970" y="118047"/>
                    </a:cubicBezTo>
                    <a:cubicBezTo>
                      <a:pt x="1028002" y="131015"/>
                      <a:pt x="1010413" y="138301"/>
                      <a:pt x="992073" y="138301"/>
                    </a:cubicBezTo>
                    <a:lnTo>
                      <a:pt x="69150" y="138301"/>
                    </a:lnTo>
                    <a:cubicBezTo>
                      <a:pt x="50810" y="138301"/>
                      <a:pt x="33222" y="131015"/>
                      <a:pt x="20254" y="118047"/>
                    </a:cubicBezTo>
                    <a:cubicBezTo>
                      <a:pt x="7285" y="105079"/>
                      <a:pt x="0" y="87490"/>
                      <a:pt x="0" y="69150"/>
                    </a:cubicBezTo>
                    <a:lnTo>
                      <a:pt x="0" y="69150"/>
                    </a:lnTo>
                    <a:cubicBezTo>
                      <a:pt x="0" y="50810"/>
                      <a:pt x="7285" y="33222"/>
                      <a:pt x="20254" y="20254"/>
                    </a:cubicBezTo>
                    <a:cubicBezTo>
                      <a:pt x="33222" y="7285"/>
                      <a:pt x="50810" y="0"/>
                      <a:pt x="69150" y="0"/>
                    </a:cubicBezTo>
                    <a:close/>
                  </a:path>
                </a:pathLst>
              </a:custGeom>
              <a:solidFill>
                <a:srgbClr val="004AAD"/>
              </a:solidFill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0" y="-28575"/>
                <a:ext cx="1061224" cy="166876"/>
              </a:xfrm>
              <a:prstGeom prst="rect">
                <a:avLst/>
              </a:prstGeom>
            </p:spPr>
            <p:txBody>
              <a:bodyPr anchor="ctr" rtlCol="false" tIns="48892" lIns="48892" bIns="48892" rIns="48892"/>
              <a:lstStyle/>
              <a:p>
                <a:pPr algn="ctr">
                  <a:lnSpc>
                    <a:spcPts val="1960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16" id="16"/>
            <p:cNvSpPr txBox="true"/>
            <p:nvPr/>
          </p:nvSpPr>
          <p:spPr>
            <a:xfrm rot="0">
              <a:off x="6859395" y="8931"/>
              <a:ext cx="3436342" cy="42994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701"/>
                </a:lnSpc>
                <a:spcBef>
                  <a:spcPct val="0"/>
                </a:spcBef>
              </a:pPr>
              <a:r>
                <a:rPr lang="en-US" sz="1929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Lewis Structure</a:t>
              </a:r>
            </a:p>
          </p:txBody>
        </p:sp>
        <p:grpSp>
          <p:nvGrpSpPr>
            <p:cNvPr name="Group 17" id="17"/>
            <p:cNvGrpSpPr/>
            <p:nvPr/>
          </p:nvGrpSpPr>
          <p:grpSpPr>
            <a:xfrm rot="0">
              <a:off x="0" y="4076632"/>
              <a:ext cx="5556832" cy="3078532"/>
              <a:chOff x="0" y="0"/>
              <a:chExt cx="635000" cy="351795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635000" cy="351795"/>
              </a:xfrm>
              <a:custGeom>
                <a:avLst/>
                <a:gdLst/>
                <a:ahLst/>
                <a:cxnLst/>
                <a:rect r="r" b="b" t="t" l="l"/>
                <a:pathLst>
                  <a:path h="351795" w="635000">
                    <a:moveTo>
                      <a:pt x="42087" y="0"/>
                    </a:moveTo>
                    <a:lnTo>
                      <a:pt x="592913" y="0"/>
                    </a:lnTo>
                    <a:cubicBezTo>
                      <a:pt x="616157" y="0"/>
                      <a:pt x="635000" y="18843"/>
                      <a:pt x="635000" y="42087"/>
                    </a:cubicBezTo>
                    <a:lnTo>
                      <a:pt x="635000" y="309708"/>
                    </a:lnTo>
                    <a:cubicBezTo>
                      <a:pt x="635000" y="332952"/>
                      <a:pt x="616157" y="351795"/>
                      <a:pt x="592913" y="351795"/>
                    </a:cubicBezTo>
                    <a:lnTo>
                      <a:pt x="42087" y="351795"/>
                    </a:lnTo>
                    <a:cubicBezTo>
                      <a:pt x="18843" y="351795"/>
                      <a:pt x="0" y="332952"/>
                      <a:pt x="0" y="309708"/>
                    </a:cubicBezTo>
                    <a:lnTo>
                      <a:pt x="0" y="42087"/>
                    </a:lnTo>
                    <a:cubicBezTo>
                      <a:pt x="0" y="18843"/>
                      <a:pt x="18843" y="0"/>
                      <a:pt x="4208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rnd">
                <a:noFill/>
                <a:prstDash val="sysDot"/>
                <a:round/>
              </a:ln>
            </p:spPr>
          </p:sp>
          <p:sp>
            <p:nvSpPr>
              <p:cNvPr name="TextBox 19" id="19"/>
              <p:cNvSpPr txBox="true"/>
              <p:nvPr/>
            </p:nvSpPr>
            <p:spPr>
              <a:xfrm>
                <a:off x="0" y="-28575"/>
                <a:ext cx="635000" cy="38037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60"/>
                  </a:lnSpc>
                </a:pPr>
              </a:p>
            </p:txBody>
          </p:sp>
        </p:grpSp>
        <p:grpSp>
          <p:nvGrpSpPr>
            <p:cNvPr name="Group 20" id="20"/>
            <p:cNvGrpSpPr/>
            <p:nvPr/>
          </p:nvGrpSpPr>
          <p:grpSpPr>
            <a:xfrm rot="0">
              <a:off x="510787" y="3891314"/>
              <a:ext cx="4535257" cy="495222"/>
              <a:chOff x="0" y="0"/>
              <a:chExt cx="1266559" cy="138301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0" y="0"/>
                <a:ext cx="1266559" cy="138301"/>
              </a:xfrm>
              <a:custGeom>
                <a:avLst/>
                <a:gdLst/>
                <a:ahLst/>
                <a:cxnLst/>
                <a:rect r="r" b="b" t="t" l="l"/>
                <a:pathLst>
                  <a:path h="138301" w="1266559">
                    <a:moveTo>
                      <a:pt x="69150" y="0"/>
                    </a:moveTo>
                    <a:lnTo>
                      <a:pt x="1197409" y="0"/>
                    </a:lnTo>
                    <a:cubicBezTo>
                      <a:pt x="1235599" y="0"/>
                      <a:pt x="1266559" y="30960"/>
                      <a:pt x="1266559" y="69150"/>
                    </a:cubicBezTo>
                    <a:lnTo>
                      <a:pt x="1266559" y="69150"/>
                    </a:lnTo>
                    <a:cubicBezTo>
                      <a:pt x="1266559" y="87490"/>
                      <a:pt x="1259273" y="105079"/>
                      <a:pt x="1246305" y="118047"/>
                    </a:cubicBezTo>
                    <a:cubicBezTo>
                      <a:pt x="1233337" y="131015"/>
                      <a:pt x="1215748" y="138301"/>
                      <a:pt x="1197409" y="138301"/>
                    </a:cubicBezTo>
                    <a:lnTo>
                      <a:pt x="69150" y="138301"/>
                    </a:lnTo>
                    <a:cubicBezTo>
                      <a:pt x="50810" y="138301"/>
                      <a:pt x="33222" y="131015"/>
                      <a:pt x="20254" y="118047"/>
                    </a:cubicBezTo>
                    <a:cubicBezTo>
                      <a:pt x="7285" y="105079"/>
                      <a:pt x="0" y="87490"/>
                      <a:pt x="0" y="69150"/>
                    </a:cubicBezTo>
                    <a:lnTo>
                      <a:pt x="0" y="69150"/>
                    </a:lnTo>
                    <a:cubicBezTo>
                      <a:pt x="0" y="50810"/>
                      <a:pt x="7285" y="33222"/>
                      <a:pt x="20254" y="20254"/>
                    </a:cubicBezTo>
                    <a:cubicBezTo>
                      <a:pt x="33222" y="7285"/>
                      <a:pt x="50810" y="0"/>
                      <a:pt x="69150" y="0"/>
                    </a:cubicBezTo>
                    <a:close/>
                  </a:path>
                </a:pathLst>
              </a:custGeom>
              <a:solidFill>
                <a:srgbClr val="004AAD"/>
              </a:solidFill>
            </p:spPr>
          </p:sp>
          <p:sp>
            <p:nvSpPr>
              <p:cNvPr name="TextBox 22" id="22"/>
              <p:cNvSpPr txBox="true"/>
              <p:nvPr/>
            </p:nvSpPr>
            <p:spPr>
              <a:xfrm>
                <a:off x="0" y="-28575"/>
                <a:ext cx="1266559" cy="166876"/>
              </a:xfrm>
              <a:prstGeom prst="rect">
                <a:avLst/>
              </a:prstGeom>
            </p:spPr>
            <p:txBody>
              <a:bodyPr anchor="ctr" rtlCol="false" tIns="48892" lIns="48892" bIns="48892" rIns="48892"/>
              <a:lstStyle/>
              <a:p>
                <a:pPr algn="ctr">
                  <a:lnSpc>
                    <a:spcPts val="1960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23" id="23"/>
            <p:cNvSpPr txBox="true"/>
            <p:nvPr/>
          </p:nvSpPr>
          <p:spPr>
            <a:xfrm rot="0">
              <a:off x="636817" y="3937400"/>
              <a:ext cx="4283198" cy="3649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315"/>
                </a:lnSpc>
                <a:spcBef>
                  <a:spcPct val="0"/>
                </a:spcBef>
              </a:pPr>
              <a:r>
                <a:rPr lang="en-US" sz="1653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Condensed Structural Formula</a:t>
              </a:r>
            </a:p>
          </p:txBody>
        </p:sp>
        <p:grpSp>
          <p:nvGrpSpPr>
            <p:cNvPr name="Group 24" id="24"/>
            <p:cNvGrpSpPr/>
            <p:nvPr/>
          </p:nvGrpSpPr>
          <p:grpSpPr>
            <a:xfrm rot="0">
              <a:off x="5864439" y="4076632"/>
              <a:ext cx="5556832" cy="3078532"/>
              <a:chOff x="0" y="0"/>
              <a:chExt cx="635000" cy="351795"/>
            </a:xfrm>
          </p:grpSpPr>
          <p:sp>
            <p:nvSpPr>
              <p:cNvPr name="Freeform 25" id="25"/>
              <p:cNvSpPr/>
              <p:nvPr/>
            </p:nvSpPr>
            <p:spPr>
              <a:xfrm flipH="false" flipV="false" rot="0">
                <a:off x="0" y="0"/>
                <a:ext cx="635000" cy="351795"/>
              </a:xfrm>
              <a:custGeom>
                <a:avLst/>
                <a:gdLst/>
                <a:ahLst/>
                <a:cxnLst/>
                <a:rect r="r" b="b" t="t" l="l"/>
                <a:pathLst>
                  <a:path h="351795" w="635000">
                    <a:moveTo>
                      <a:pt x="42087" y="0"/>
                    </a:moveTo>
                    <a:lnTo>
                      <a:pt x="592913" y="0"/>
                    </a:lnTo>
                    <a:cubicBezTo>
                      <a:pt x="616157" y="0"/>
                      <a:pt x="635000" y="18843"/>
                      <a:pt x="635000" y="42087"/>
                    </a:cubicBezTo>
                    <a:lnTo>
                      <a:pt x="635000" y="309708"/>
                    </a:lnTo>
                    <a:cubicBezTo>
                      <a:pt x="635000" y="332952"/>
                      <a:pt x="616157" y="351795"/>
                      <a:pt x="592913" y="351795"/>
                    </a:cubicBezTo>
                    <a:lnTo>
                      <a:pt x="42087" y="351795"/>
                    </a:lnTo>
                    <a:cubicBezTo>
                      <a:pt x="18843" y="351795"/>
                      <a:pt x="0" y="332952"/>
                      <a:pt x="0" y="309708"/>
                    </a:cubicBezTo>
                    <a:lnTo>
                      <a:pt x="0" y="42087"/>
                    </a:lnTo>
                    <a:cubicBezTo>
                      <a:pt x="0" y="18843"/>
                      <a:pt x="18843" y="0"/>
                      <a:pt x="4208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rnd">
                <a:noFill/>
                <a:prstDash val="sysDot"/>
                <a:round/>
              </a:ln>
            </p:spPr>
          </p:sp>
          <p:sp>
            <p:nvSpPr>
              <p:cNvPr name="TextBox 26" id="26"/>
              <p:cNvSpPr txBox="true"/>
              <p:nvPr/>
            </p:nvSpPr>
            <p:spPr>
              <a:xfrm>
                <a:off x="0" y="-28575"/>
                <a:ext cx="635000" cy="38037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60"/>
                  </a:lnSpc>
                </a:pPr>
              </a:p>
            </p:txBody>
          </p:sp>
        </p:grpSp>
        <p:grpSp>
          <p:nvGrpSpPr>
            <p:cNvPr name="Group 27" id="27"/>
            <p:cNvGrpSpPr/>
            <p:nvPr/>
          </p:nvGrpSpPr>
          <p:grpSpPr>
            <a:xfrm rot="0">
              <a:off x="6713548" y="3844282"/>
              <a:ext cx="3799999" cy="495222"/>
              <a:chOff x="0" y="0"/>
              <a:chExt cx="1061224" cy="138301"/>
            </a:xfrm>
          </p:grpSpPr>
          <p:sp>
            <p:nvSpPr>
              <p:cNvPr name="Freeform 28" id="28"/>
              <p:cNvSpPr/>
              <p:nvPr/>
            </p:nvSpPr>
            <p:spPr>
              <a:xfrm flipH="false" flipV="false" rot="0">
                <a:off x="0" y="0"/>
                <a:ext cx="1061224" cy="138301"/>
              </a:xfrm>
              <a:custGeom>
                <a:avLst/>
                <a:gdLst/>
                <a:ahLst/>
                <a:cxnLst/>
                <a:rect r="r" b="b" t="t" l="l"/>
                <a:pathLst>
                  <a:path h="138301" w="1061224">
                    <a:moveTo>
                      <a:pt x="69150" y="0"/>
                    </a:moveTo>
                    <a:lnTo>
                      <a:pt x="992073" y="0"/>
                    </a:lnTo>
                    <a:cubicBezTo>
                      <a:pt x="1010413" y="0"/>
                      <a:pt x="1028002" y="7285"/>
                      <a:pt x="1040970" y="20254"/>
                    </a:cubicBezTo>
                    <a:cubicBezTo>
                      <a:pt x="1053938" y="33222"/>
                      <a:pt x="1061224" y="50810"/>
                      <a:pt x="1061224" y="69150"/>
                    </a:cubicBezTo>
                    <a:lnTo>
                      <a:pt x="1061224" y="69150"/>
                    </a:lnTo>
                    <a:cubicBezTo>
                      <a:pt x="1061224" y="87490"/>
                      <a:pt x="1053938" y="105079"/>
                      <a:pt x="1040970" y="118047"/>
                    </a:cubicBezTo>
                    <a:cubicBezTo>
                      <a:pt x="1028002" y="131015"/>
                      <a:pt x="1010413" y="138301"/>
                      <a:pt x="992073" y="138301"/>
                    </a:cubicBezTo>
                    <a:lnTo>
                      <a:pt x="69150" y="138301"/>
                    </a:lnTo>
                    <a:cubicBezTo>
                      <a:pt x="50810" y="138301"/>
                      <a:pt x="33222" y="131015"/>
                      <a:pt x="20254" y="118047"/>
                    </a:cubicBezTo>
                    <a:cubicBezTo>
                      <a:pt x="7285" y="105079"/>
                      <a:pt x="0" y="87490"/>
                      <a:pt x="0" y="69150"/>
                    </a:cubicBezTo>
                    <a:lnTo>
                      <a:pt x="0" y="69150"/>
                    </a:lnTo>
                    <a:cubicBezTo>
                      <a:pt x="0" y="50810"/>
                      <a:pt x="7285" y="33222"/>
                      <a:pt x="20254" y="20254"/>
                    </a:cubicBezTo>
                    <a:cubicBezTo>
                      <a:pt x="33222" y="7285"/>
                      <a:pt x="50810" y="0"/>
                      <a:pt x="69150" y="0"/>
                    </a:cubicBezTo>
                    <a:close/>
                  </a:path>
                </a:pathLst>
              </a:custGeom>
              <a:solidFill>
                <a:srgbClr val="004AAD"/>
              </a:solidFill>
            </p:spPr>
          </p:sp>
          <p:sp>
            <p:nvSpPr>
              <p:cNvPr name="TextBox 29" id="29"/>
              <p:cNvSpPr txBox="true"/>
              <p:nvPr/>
            </p:nvSpPr>
            <p:spPr>
              <a:xfrm>
                <a:off x="0" y="-28575"/>
                <a:ext cx="1061224" cy="166876"/>
              </a:xfrm>
              <a:prstGeom prst="rect">
                <a:avLst/>
              </a:prstGeom>
            </p:spPr>
            <p:txBody>
              <a:bodyPr anchor="ctr" rtlCol="false" tIns="48892" lIns="48892" bIns="48892" rIns="48892"/>
              <a:lstStyle/>
              <a:p>
                <a:pPr algn="ctr">
                  <a:lnSpc>
                    <a:spcPts val="1960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30" id="30"/>
            <p:cNvSpPr txBox="true"/>
            <p:nvPr/>
          </p:nvSpPr>
          <p:spPr>
            <a:xfrm rot="0">
              <a:off x="6924684" y="3853214"/>
              <a:ext cx="3436342" cy="42994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701"/>
                </a:lnSpc>
                <a:spcBef>
                  <a:spcPct val="0"/>
                </a:spcBef>
              </a:pPr>
              <a:r>
                <a:rPr lang="en-US" sz="1929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Bond-Line Structure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051506" y="366072"/>
            <a:ext cx="8588987" cy="650546"/>
            <a:chOff x="0" y="0"/>
            <a:chExt cx="3198189" cy="242237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3198189" cy="242237"/>
            </a:xfrm>
            <a:custGeom>
              <a:avLst/>
              <a:gdLst/>
              <a:ahLst/>
              <a:cxnLst/>
              <a:rect r="r" b="b" t="t" l="l"/>
              <a:pathLst>
                <a:path h="242237" w="3198189">
                  <a:moveTo>
                    <a:pt x="0" y="0"/>
                  </a:moveTo>
                  <a:lnTo>
                    <a:pt x="3198189" y="0"/>
                  </a:lnTo>
                  <a:lnTo>
                    <a:pt x="3198189" y="242237"/>
                  </a:lnTo>
                  <a:lnTo>
                    <a:pt x="0" y="242237"/>
                  </a:ln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100000"/>
                  </a:srgbClr>
                </a:gs>
                <a:gs pos="100000">
                  <a:srgbClr val="3533CD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28575"/>
              <a:ext cx="3198189" cy="270812"/>
            </a:xfrm>
            <a:prstGeom prst="rect">
              <a:avLst/>
            </a:prstGeom>
          </p:spPr>
          <p:txBody>
            <a:bodyPr anchor="ctr" rtlCol="false" tIns="48892" lIns="48892" bIns="48892" rIns="48892"/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34" id="34"/>
          <p:cNvSpPr txBox="true"/>
          <p:nvPr/>
        </p:nvSpPr>
        <p:spPr>
          <a:xfrm rot="0">
            <a:off x="2293737" y="362256"/>
            <a:ext cx="6292932" cy="5629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61"/>
              </a:lnSpc>
              <a:spcBef>
                <a:spcPct val="0"/>
              </a:spcBef>
            </a:pPr>
            <a:r>
              <a:rPr lang="en-US" sz="3115">
                <a:solidFill>
                  <a:srgbClr val="FFFFFF"/>
                </a:solidFill>
                <a:latin typeface="Horizon"/>
                <a:ea typeface="Horizon"/>
                <a:cs typeface="Horizon"/>
                <a:sym typeface="Horizon"/>
              </a:rPr>
              <a:t>Card 09 - ASPIRIN</a:t>
            </a:r>
          </a:p>
        </p:txBody>
      </p:sp>
      <p:grpSp>
        <p:nvGrpSpPr>
          <p:cNvPr name="Group 35" id="35"/>
          <p:cNvGrpSpPr/>
          <p:nvPr/>
        </p:nvGrpSpPr>
        <p:grpSpPr>
          <a:xfrm rot="0">
            <a:off x="6137183" y="1715817"/>
            <a:ext cx="2937939" cy="2064183"/>
            <a:chOff x="0" y="0"/>
            <a:chExt cx="3917252" cy="2752244"/>
          </a:xfrm>
        </p:grpSpPr>
        <p:sp>
          <p:nvSpPr>
            <p:cNvPr name="AutoShape 36" id="36"/>
            <p:cNvSpPr/>
            <p:nvPr/>
          </p:nvSpPr>
          <p:spPr>
            <a:xfrm>
              <a:off x="1251541" y="970127"/>
              <a:ext cx="265792" cy="153455"/>
            </a:xfrm>
            <a:prstGeom prst="line">
              <a:avLst/>
            </a:prstGeom>
            <a:ln cap="flat" w="1265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37" id="37"/>
            <p:cNvSpPr txBox="true"/>
            <p:nvPr/>
          </p:nvSpPr>
          <p:spPr>
            <a:xfrm rot="0">
              <a:off x="1061683" y="782619"/>
              <a:ext cx="168838" cy="28326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772"/>
                </a:lnSpc>
                <a:spcBef>
                  <a:spcPct val="0"/>
                </a:spcBef>
              </a:pPr>
              <a:r>
                <a:rPr lang="en-US" b="true" sz="1265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C</a:t>
              </a:r>
            </a:p>
          </p:txBody>
        </p:sp>
        <p:sp>
          <p:nvSpPr>
            <p:cNvPr name="TextBox 38" id="38"/>
            <p:cNvSpPr txBox="true"/>
            <p:nvPr/>
          </p:nvSpPr>
          <p:spPr>
            <a:xfrm rot="0">
              <a:off x="1510632" y="1037313"/>
              <a:ext cx="168838" cy="28326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772"/>
                </a:lnSpc>
                <a:spcBef>
                  <a:spcPct val="0"/>
                </a:spcBef>
              </a:pPr>
              <a:r>
                <a:rPr lang="en-US" b="true" sz="1265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C</a:t>
              </a:r>
            </a:p>
          </p:txBody>
        </p:sp>
        <p:sp>
          <p:nvSpPr>
            <p:cNvPr name="TextBox 39" id="39"/>
            <p:cNvSpPr txBox="true"/>
            <p:nvPr/>
          </p:nvSpPr>
          <p:spPr>
            <a:xfrm rot="0">
              <a:off x="1507908" y="1577706"/>
              <a:ext cx="168838" cy="28326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772"/>
                </a:lnSpc>
                <a:spcBef>
                  <a:spcPct val="0"/>
                </a:spcBef>
              </a:pPr>
              <a:r>
                <a:rPr lang="en-US" b="true" sz="1265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C</a:t>
              </a:r>
            </a:p>
          </p:txBody>
        </p:sp>
        <p:sp>
          <p:nvSpPr>
            <p:cNvPr name="TextBox 40" id="40"/>
            <p:cNvSpPr txBox="true"/>
            <p:nvPr/>
          </p:nvSpPr>
          <p:spPr>
            <a:xfrm rot="0">
              <a:off x="1064874" y="1848997"/>
              <a:ext cx="168838" cy="28326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772"/>
                </a:lnSpc>
                <a:spcBef>
                  <a:spcPct val="0"/>
                </a:spcBef>
              </a:pPr>
              <a:r>
                <a:rPr lang="en-US" b="true" sz="1265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C</a:t>
              </a:r>
            </a:p>
          </p:txBody>
        </p:sp>
        <p:sp>
          <p:nvSpPr>
            <p:cNvPr name="TextBox 41" id="41"/>
            <p:cNvSpPr txBox="true"/>
            <p:nvPr/>
          </p:nvSpPr>
          <p:spPr>
            <a:xfrm rot="-147071">
              <a:off x="620265" y="1577603"/>
              <a:ext cx="168838" cy="28326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772"/>
                </a:lnSpc>
                <a:spcBef>
                  <a:spcPct val="0"/>
                </a:spcBef>
              </a:pPr>
              <a:r>
                <a:rPr lang="en-US" b="true" sz="1265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C</a:t>
              </a:r>
            </a:p>
          </p:txBody>
        </p:sp>
        <p:sp>
          <p:nvSpPr>
            <p:cNvPr name="TextBox 42" id="42"/>
            <p:cNvSpPr txBox="true"/>
            <p:nvPr/>
          </p:nvSpPr>
          <p:spPr>
            <a:xfrm rot="0">
              <a:off x="609104" y="1037439"/>
              <a:ext cx="168838" cy="28326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772"/>
                </a:lnSpc>
                <a:spcBef>
                  <a:spcPct val="0"/>
                </a:spcBef>
              </a:pPr>
              <a:r>
                <a:rPr lang="en-US" b="true" sz="1265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C</a:t>
              </a:r>
            </a:p>
          </p:txBody>
        </p:sp>
        <p:sp>
          <p:nvSpPr>
            <p:cNvPr name="AutoShape 43" id="43"/>
            <p:cNvSpPr/>
            <p:nvPr/>
          </p:nvSpPr>
          <p:spPr>
            <a:xfrm>
              <a:off x="1616059" y="1313415"/>
              <a:ext cx="0" cy="306910"/>
            </a:xfrm>
            <a:prstGeom prst="line">
              <a:avLst/>
            </a:prstGeom>
            <a:ln cap="flat" w="1265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44" id="44"/>
            <p:cNvSpPr/>
            <p:nvPr/>
          </p:nvSpPr>
          <p:spPr>
            <a:xfrm flipV="true">
              <a:off x="1253741" y="1830816"/>
              <a:ext cx="265792" cy="153455"/>
            </a:xfrm>
            <a:prstGeom prst="line">
              <a:avLst/>
            </a:prstGeom>
            <a:ln cap="flat" w="1265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45" id="45"/>
            <p:cNvSpPr/>
            <p:nvPr/>
          </p:nvSpPr>
          <p:spPr>
            <a:xfrm>
              <a:off x="777942" y="1812692"/>
              <a:ext cx="265792" cy="153455"/>
            </a:xfrm>
            <a:prstGeom prst="line">
              <a:avLst/>
            </a:prstGeom>
            <a:ln cap="flat" w="1265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46" id="46"/>
            <p:cNvSpPr/>
            <p:nvPr/>
          </p:nvSpPr>
          <p:spPr>
            <a:xfrm>
              <a:off x="671800" y="1313415"/>
              <a:ext cx="0" cy="306910"/>
            </a:xfrm>
            <a:prstGeom prst="line">
              <a:avLst/>
            </a:prstGeom>
            <a:ln cap="flat" w="1265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47" id="47"/>
            <p:cNvSpPr/>
            <p:nvPr/>
          </p:nvSpPr>
          <p:spPr>
            <a:xfrm flipV="true">
              <a:off x="789422" y="979996"/>
              <a:ext cx="265792" cy="153455"/>
            </a:xfrm>
            <a:prstGeom prst="line">
              <a:avLst/>
            </a:prstGeom>
            <a:ln cap="flat" w="1265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48" id="48"/>
            <p:cNvSpPr/>
            <p:nvPr/>
          </p:nvSpPr>
          <p:spPr>
            <a:xfrm flipH="true" flipV="true">
              <a:off x="204179" y="1004715"/>
              <a:ext cx="386274" cy="169997"/>
            </a:xfrm>
            <a:prstGeom prst="line">
              <a:avLst/>
            </a:prstGeom>
            <a:ln cap="flat" w="16867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49" id="49"/>
            <p:cNvSpPr/>
            <p:nvPr/>
          </p:nvSpPr>
          <p:spPr>
            <a:xfrm flipH="true">
              <a:off x="207550" y="1798007"/>
              <a:ext cx="386847" cy="168688"/>
            </a:xfrm>
            <a:prstGeom prst="line">
              <a:avLst/>
            </a:prstGeom>
            <a:ln cap="flat" w="16867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50" id="50"/>
            <p:cNvSpPr/>
            <p:nvPr/>
          </p:nvSpPr>
          <p:spPr>
            <a:xfrm flipH="true" flipV="true">
              <a:off x="1694012" y="1193172"/>
              <a:ext cx="367677" cy="126"/>
            </a:xfrm>
            <a:prstGeom prst="line">
              <a:avLst/>
            </a:prstGeom>
            <a:ln cap="flat" w="16867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51" id="51"/>
            <p:cNvSpPr txBox="true"/>
            <p:nvPr/>
          </p:nvSpPr>
          <p:spPr>
            <a:xfrm rot="0">
              <a:off x="2650076" y="1030146"/>
              <a:ext cx="168838" cy="28326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772"/>
                </a:lnSpc>
                <a:spcBef>
                  <a:spcPct val="0"/>
                </a:spcBef>
              </a:pPr>
              <a:r>
                <a:rPr lang="en-US" b="true" sz="1265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C</a:t>
              </a:r>
            </a:p>
          </p:txBody>
        </p:sp>
        <p:sp>
          <p:nvSpPr>
            <p:cNvPr name="AutoShape 52" id="52"/>
            <p:cNvSpPr/>
            <p:nvPr/>
          </p:nvSpPr>
          <p:spPr>
            <a:xfrm flipH="true" flipV="true">
              <a:off x="2271826" y="1193109"/>
              <a:ext cx="367677" cy="126"/>
            </a:xfrm>
            <a:prstGeom prst="line">
              <a:avLst/>
            </a:prstGeom>
            <a:ln cap="flat" w="16867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53" id="53"/>
            <p:cNvSpPr/>
            <p:nvPr/>
          </p:nvSpPr>
          <p:spPr>
            <a:xfrm flipH="true" flipV="true">
              <a:off x="2818917" y="1194501"/>
              <a:ext cx="367677" cy="126"/>
            </a:xfrm>
            <a:prstGeom prst="line">
              <a:avLst/>
            </a:prstGeom>
            <a:ln cap="flat" w="16867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54" id="54"/>
            <p:cNvSpPr txBox="true"/>
            <p:nvPr/>
          </p:nvSpPr>
          <p:spPr>
            <a:xfrm rot="0">
              <a:off x="3199247" y="1030146"/>
              <a:ext cx="168838" cy="28326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772"/>
                </a:lnSpc>
                <a:spcBef>
                  <a:spcPct val="0"/>
                </a:spcBef>
              </a:pPr>
              <a:r>
                <a:rPr lang="en-US" b="true" sz="1265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C</a:t>
              </a:r>
            </a:p>
          </p:txBody>
        </p:sp>
        <p:sp>
          <p:nvSpPr>
            <p:cNvPr name="AutoShape 55" id="55"/>
            <p:cNvSpPr/>
            <p:nvPr/>
          </p:nvSpPr>
          <p:spPr>
            <a:xfrm flipH="true" flipV="true">
              <a:off x="3380737" y="1193235"/>
              <a:ext cx="367677" cy="126"/>
            </a:xfrm>
            <a:prstGeom prst="line">
              <a:avLst/>
            </a:prstGeom>
            <a:ln cap="flat" w="16867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56" id="56"/>
            <p:cNvSpPr txBox="true"/>
            <p:nvPr/>
          </p:nvSpPr>
          <p:spPr>
            <a:xfrm rot="0">
              <a:off x="3748414" y="1038705"/>
              <a:ext cx="168838" cy="28326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772"/>
                </a:lnSpc>
                <a:spcBef>
                  <a:spcPct val="0"/>
                </a:spcBef>
              </a:pPr>
              <a:r>
                <a:rPr lang="en-US" b="true" sz="1265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H</a:t>
              </a:r>
            </a:p>
          </p:txBody>
        </p:sp>
        <p:sp>
          <p:nvSpPr>
            <p:cNvPr name="AutoShape 57" id="57"/>
            <p:cNvSpPr/>
            <p:nvPr/>
          </p:nvSpPr>
          <p:spPr>
            <a:xfrm>
              <a:off x="3289991" y="760370"/>
              <a:ext cx="0" cy="306910"/>
            </a:xfrm>
            <a:prstGeom prst="line">
              <a:avLst/>
            </a:prstGeom>
            <a:ln cap="flat" w="1265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58" id="58"/>
            <p:cNvSpPr/>
            <p:nvPr/>
          </p:nvSpPr>
          <p:spPr>
            <a:xfrm>
              <a:off x="2769457" y="1299371"/>
              <a:ext cx="0" cy="306910"/>
            </a:xfrm>
            <a:prstGeom prst="line">
              <a:avLst/>
            </a:prstGeom>
            <a:ln cap="flat" w="1265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59" id="59"/>
            <p:cNvSpPr/>
            <p:nvPr/>
          </p:nvSpPr>
          <p:spPr>
            <a:xfrm>
              <a:off x="2725407" y="1299371"/>
              <a:ext cx="0" cy="306910"/>
            </a:xfrm>
            <a:prstGeom prst="line">
              <a:avLst/>
            </a:prstGeom>
            <a:ln cap="flat" w="1265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60" id="60"/>
            <p:cNvSpPr/>
            <p:nvPr/>
          </p:nvSpPr>
          <p:spPr>
            <a:xfrm>
              <a:off x="3289991" y="1299371"/>
              <a:ext cx="0" cy="306910"/>
            </a:xfrm>
            <a:prstGeom prst="line">
              <a:avLst/>
            </a:prstGeom>
            <a:ln cap="flat" w="1265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61" id="61"/>
            <p:cNvSpPr txBox="true"/>
            <p:nvPr/>
          </p:nvSpPr>
          <p:spPr>
            <a:xfrm rot="5464525">
              <a:off x="2639783" y="1538852"/>
              <a:ext cx="154225" cy="37013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310"/>
                </a:lnSpc>
                <a:spcBef>
                  <a:spcPct val="0"/>
                </a:spcBef>
              </a:pPr>
              <a:r>
                <a:rPr lang="en-US" b="true" sz="1650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..</a:t>
              </a:r>
            </a:p>
          </p:txBody>
        </p:sp>
        <p:sp>
          <p:nvSpPr>
            <p:cNvPr name="TextBox 62" id="62"/>
            <p:cNvSpPr txBox="true"/>
            <p:nvPr/>
          </p:nvSpPr>
          <p:spPr>
            <a:xfrm rot="0">
              <a:off x="2628520" y="1559177"/>
              <a:ext cx="217369" cy="2851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771"/>
                </a:lnSpc>
                <a:spcBef>
                  <a:spcPct val="0"/>
                </a:spcBef>
              </a:pPr>
              <a:r>
                <a:rPr lang="en-US" b="true" sz="1265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O</a:t>
              </a:r>
            </a:p>
          </p:txBody>
        </p:sp>
        <p:sp>
          <p:nvSpPr>
            <p:cNvPr name="TextBox 63" id="63"/>
            <p:cNvSpPr txBox="true"/>
            <p:nvPr/>
          </p:nvSpPr>
          <p:spPr>
            <a:xfrm rot="5400000">
              <a:off x="2898515" y="1538494"/>
              <a:ext cx="154225" cy="37013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310"/>
                </a:lnSpc>
                <a:spcBef>
                  <a:spcPct val="0"/>
                </a:spcBef>
              </a:pPr>
              <a:r>
                <a:rPr lang="en-US" b="true" sz="1650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..</a:t>
              </a:r>
            </a:p>
          </p:txBody>
        </p:sp>
        <p:sp>
          <p:nvSpPr>
            <p:cNvPr name="TextBox 64" id="64"/>
            <p:cNvSpPr txBox="true"/>
            <p:nvPr/>
          </p:nvSpPr>
          <p:spPr>
            <a:xfrm rot="0">
              <a:off x="3199247" y="477101"/>
              <a:ext cx="168838" cy="28326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772"/>
                </a:lnSpc>
                <a:spcBef>
                  <a:spcPct val="0"/>
                </a:spcBef>
              </a:pPr>
              <a:r>
                <a:rPr lang="en-US" b="true" sz="1265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H</a:t>
              </a:r>
            </a:p>
          </p:txBody>
        </p:sp>
        <p:sp>
          <p:nvSpPr>
            <p:cNvPr name="TextBox 65" id="65"/>
            <p:cNvSpPr txBox="true"/>
            <p:nvPr/>
          </p:nvSpPr>
          <p:spPr>
            <a:xfrm rot="0">
              <a:off x="3211900" y="1529423"/>
              <a:ext cx="168838" cy="28326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772"/>
                </a:lnSpc>
                <a:spcBef>
                  <a:spcPct val="0"/>
                </a:spcBef>
              </a:pPr>
              <a:r>
                <a:rPr lang="en-US" b="true" sz="1265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H</a:t>
              </a:r>
            </a:p>
          </p:txBody>
        </p:sp>
        <p:sp>
          <p:nvSpPr>
            <p:cNvPr name="TextBox 66" id="66"/>
            <p:cNvSpPr txBox="true"/>
            <p:nvPr/>
          </p:nvSpPr>
          <p:spPr>
            <a:xfrm rot="0">
              <a:off x="0" y="808727"/>
              <a:ext cx="168838" cy="28326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772"/>
                </a:lnSpc>
                <a:spcBef>
                  <a:spcPct val="0"/>
                </a:spcBef>
              </a:pPr>
              <a:r>
                <a:rPr lang="en-US" b="true" sz="1265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H</a:t>
              </a:r>
            </a:p>
          </p:txBody>
        </p:sp>
        <p:sp>
          <p:nvSpPr>
            <p:cNvPr name="TextBox 67" id="67"/>
            <p:cNvSpPr txBox="true"/>
            <p:nvPr/>
          </p:nvSpPr>
          <p:spPr>
            <a:xfrm rot="0">
              <a:off x="0" y="1846444"/>
              <a:ext cx="168838" cy="28326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772"/>
                </a:lnSpc>
                <a:spcBef>
                  <a:spcPct val="0"/>
                </a:spcBef>
              </a:pPr>
              <a:r>
                <a:rPr lang="en-US" b="true" sz="1265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H</a:t>
              </a:r>
            </a:p>
          </p:txBody>
        </p:sp>
        <p:sp>
          <p:nvSpPr>
            <p:cNvPr name="TextBox 68" id="68"/>
            <p:cNvSpPr txBox="true"/>
            <p:nvPr/>
          </p:nvSpPr>
          <p:spPr>
            <a:xfrm rot="0">
              <a:off x="2086410" y="1037250"/>
              <a:ext cx="168838" cy="28326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772"/>
                </a:lnSpc>
                <a:spcBef>
                  <a:spcPct val="0"/>
                </a:spcBef>
              </a:pPr>
              <a:r>
                <a:rPr lang="en-US" b="true" sz="1265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O</a:t>
              </a:r>
            </a:p>
          </p:txBody>
        </p:sp>
        <p:sp>
          <p:nvSpPr>
            <p:cNvPr name="TextBox 69" id="69"/>
            <p:cNvSpPr txBox="true"/>
            <p:nvPr/>
          </p:nvSpPr>
          <p:spPr>
            <a:xfrm rot="-10800000">
              <a:off x="2093716" y="1255713"/>
              <a:ext cx="154225" cy="37013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310"/>
                </a:lnSpc>
                <a:spcBef>
                  <a:spcPct val="0"/>
                </a:spcBef>
              </a:pPr>
              <a:r>
                <a:rPr lang="en-US" b="true" sz="1650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..</a:t>
              </a:r>
            </a:p>
          </p:txBody>
        </p:sp>
        <p:sp>
          <p:nvSpPr>
            <p:cNvPr name="TextBox 70" id="70"/>
            <p:cNvSpPr txBox="true"/>
            <p:nvPr/>
          </p:nvSpPr>
          <p:spPr>
            <a:xfrm rot="0">
              <a:off x="2101023" y="775876"/>
              <a:ext cx="154225" cy="37013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310"/>
                </a:lnSpc>
                <a:spcBef>
                  <a:spcPct val="0"/>
                </a:spcBef>
              </a:pPr>
              <a:r>
                <a:rPr lang="en-US" b="true" sz="1650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..</a:t>
              </a:r>
            </a:p>
          </p:txBody>
        </p:sp>
        <p:sp>
          <p:nvSpPr>
            <p:cNvPr name="AutoShape 71" id="71"/>
            <p:cNvSpPr/>
            <p:nvPr/>
          </p:nvSpPr>
          <p:spPr>
            <a:xfrm>
              <a:off x="1134930" y="530392"/>
              <a:ext cx="0" cy="306910"/>
            </a:xfrm>
            <a:prstGeom prst="line">
              <a:avLst/>
            </a:prstGeom>
            <a:ln cap="flat" w="1265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72" id="72"/>
            <p:cNvSpPr txBox="true"/>
            <p:nvPr/>
          </p:nvSpPr>
          <p:spPr>
            <a:xfrm rot="0">
              <a:off x="1061683" y="222407"/>
              <a:ext cx="168838" cy="28326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772"/>
                </a:lnSpc>
                <a:spcBef>
                  <a:spcPct val="0"/>
                </a:spcBef>
              </a:pPr>
              <a:r>
                <a:rPr lang="en-US" b="true" sz="1265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C</a:t>
              </a:r>
            </a:p>
          </p:txBody>
        </p:sp>
        <p:sp>
          <p:nvSpPr>
            <p:cNvPr name="AutoShape 73" id="73"/>
            <p:cNvSpPr/>
            <p:nvPr/>
          </p:nvSpPr>
          <p:spPr>
            <a:xfrm flipH="true" flipV="true">
              <a:off x="1248379" y="386762"/>
              <a:ext cx="367677" cy="126"/>
            </a:xfrm>
            <a:prstGeom prst="line">
              <a:avLst/>
            </a:prstGeom>
            <a:ln cap="flat" w="16867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74" id="74"/>
            <p:cNvSpPr txBox="true"/>
            <p:nvPr/>
          </p:nvSpPr>
          <p:spPr>
            <a:xfrm rot="0">
              <a:off x="1657454" y="223274"/>
              <a:ext cx="168838" cy="28326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772"/>
                </a:lnSpc>
                <a:spcBef>
                  <a:spcPct val="0"/>
                </a:spcBef>
              </a:pPr>
              <a:r>
                <a:rPr lang="en-US" b="true" sz="1265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O</a:t>
              </a:r>
            </a:p>
          </p:txBody>
        </p:sp>
        <p:sp>
          <p:nvSpPr>
            <p:cNvPr name="TextBox 75" id="75"/>
            <p:cNvSpPr txBox="true"/>
            <p:nvPr/>
          </p:nvSpPr>
          <p:spPr>
            <a:xfrm rot="-10800000">
              <a:off x="1664761" y="441737"/>
              <a:ext cx="154225" cy="37013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310"/>
                </a:lnSpc>
                <a:spcBef>
                  <a:spcPct val="0"/>
                </a:spcBef>
              </a:pPr>
              <a:r>
                <a:rPr lang="en-US" b="true" sz="1650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..</a:t>
              </a:r>
            </a:p>
          </p:txBody>
        </p:sp>
        <p:sp>
          <p:nvSpPr>
            <p:cNvPr name="TextBox 76" id="76"/>
            <p:cNvSpPr txBox="true"/>
            <p:nvPr/>
          </p:nvSpPr>
          <p:spPr>
            <a:xfrm rot="0">
              <a:off x="1672067" y="-38100"/>
              <a:ext cx="154225" cy="37013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310"/>
                </a:lnSpc>
                <a:spcBef>
                  <a:spcPct val="0"/>
                </a:spcBef>
              </a:pPr>
              <a:r>
                <a:rPr lang="en-US" b="true" sz="1650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..</a:t>
              </a:r>
            </a:p>
          </p:txBody>
        </p:sp>
        <p:sp>
          <p:nvSpPr>
            <p:cNvPr name="AutoShape 77" id="77"/>
            <p:cNvSpPr/>
            <p:nvPr/>
          </p:nvSpPr>
          <p:spPr>
            <a:xfrm flipH="true" flipV="true">
              <a:off x="1843161" y="386825"/>
              <a:ext cx="367677" cy="126"/>
            </a:xfrm>
            <a:prstGeom prst="line">
              <a:avLst/>
            </a:prstGeom>
            <a:ln cap="flat" w="16867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78" id="78"/>
            <p:cNvSpPr txBox="true"/>
            <p:nvPr/>
          </p:nvSpPr>
          <p:spPr>
            <a:xfrm rot="0">
              <a:off x="2227708" y="230903"/>
              <a:ext cx="168838" cy="28326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772"/>
                </a:lnSpc>
                <a:spcBef>
                  <a:spcPct val="0"/>
                </a:spcBef>
              </a:pPr>
              <a:r>
                <a:rPr lang="en-US" b="true" sz="1265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H</a:t>
              </a:r>
            </a:p>
          </p:txBody>
        </p:sp>
        <p:sp>
          <p:nvSpPr>
            <p:cNvPr name="AutoShape 79" id="79"/>
            <p:cNvSpPr/>
            <p:nvPr/>
          </p:nvSpPr>
          <p:spPr>
            <a:xfrm flipH="true" flipV="true">
              <a:off x="671803" y="369770"/>
              <a:ext cx="367677" cy="126"/>
            </a:xfrm>
            <a:prstGeom prst="line">
              <a:avLst/>
            </a:prstGeom>
            <a:ln cap="flat" w="16867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80" id="80"/>
            <p:cNvSpPr/>
            <p:nvPr/>
          </p:nvSpPr>
          <p:spPr>
            <a:xfrm flipH="true" flipV="true">
              <a:off x="671806" y="403818"/>
              <a:ext cx="367677" cy="126"/>
            </a:xfrm>
            <a:prstGeom prst="line">
              <a:avLst/>
            </a:prstGeom>
            <a:ln cap="flat" w="16867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81" id="81"/>
            <p:cNvSpPr txBox="true"/>
            <p:nvPr/>
          </p:nvSpPr>
          <p:spPr>
            <a:xfrm rot="0">
              <a:off x="475406" y="206155"/>
              <a:ext cx="168838" cy="28326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772"/>
                </a:lnSpc>
                <a:spcBef>
                  <a:spcPct val="0"/>
                </a:spcBef>
              </a:pPr>
              <a:r>
                <a:rPr lang="en-US" b="true" sz="1265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O</a:t>
              </a:r>
            </a:p>
          </p:txBody>
        </p:sp>
        <p:sp>
          <p:nvSpPr>
            <p:cNvPr name="TextBox 82" id="82"/>
            <p:cNvSpPr txBox="true"/>
            <p:nvPr/>
          </p:nvSpPr>
          <p:spPr>
            <a:xfrm rot="-9574188">
              <a:off x="408089" y="393605"/>
              <a:ext cx="154225" cy="37013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310"/>
                </a:lnSpc>
                <a:spcBef>
                  <a:spcPct val="0"/>
                </a:spcBef>
              </a:pPr>
              <a:r>
                <a:rPr lang="en-US" b="true" sz="1650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..</a:t>
              </a:r>
            </a:p>
          </p:txBody>
        </p:sp>
        <p:sp>
          <p:nvSpPr>
            <p:cNvPr name="TextBox 83" id="83"/>
            <p:cNvSpPr txBox="true"/>
            <p:nvPr/>
          </p:nvSpPr>
          <p:spPr>
            <a:xfrm rot="-1448955">
              <a:off x="390499" y="-15595"/>
              <a:ext cx="154225" cy="37013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310"/>
                </a:lnSpc>
                <a:spcBef>
                  <a:spcPct val="0"/>
                </a:spcBef>
              </a:pPr>
              <a:r>
                <a:rPr lang="en-US" b="true" sz="1650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..</a:t>
              </a:r>
            </a:p>
          </p:txBody>
        </p:sp>
        <p:sp>
          <p:nvSpPr>
            <p:cNvPr name="AutoShape 84" id="84"/>
            <p:cNvSpPr/>
            <p:nvPr/>
          </p:nvSpPr>
          <p:spPr>
            <a:xfrm>
              <a:off x="705295" y="1313415"/>
              <a:ext cx="0" cy="306910"/>
            </a:xfrm>
            <a:prstGeom prst="line">
              <a:avLst/>
            </a:prstGeom>
            <a:ln cap="flat" w="1265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85" id="85"/>
            <p:cNvSpPr/>
            <p:nvPr/>
          </p:nvSpPr>
          <p:spPr>
            <a:xfrm>
              <a:off x="1237900" y="1002128"/>
              <a:ext cx="265792" cy="153455"/>
            </a:xfrm>
            <a:prstGeom prst="line">
              <a:avLst/>
            </a:prstGeom>
            <a:ln cap="flat" w="1265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86" id="86"/>
            <p:cNvSpPr/>
            <p:nvPr/>
          </p:nvSpPr>
          <p:spPr>
            <a:xfrm flipV="true">
              <a:off x="1241678" y="1803485"/>
              <a:ext cx="265792" cy="153455"/>
            </a:xfrm>
            <a:prstGeom prst="line">
              <a:avLst/>
            </a:prstGeom>
            <a:ln cap="flat" w="1265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87" id="87"/>
            <p:cNvSpPr/>
            <p:nvPr/>
          </p:nvSpPr>
          <p:spPr>
            <a:xfrm flipH="true">
              <a:off x="1149293" y="2129713"/>
              <a:ext cx="8433" cy="371383"/>
            </a:xfrm>
            <a:prstGeom prst="line">
              <a:avLst/>
            </a:prstGeom>
            <a:ln cap="flat" w="16867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88" id="88"/>
            <p:cNvSpPr/>
            <p:nvPr/>
          </p:nvSpPr>
          <p:spPr>
            <a:xfrm>
              <a:off x="1634315" y="1837186"/>
              <a:ext cx="318785" cy="276555"/>
            </a:xfrm>
            <a:prstGeom prst="line">
              <a:avLst/>
            </a:prstGeom>
            <a:ln cap="flat" w="16867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89" id="89"/>
            <p:cNvSpPr txBox="true"/>
            <p:nvPr/>
          </p:nvSpPr>
          <p:spPr>
            <a:xfrm rot="0">
              <a:off x="1079541" y="2468975"/>
              <a:ext cx="168838" cy="28326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772"/>
                </a:lnSpc>
                <a:spcBef>
                  <a:spcPct val="0"/>
                </a:spcBef>
              </a:pPr>
              <a:r>
                <a:rPr lang="en-US" b="true" sz="1265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H</a:t>
              </a:r>
            </a:p>
          </p:txBody>
        </p:sp>
        <p:sp>
          <p:nvSpPr>
            <p:cNvPr name="TextBox 90" id="90"/>
            <p:cNvSpPr txBox="true"/>
            <p:nvPr/>
          </p:nvSpPr>
          <p:spPr>
            <a:xfrm rot="0">
              <a:off x="1958626" y="1998139"/>
              <a:ext cx="168838" cy="28326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772"/>
                </a:lnSpc>
                <a:spcBef>
                  <a:spcPct val="0"/>
                </a:spcBef>
              </a:pPr>
              <a:r>
                <a:rPr lang="en-US" b="true" sz="1265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H</a:t>
              </a:r>
            </a:p>
          </p:txBody>
        </p:sp>
      </p:grpSp>
      <p:grpSp>
        <p:nvGrpSpPr>
          <p:cNvPr name="Group 91" id="91"/>
          <p:cNvGrpSpPr/>
          <p:nvPr/>
        </p:nvGrpSpPr>
        <p:grpSpPr>
          <a:xfrm rot="0">
            <a:off x="587757" y="2074149"/>
            <a:ext cx="4758243" cy="1347519"/>
            <a:chOff x="0" y="0"/>
            <a:chExt cx="6344323" cy="1796692"/>
          </a:xfrm>
        </p:grpSpPr>
        <p:sp>
          <p:nvSpPr>
            <p:cNvPr name="TextBox 92" id="92"/>
            <p:cNvSpPr txBox="true"/>
            <p:nvPr/>
          </p:nvSpPr>
          <p:spPr>
            <a:xfrm rot="0">
              <a:off x="0" y="-190500"/>
              <a:ext cx="6344323" cy="198719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2436"/>
                </a:lnSpc>
                <a:spcBef>
                  <a:spcPct val="0"/>
                </a:spcBef>
              </a:pPr>
              <a:r>
                <a:rPr lang="en-US" sz="8883">
                  <a:solidFill>
                    <a:srgbClr val="000000"/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C H O</a:t>
              </a:r>
            </a:p>
          </p:txBody>
        </p:sp>
        <p:sp>
          <p:nvSpPr>
            <p:cNvPr name="TextBox 93" id="93"/>
            <p:cNvSpPr txBox="true"/>
            <p:nvPr/>
          </p:nvSpPr>
          <p:spPr>
            <a:xfrm rot="0">
              <a:off x="1817614" y="509028"/>
              <a:ext cx="867993" cy="117944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7306"/>
                </a:lnSpc>
                <a:spcBef>
                  <a:spcPct val="0"/>
                </a:spcBef>
              </a:pPr>
              <a:r>
                <a:rPr lang="en-US" sz="5219">
                  <a:solidFill>
                    <a:srgbClr val="000000"/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9</a:t>
              </a:r>
            </a:p>
          </p:txBody>
        </p:sp>
        <p:sp>
          <p:nvSpPr>
            <p:cNvPr name="TextBox 94" id="94"/>
            <p:cNvSpPr txBox="true"/>
            <p:nvPr/>
          </p:nvSpPr>
          <p:spPr>
            <a:xfrm rot="0">
              <a:off x="3580763" y="509028"/>
              <a:ext cx="867993" cy="117944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7306"/>
                </a:lnSpc>
                <a:spcBef>
                  <a:spcPct val="0"/>
                </a:spcBef>
              </a:pPr>
              <a:r>
                <a:rPr lang="en-US" sz="5219">
                  <a:solidFill>
                    <a:srgbClr val="000000"/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8</a:t>
              </a:r>
            </a:p>
          </p:txBody>
        </p:sp>
        <p:sp>
          <p:nvSpPr>
            <p:cNvPr name="TextBox 95" id="95"/>
            <p:cNvSpPr txBox="true"/>
            <p:nvPr/>
          </p:nvSpPr>
          <p:spPr>
            <a:xfrm rot="0">
              <a:off x="5342031" y="473743"/>
              <a:ext cx="867993" cy="117944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7306"/>
                </a:lnSpc>
                <a:spcBef>
                  <a:spcPct val="0"/>
                </a:spcBef>
              </a:pPr>
              <a:r>
                <a:rPr lang="en-US" sz="5219">
                  <a:solidFill>
                    <a:srgbClr val="000000"/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4</a:t>
              </a:r>
            </a:p>
          </p:txBody>
        </p:sp>
      </p:grpSp>
      <p:sp>
        <p:nvSpPr>
          <p:cNvPr name="Freeform 96" id="96"/>
          <p:cNvSpPr/>
          <p:nvPr/>
        </p:nvSpPr>
        <p:spPr>
          <a:xfrm flipH="false" flipV="false" rot="0">
            <a:off x="6609939" y="4810451"/>
            <a:ext cx="1992427" cy="1647791"/>
          </a:xfrm>
          <a:custGeom>
            <a:avLst/>
            <a:gdLst/>
            <a:ahLst/>
            <a:cxnLst/>
            <a:rect r="r" b="b" t="t" l="l"/>
            <a:pathLst>
              <a:path h="1647791" w="1992427">
                <a:moveTo>
                  <a:pt x="0" y="0"/>
                </a:moveTo>
                <a:lnTo>
                  <a:pt x="1992427" y="0"/>
                </a:lnTo>
                <a:lnTo>
                  <a:pt x="1992427" y="1647790"/>
                </a:lnTo>
                <a:lnTo>
                  <a:pt x="0" y="164779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97" id="97"/>
          <p:cNvGrpSpPr/>
          <p:nvPr/>
        </p:nvGrpSpPr>
        <p:grpSpPr>
          <a:xfrm rot="0">
            <a:off x="1265238" y="5263094"/>
            <a:ext cx="3761928" cy="742504"/>
            <a:chOff x="0" y="0"/>
            <a:chExt cx="5015904" cy="990006"/>
          </a:xfrm>
        </p:grpSpPr>
        <p:sp>
          <p:nvSpPr>
            <p:cNvPr name="TextBox 98" id="98"/>
            <p:cNvSpPr txBox="true"/>
            <p:nvPr/>
          </p:nvSpPr>
          <p:spPr>
            <a:xfrm rot="0">
              <a:off x="0" y="-200025"/>
              <a:ext cx="5015904" cy="119003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6836"/>
                </a:lnSpc>
                <a:spcBef>
                  <a:spcPct val="0"/>
                </a:spcBef>
              </a:pPr>
              <a:r>
                <a:rPr lang="en-US" sz="4883">
                  <a:solidFill>
                    <a:srgbClr val="000000"/>
                  </a:solidFill>
                  <a:latin typeface="Impact"/>
                  <a:ea typeface="Impact"/>
                  <a:cs typeface="Impact"/>
                  <a:sym typeface="Impact"/>
                </a:rPr>
                <a:t>CH COOC H COOH</a:t>
              </a:r>
            </a:p>
          </p:txBody>
        </p:sp>
        <p:sp>
          <p:nvSpPr>
            <p:cNvPr name="TextBox 99" id="99"/>
            <p:cNvSpPr txBox="true"/>
            <p:nvPr/>
          </p:nvSpPr>
          <p:spPr>
            <a:xfrm rot="0">
              <a:off x="690769" y="357206"/>
              <a:ext cx="477140" cy="632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645"/>
                </a:lnSpc>
                <a:spcBef>
                  <a:spcPct val="0"/>
                </a:spcBef>
              </a:pPr>
              <a:r>
                <a:rPr lang="en-US" sz="2603">
                  <a:solidFill>
                    <a:srgbClr val="000000"/>
                  </a:solidFill>
                  <a:latin typeface="Impact"/>
                  <a:ea typeface="Impact"/>
                  <a:cs typeface="Impact"/>
                  <a:sym typeface="Impact"/>
                </a:rPr>
                <a:t>3</a:t>
              </a:r>
            </a:p>
          </p:txBody>
        </p:sp>
        <p:sp>
          <p:nvSpPr>
            <p:cNvPr name="TextBox 100" id="100"/>
            <p:cNvSpPr txBox="true"/>
            <p:nvPr/>
          </p:nvSpPr>
          <p:spPr>
            <a:xfrm rot="0">
              <a:off x="2441035" y="357206"/>
              <a:ext cx="477140" cy="632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645"/>
                </a:lnSpc>
                <a:spcBef>
                  <a:spcPct val="0"/>
                </a:spcBef>
              </a:pPr>
              <a:r>
                <a:rPr lang="en-US" sz="2603">
                  <a:solidFill>
                    <a:srgbClr val="000000"/>
                  </a:solidFill>
                  <a:latin typeface="Impact"/>
                  <a:ea typeface="Impact"/>
                  <a:cs typeface="Impact"/>
                  <a:sym typeface="Impact"/>
                </a:rPr>
                <a:t>6</a:t>
              </a:r>
            </a:p>
          </p:txBody>
        </p:sp>
        <p:sp>
          <p:nvSpPr>
            <p:cNvPr name="TextBox 101" id="101"/>
            <p:cNvSpPr txBox="true"/>
            <p:nvPr/>
          </p:nvSpPr>
          <p:spPr>
            <a:xfrm rot="0">
              <a:off x="3049678" y="357206"/>
              <a:ext cx="477140" cy="632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645"/>
                </a:lnSpc>
                <a:spcBef>
                  <a:spcPct val="0"/>
                </a:spcBef>
              </a:pPr>
              <a:r>
                <a:rPr lang="en-US" sz="2603">
                  <a:solidFill>
                    <a:srgbClr val="000000"/>
                  </a:solidFill>
                  <a:latin typeface="Impact"/>
                  <a:ea typeface="Impact"/>
                  <a:cs typeface="Impact"/>
                  <a:sym typeface="Impact"/>
                </a:rPr>
                <a:t>4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3E4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57226" y="1437626"/>
            <a:ext cx="8565953" cy="5366374"/>
            <a:chOff x="0" y="0"/>
            <a:chExt cx="11421271" cy="7155165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232350"/>
              <a:ext cx="5556832" cy="3078532"/>
              <a:chOff x="0" y="0"/>
              <a:chExt cx="635000" cy="351795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635000" cy="351795"/>
              </a:xfrm>
              <a:custGeom>
                <a:avLst/>
                <a:gdLst/>
                <a:ahLst/>
                <a:cxnLst/>
                <a:rect r="r" b="b" t="t" l="l"/>
                <a:pathLst>
                  <a:path h="351795" w="635000">
                    <a:moveTo>
                      <a:pt x="42087" y="0"/>
                    </a:moveTo>
                    <a:lnTo>
                      <a:pt x="592913" y="0"/>
                    </a:lnTo>
                    <a:cubicBezTo>
                      <a:pt x="616157" y="0"/>
                      <a:pt x="635000" y="18843"/>
                      <a:pt x="635000" y="42087"/>
                    </a:cubicBezTo>
                    <a:lnTo>
                      <a:pt x="635000" y="309708"/>
                    </a:lnTo>
                    <a:cubicBezTo>
                      <a:pt x="635000" y="332952"/>
                      <a:pt x="616157" y="351795"/>
                      <a:pt x="592913" y="351795"/>
                    </a:cubicBezTo>
                    <a:lnTo>
                      <a:pt x="42087" y="351795"/>
                    </a:lnTo>
                    <a:cubicBezTo>
                      <a:pt x="18843" y="351795"/>
                      <a:pt x="0" y="332952"/>
                      <a:pt x="0" y="309708"/>
                    </a:cubicBezTo>
                    <a:lnTo>
                      <a:pt x="0" y="42087"/>
                    </a:lnTo>
                    <a:cubicBezTo>
                      <a:pt x="0" y="18843"/>
                      <a:pt x="18843" y="0"/>
                      <a:pt x="4208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rnd">
                <a:noFill/>
                <a:prstDash val="sysDot"/>
                <a:round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38100"/>
                <a:ext cx="635000" cy="38989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820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849109" y="0"/>
              <a:ext cx="3799999" cy="495222"/>
              <a:chOff x="0" y="0"/>
              <a:chExt cx="1061224" cy="138301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1061224" cy="138301"/>
              </a:xfrm>
              <a:custGeom>
                <a:avLst/>
                <a:gdLst/>
                <a:ahLst/>
                <a:cxnLst/>
                <a:rect r="r" b="b" t="t" l="l"/>
                <a:pathLst>
                  <a:path h="138301" w="1061224">
                    <a:moveTo>
                      <a:pt x="69150" y="0"/>
                    </a:moveTo>
                    <a:lnTo>
                      <a:pt x="992073" y="0"/>
                    </a:lnTo>
                    <a:cubicBezTo>
                      <a:pt x="1010413" y="0"/>
                      <a:pt x="1028002" y="7285"/>
                      <a:pt x="1040970" y="20254"/>
                    </a:cubicBezTo>
                    <a:cubicBezTo>
                      <a:pt x="1053938" y="33222"/>
                      <a:pt x="1061224" y="50810"/>
                      <a:pt x="1061224" y="69150"/>
                    </a:cubicBezTo>
                    <a:lnTo>
                      <a:pt x="1061224" y="69150"/>
                    </a:lnTo>
                    <a:cubicBezTo>
                      <a:pt x="1061224" y="87490"/>
                      <a:pt x="1053938" y="105079"/>
                      <a:pt x="1040970" y="118047"/>
                    </a:cubicBezTo>
                    <a:cubicBezTo>
                      <a:pt x="1028002" y="131015"/>
                      <a:pt x="1010413" y="138301"/>
                      <a:pt x="992073" y="138301"/>
                    </a:cubicBezTo>
                    <a:lnTo>
                      <a:pt x="69150" y="138301"/>
                    </a:lnTo>
                    <a:cubicBezTo>
                      <a:pt x="50810" y="138301"/>
                      <a:pt x="33222" y="131015"/>
                      <a:pt x="20254" y="118047"/>
                    </a:cubicBezTo>
                    <a:cubicBezTo>
                      <a:pt x="7285" y="105079"/>
                      <a:pt x="0" y="87490"/>
                      <a:pt x="0" y="69150"/>
                    </a:cubicBezTo>
                    <a:lnTo>
                      <a:pt x="0" y="69150"/>
                    </a:lnTo>
                    <a:cubicBezTo>
                      <a:pt x="0" y="50810"/>
                      <a:pt x="7285" y="33222"/>
                      <a:pt x="20254" y="20254"/>
                    </a:cubicBezTo>
                    <a:cubicBezTo>
                      <a:pt x="33222" y="7285"/>
                      <a:pt x="50810" y="0"/>
                      <a:pt x="69150" y="0"/>
                    </a:cubicBezTo>
                    <a:close/>
                  </a:path>
                </a:pathLst>
              </a:custGeom>
              <a:solidFill>
                <a:srgbClr val="004AAD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38100"/>
                <a:ext cx="1061224" cy="176401"/>
              </a:xfrm>
              <a:prstGeom prst="rect">
                <a:avLst/>
              </a:prstGeom>
            </p:spPr>
            <p:txBody>
              <a:bodyPr anchor="ctr" rtlCol="false" tIns="48892" lIns="48892" bIns="48892" rIns="48892"/>
              <a:lstStyle/>
              <a:p>
                <a:pPr algn="ctr">
                  <a:lnSpc>
                    <a:spcPts val="1820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9" id="9"/>
            <p:cNvSpPr txBox="true"/>
            <p:nvPr/>
          </p:nvSpPr>
          <p:spPr>
            <a:xfrm rot="0">
              <a:off x="994956" y="8931"/>
              <a:ext cx="3436342" cy="42994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701"/>
                </a:lnSpc>
                <a:spcBef>
                  <a:spcPct val="0"/>
                </a:spcBef>
              </a:pPr>
              <a:r>
                <a:rPr lang="en-US" sz="1929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Molecular Formula</a:t>
              </a:r>
            </a:p>
          </p:txBody>
        </p:sp>
        <p:grpSp>
          <p:nvGrpSpPr>
            <p:cNvPr name="Group 10" id="10"/>
            <p:cNvGrpSpPr/>
            <p:nvPr/>
          </p:nvGrpSpPr>
          <p:grpSpPr>
            <a:xfrm rot="0">
              <a:off x="5864439" y="232350"/>
              <a:ext cx="5556832" cy="3078532"/>
              <a:chOff x="0" y="0"/>
              <a:chExt cx="635000" cy="351795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635000" cy="351795"/>
              </a:xfrm>
              <a:custGeom>
                <a:avLst/>
                <a:gdLst/>
                <a:ahLst/>
                <a:cxnLst/>
                <a:rect r="r" b="b" t="t" l="l"/>
                <a:pathLst>
                  <a:path h="351795" w="635000">
                    <a:moveTo>
                      <a:pt x="42087" y="0"/>
                    </a:moveTo>
                    <a:lnTo>
                      <a:pt x="592913" y="0"/>
                    </a:lnTo>
                    <a:cubicBezTo>
                      <a:pt x="616157" y="0"/>
                      <a:pt x="635000" y="18843"/>
                      <a:pt x="635000" y="42087"/>
                    </a:cubicBezTo>
                    <a:lnTo>
                      <a:pt x="635000" y="309708"/>
                    </a:lnTo>
                    <a:cubicBezTo>
                      <a:pt x="635000" y="332952"/>
                      <a:pt x="616157" y="351795"/>
                      <a:pt x="592913" y="351795"/>
                    </a:cubicBezTo>
                    <a:lnTo>
                      <a:pt x="42087" y="351795"/>
                    </a:lnTo>
                    <a:cubicBezTo>
                      <a:pt x="18843" y="351795"/>
                      <a:pt x="0" y="332952"/>
                      <a:pt x="0" y="309708"/>
                    </a:cubicBezTo>
                    <a:lnTo>
                      <a:pt x="0" y="42087"/>
                    </a:lnTo>
                    <a:cubicBezTo>
                      <a:pt x="0" y="18843"/>
                      <a:pt x="18843" y="0"/>
                      <a:pt x="4208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rnd">
                <a:noFill/>
                <a:prstDash val="sysDot"/>
                <a:round/>
              </a:ln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28575"/>
                <a:ext cx="635000" cy="38037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60"/>
                  </a:lnSpc>
                </a:pPr>
              </a:p>
            </p:txBody>
          </p:sp>
        </p:grpSp>
        <p:grpSp>
          <p:nvGrpSpPr>
            <p:cNvPr name="Group 13" id="13"/>
            <p:cNvGrpSpPr/>
            <p:nvPr/>
          </p:nvGrpSpPr>
          <p:grpSpPr>
            <a:xfrm rot="0">
              <a:off x="6713548" y="0"/>
              <a:ext cx="3799999" cy="495222"/>
              <a:chOff x="0" y="0"/>
              <a:chExt cx="1061224" cy="138301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1061224" cy="138301"/>
              </a:xfrm>
              <a:custGeom>
                <a:avLst/>
                <a:gdLst/>
                <a:ahLst/>
                <a:cxnLst/>
                <a:rect r="r" b="b" t="t" l="l"/>
                <a:pathLst>
                  <a:path h="138301" w="1061224">
                    <a:moveTo>
                      <a:pt x="69150" y="0"/>
                    </a:moveTo>
                    <a:lnTo>
                      <a:pt x="992073" y="0"/>
                    </a:lnTo>
                    <a:cubicBezTo>
                      <a:pt x="1010413" y="0"/>
                      <a:pt x="1028002" y="7285"/>
                      <a:pt x="1040970" y="20254"/>
                    </a:cubicBezTo>
                    <a:cubicBezTo>
                      <a:pt x="1053938" y="33222"/>
                      <a:pt x="1061224" y="50810"/>
                      <a:pt x="1061224" y="69150"/>
                    </a:cubicBezTo>
                    <a:lnTo>
                      <a:pt x="1061224" y="69150"/>
                    </a:lnTo>
                    <a:cubicBezTo>
                      <a:pt x="1061224" y="87490"/>
                      <a:pt x="1053938" y="105079"/>
                      <a:pt x="1040970" y="118047"/>
                    </a:cubicBezTo>
                    <a:cubicBezTo>
                      <a:pt x="1028002" y="131015"/>
                      <a:pt x="1010413" y="138301"/>
                      <a:pt x="992073" y="138301"/>
                    </a:cubicBezTo>
                    <a:lnTo>
                      <a:pt x="69150" y="138301"/>
                    </a:lnTo>
                    <a:cubicBezTo>
                      <a:pt x="50810" y="138301"/>
                      <a:pt x="33222" y="131015"/>
                      <a:pt x="20254" y="118047"/>
                    </a:cubicBezTo>
                    <a:cubicBezTo>
                      <a:pt x="7285" y="105079"/>
                      <a:pt x="0" y="87490"/>
                      <a:pt x="0" y="69150"/>
                    </a:cubicBezTo>
                    <a:lnTo>
                      <a:pt x="0" y="69150"/>
                    </a:lnTo>
                    <a:cubicBezTo>
                      <a:pt x="0" y="50810"/>
                      <a:pt x="7285" y="33222"/>
                      <a:pt x="20254" y="20254"/>
                    </a:cubicBezTo>
                    <a:cubicBezTo>
                      <a:pt x="33222" y="7285"/>
                      <a:pt x="50810" y="0"/>
                      <a:pt x="69150" y="0"/>
                    </a:cubicBezTo>
                    <a:close/>
                  </a:path>
                </a:pathLst>
              </a:custGeom>
              <a:solidFill>
                <a:srgbClr val="004AAD"/>
              </a:solidFill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0" y="-28575"/>
                <a:ext cx="1061224" cy="166876"/>
              </a:xfrm>
              <a:prstGeom prst="rect">
                <a:avLst/>
              </a:prstGeom>
            </p:spPr>
            <p:txBody>
              <a:bodyPr anchor="ctr" rtlCol="false" tIns="48892" lIns="48892" bIns="48892" rIns="48892"/>
              <a:lstStyle/>
              <a:p>
                <a:pPr algn="ctr">
                  <a:lnSpc>
                    <a:spcPts val="1960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16" id="16"/>
            <p:cNvSpPr txBox="true"/>
            <p:nvPr/>
          </p:nvSpPr>
          <p:spPr>
            <a:xfrm rot="0">
              <a:off x="6859395" y="8931"/>
              <a:ext cx="3436342" cy="42994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701"/>
                </a:lnSpc>
                <a:spcBef>
                  <a:spcPct val="0"/>
                </a:spcBef>
              </a:pPr>
              <a:r>
                <a:rPr lang="en-US" sz="1929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Lewis Structure</a:t>
              </a:r>
            </a:p>
          </p:txBody>
        </p:sp>
        <p:grpSp>
          <p:nvGrpSpPr>
            <p:cNvPr name="Group 17" id="17"/>
            <p:cNvGrpSpPr/>
            <p:nvPr/>
          </p:nvGrpSpPr>
          <p:grpSpPr>
            <a:xfrm rot="0">
              <a:off x="0" y="4076632"/>
              <a:ext cx="5556832" cy="3078532"/>
              <a:chOff x="0" y="0"/>
              <a:chExt cx="635000" cy="351795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635000" cy="351795"/>
              </a:xfrm>
              <a:custGeom>
                <a:avLst/>
                <a:gdLst/>
                <a:ahLst/>
                <a:cxnLst/>
                <a:rect r="r" b="b" t="t" l="l"/>
                <a:pathLst>
                  <a:path h="351795" w="635000">
                    <a:moveTo>
                      <a:pt x="42087" y="0"/>
                    </a:moveTo>
                    <a:lnTo>
                      <a:pt x="592913" y="0"/>
                    </a:lnTo>
                    <a:cubicBezTo>
                      <a:pt x="616157" y="0"/>
                      <a:pt x="635000" y="18843"/>
                      <a:pt x="635000" y="42087"/>
                    </a:cubicBezTo>
                    <a:lnTo>
                      <a:pt x="635000" y="309708"/>
                    </a:lnTo>
                    <a:cubicBezTo>
                      <a:pt x="635000" y="332952"/>
                      <a:pt x="616157" y="351795"/>
                      <a:pt x="592913" y="351795"/>
                    </a:cubicBezTo>
                    <a:lnTo>
                      <a:pt x="42087" y="351795"/>
                    </a:lnTo>
                    <a:cubicBezTo>
                      <a:pt x="18843" y="351795"/>
                      <a:pt x="0" y="332952"/>
                      <a:pt x="0" y="309708"/>
                    </a:cubicBezTo>
                    <a:lnTo>
                      <a:pt x="0" y="42087"/>
                    </a:lnTo>
                    <a:cubicBezTo>
                      <a:pt x="0" y="18843"/>
                      <a:pt x="18843" y="0"/>
                      <a:pt x="4208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rnd">
                <a:noFill/>
                <a:prstDash val="sysDot"/>
                <a:round/>
              </a:ln>
            </p:spPr>
          </p:sp>
          <p:sp>
            <p:nvSpPr>
              <p:cNvPr name="TextBox 19" id="19"/>
              <p:cNvSpPr txBox="true"/>
              <p:nvPr/>
            </p:nvSpPr>
            <p:spPr>
              <a:xfrm>
                <a:off x="0" y="-28575"/>
                <a:ext cx="635000" cy="38037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60"/>
                  </a:lnSpc>
                </a:pPr>
              </a:p>
            </p:txBody>
          </p:sp>
        </p:grpSp>
        <p:grpSp>
          <p:nvGrpSpPr>
            <p:cNvPr name="Group 20" id="20"/>
            <p:cNvGrpSpPr/>
            <p:nvPr/>
          </p:nvGrpSpPr>
          <p:grpSpPr>
            <a:xfrm rot="0">
              <a:off x="510787" y="3891314"/>
              <a:ext cx="4535257" cy="495222"/>
              <a:chOff x="0" y="0"/>
              <a:chExt cx="1266559" cy="138301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0" y="0"/>
                <a:ext cx="1266559" cy="138301"/>
              </a:xfrm>
              <a:custGeom>
                <a:avLst/>
                <a:gdLst/>
                <a:ahLst/>
                <a:cxnLst/>
                <a:rect r="r" b="b" t="t" l="l"/>
                <a:pathLst>
                  <a:path h="138301" w="1266559">
                    <a:moveTo>
                      <a:pt x="69150" y="0"/>
                    </a:moveTo>
                    <a:lnTo>
                      <a:pt x="1197409" y="0"/>
                    </a:lnTo>
                    <a:cubicBezTo>
                      <a:pt x="1235599" y="0"/>
                      <a:pt x="1266559" y="30960"/>
                      <a:pt x="1266559" y="69150"/>
                    </a:cubicBezTo>
                    <a:lnTo>
                      <a:pt x="1266559" y="69150"/>
                    </a:lnTo>
                    <a:cubicBezTo>
                      <a:pt x="1266559" y="87490"/>
                      <a:pt x="1259273" y="105079"/>
                      <a:pt x="1246305" y="118047"/>
                    </a:cubicBezTo>
                    <a:cubicBezTo>
                      <a:pt x="1233337" y="131015"/>
                      <a:pt x="1215748" y="138301"/>
                      <a:pt x="1197409" y="138301"/>
                    </a:cubicBezTo>
                    <a:lnTo>
                      <a:pt x="69150" y="138301"/>
                    </a:lnTo>
                    <a:cubicBezTo>
                      <a:pt x="50810" y="138301"/>
                      <a:pt x="33222" y="131015"/>
                      <a:pt x="20254" y="118047"/>
                    </a:cubicBezTo>
                    <a:cubicBezTo>
                      <a:pt x="7285" y="105079"/>
                      <a:pt x="0" y="87490"/>
                      <a:pt x="0" y="69150"/>
                    </a:cubicBezTo>
                    <a:lnTo>
                      <a:pt x="0" y="69150"/>
                    </a:lnTo>
                    <a:cubicBezTo>
                      <a:pt x="0" y="50810"/>
                      <a:pt x="7285" y="33222"/>
                      <a:pt x="20254" y="20254"/>
                    </a:cubicBezTo>
                    <a:cubicBezTo>
                      <a:pt x="33222" y="7285"/>
                      <a:pt x="50810" y="0"/>
                      <a:pt x="69150" y="0"/>
                    </a:cubicBezTo>
                    <a:close/>
                  </a:path>
                </a:pathLst>
              </a:custGeom>
              <a:solidFill>
                <a:srgbClr val="004AAD"/>
              </a:solidFill>
            </p:spPr>
          </p:sp>
          <p:sp>
            <p:nvSpPr>
              <p:cNvPr name="TextBox 22" id="22"/>
              <p:cNvSpPr txBox="true"/>
              <p:nvPr/>
            </p:nvSpPr>
            <p:spPr>
              <a:xfrm>
                <a:off x="0" y="-28575"/>
                <a:ext cx="1266559" cy="166876"/>
              </a:xfrm>
              <a:prstGeom prst="rect">
                <a:avLst/>
              </a:prstGeom>
            </p:spPr>
            <p:txBody>
              <a:bodyPr anchor="ctr" rtlCol="false" tIns="48892" lIns="48892" bIns="48892" rIns="48892"/>
              <a:lstStyle/>
              <a:p>
                <a:pPr algn="ctr">
                  <a:lnSpc>
                    <a:spcPts val="1960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23" id="23"/>
            <p:cNvSpPr txBox="true"/>
            <p:nvPr/>
          </p:nvSpPr>
          <p:spPr>
            <a:xfrm rot="0">
              <a:off x="636817" y="3937400"/>
              <a:ext cx="4283198" cy="3649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315"/>
                </a:lnSpc>
                <a:spcBef>
                  <a:spcPct val="0"/>
                </a:spcBef>
              </a:pPr>
              <a:r>
                <a:rPr lang="en-US" sz="1653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Condensed Structural Formula</a:t>
              </a:r>
            </a:p>
          </p:txBody>
        </p:sp>
        <p:grpSp>
          <p:nvGrpSpPr>
            <p:cNvPr name="Group 24" id="24"/>
            <p:cNvGrpSpPr/>
            <p:nvPr/>
          </p:nvGrpSpPr>
          <p:grpSpPr>
            <a:xfrm rot="0">
              <a:off x="5864439" y="4076632"/>
              <a:ext cx="5556832" cy="3078532"/>
              <a:chOff x="0" y="0"/>
              <a:chExt cx="635000" cy="351795"/>
            </a:xfrm>
          </p:grpSpPr>
          <p:sp>
            <p:nvSpPr>
              <p:cNvPr name="Freeform 25" id="25"/>
              <p:cNvSpPr/>
              <p:nvPr/>
            </p:nvSpPr>
            <p:spPr>
              <a:xfrm flipH="false" flipV="false" rot="0">
                <a:off x="0" y="0"/>
                <a:ext cx="635000" cy="351795"/>
              </a:xfrm>
              <a:custGeom>
                <a:avLst/>
                <a:gdLst/>
                <a:ahLst/>
                <a:cxnLst/>
                <a:rect r="r" b="b" t="t" l="l"/>
                <a:pathLst>
                  <a:path h="351795" w="635000">
                    <a:moveTo>
                      <a:pt x="42087" y="0"/>
                    </a:moveTo>
                    <a:lnTo>
                      <a:pt x="592913" y="0"/>
                    </a:lnTo>
                    <a:cubicBezTo>
                      <a:pt x="616157" y="0"/>
                      <a:pt x="635000" y="18843"/>
                      <a:pt x="635000" y="42087"/>
                    </a:cubicBezTo>
                    <a:lnTo>
                      <a:pt x="635000" y="309708"/>
                    </a:lnTo>
                    <a:cubicBezTo>
                      <a:pt x="635000" y="332952"/>
                      <a:pt x="616157" y="351795"/>
                      <a:pt x="592913" y="351795"/>
                    </a:cubicBezTo>
                    <a:lnTo>
                      <a:pt x="42087" y="351795"/>
                    </a:lnTo>
                    <a:cubicBezTo>
                      <a:pt x="18843" y="351795"/>
                      <a:pt x="0" y="332952"/>
                      <a:pt x="0" y="309708"/>
                    </a:cubicBezTo>
                    <a:lnTo>
                      <a:pt x="0" y="42087"/>
                    </a:lnTo>
                    <a:cubicBezTo>
                      <a:pt x="0" y="18843"/>
                      <a:pt x="18843" y="0"/>
                      <a:pt x="4208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rnd">
                <a:noFill/>
                <a:prstDash val="sysDot"/>
                <a:round/>
              </a:ln>
            </p:spPr>
          </p:sp>
          <p:sp>
            <p:nvSpPr>
              <p:cNvPr name="TextBox 26" id="26"/>
              <p:cNvSpPr txBox="true"/>
              <p:nvPr/>
            </p:nvSpPr>
            <p:spPr>
              <a:xfrm>
                <a:off x="0" y="-28575"/>
                <a:ext cx="635000" cy="38037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60"/>
                  </a:lnSpc>
                </a:pPr>
              </a:p>
            </p:txBody>
          </p:sp>
        </p:grpSp>
        <p:grpSp>
          <p:nvGrpSpPr>
            <p:cNvPr name="Group 27" id="27"/>
            <p:cNvGrpSpPr/>
            <p:nvPr/>
          </p:nvGrpSpPr>
          <p:grpSpPr>
            <a:xfrm rot="0">
              <a:off x="6713548" y="3844282"/>
              <a:ext cx="3799999" cy="495222"/>
              <a:chOff x="0" y="0"/>
              <a:chExt cx="1061224" cy="138301"/>
            </a:xfrm>
          </p:grpSpPr>
          <p:sp>
            <p:nvSpPr>
              <p:cNvPr name="Freeform 28" id="28"/>
              <p:cNvSpPr/>
              <p:nvPr/>
            </p:nvSpPr>
            <p:spPr>
              <a:xfrm flipH="false" flipV="false" rot="0">
                <a:off x="0" y="0"/>
                <a:ext cx="1061224" cy="138301"/>
              </a:xfrm>
              <a:custGeom>
                <a:avLst/>
                <a:gdLst/>
                <a:ahLst/>
                <a:cxnLst/>
                <a:rect r="r" b="b" t="t" l="l"/>
                <a:pathLst>
                  <a:path h="138301" w="1061224">
                    <a:moveTo>
                      <a:pt x="69150" y="0"/>
                    </a:moveTo>
                    <a:lnTo>
                      <a:pt x="992073" y="0"/>
                    </a:lnTo>
                    <a:cubicBezTo>
                      <a:pt x="1010413" y="0"/>
                      <a:pt x="1028002" y="7285"/>
                      <a:pt x="1040970" y="20254"/>
                    </a:cubicBezTo>
                    <a:cubicBezTo>
                      <a:pt x="1053938" y="33222"/>
                      <a:pt x="1061224" y="50810"/>
                      <a:pt x="1061224" y="69150"/>
                    </a:cubicBezTo>
                    <a:lnTo>
                      <a:pt x="1061224" y="69150"/>
                    </a:lnTo>
                    <a:cubicBezTo>
                      <a:pt x="1061224" y="87490"/>
                      <a:pt x="1053938" y="105079"/>
                      <a:pt x="1040970" y="118047"/>
                    </a:cubicBezTo>
                    <a:cubicBezTo>
                      <a:pt x="1028002" y="131015"/>
                      <a:pt x="1010413" y="138301"/>
                      <a:pt x="992073" y="138301"/>
                    </a:cubicBezTo>
                    <a:lnTo>
                      <a:pt x="69150" y="138301"/>
                    </a:lnTo>
                    <a:cubicBezTo>
                      <a:pt x="50810" y="138301"/>
                      <a:pt x="33222" y="131015"/>
                      <a:pt x="20254" y="118047"/>
                    </a:cubicBezTo>
                    <a:cubicBezTo>
                      <a:pt x="7285" y="105079"/>
                      <a:pt x="0" y="87490"/>
                      <a:pt x="0" y="69150"/>
                    </a:cubicBezTo>
                    <a:lnTo>
                      <a:pt x="0" y="69150"/>
                    </a:lnTo>
                    <a:cubicBezTo>
                      <a:pt x="0" y="50810"/>
                      <a:pt x="7285" y="33222"/>
                      <a:pt x="20254" y="20254"/>
                    </a:cubicBezTo>
                    <a:cubicBezTo>
                      <a:pt x="33222" y="7285"/>
                      <a:pt x="50810" y="0"/>
                      <a:pt x="69150" y="0"/>
                    </a:cubicBezTo>
                    <a:close/>
                  </a:path>
                </a:pathLst>
              </a:custGeom>
              <a:solidFill>
                <a:srgbClr val="004AAD"/>
              </a:solidFill>
            </p:spPr>
          </p:sp>
          <p:sp>
            <p:nvSpPr>
              <p:cNvPr name="TextBox 29" id="29"/>
              <p:cNvSpPr txBox="true"/>
              <p:nvPr/>
            </p:nvSpPr>
            <p:spPr>
              <a:xfrm>
                <a:off x="0" y="-28575"/>
                <a:ext cx="1061224" cy="166876"/>
              </a:xfrm>
              <a:prstGeom prst="rect">
                <a:avLst/>
              </a:prstGeom>
            </p:spPr>
            <p:txBody>
              <a:bodyPr anchor="ctr" rtlCol="false" tIns="48892" lIns="48892" bIns="48892" rIns="48892"/>
              <a:lstStyle/>
              <a:p>
                <a:pPr algn="ctr">
                  <a:lnSpc>
                    <a:spcPts val="1960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30" id="30"/>
            <p:cNvSpPr txBox="true"/>
            <p:nvPr/>
          </p:nvSpPr>
          <p:spPr>
            <a:xfrm rot="0">
              <a:off x="6924684" y="3853214"/>
              <a:ext cx="3436342" cy="42994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701"/>
                </a:lnSpc>
                <a:spcBef>
                  <a:spcPct val="0"/>
                </a:spcBef>
              </a:pPr>
              <a:r>
                <a:rPr lang="en-US" sz="1929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Bond-Line Structure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051506" y="366072"/>
            <a:ext cx="8588987" cy="650546"/>
            <a:chOff x="0" y="0"/>
            <a:chExt cx="3198189" cy="242237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3198189" cy="242237"/>
            </a:xfrm>
            <a:custGeom>
              <a:avLst/>
              <a:gdLst/>
              <a:ahLst/>
              <a:cxnLst/>
              <a:rect r="r" b="b" t="t" l="l"/>
              <a:pathLst>
                <a:path h="242237" w="3198189">
                  <a:moveTo>
                    <a:pt x="0" y="0"/>
                  </a:moveTo>
                  <a:lnTo>
                    <a:pt x="3198189" y="0"/>
                  </a:lnTo>
                  <a:lnTo>
                    <a:pt x="3198189" y="242237"/>
                  </a:lnTo>
                  <a:lnTo>
                    <a:pt x="0" y="242237"/>
                  </a:ln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100000"/>
                  </a:srgbClr>
                </a:gs>
                <a:gs pos="100000">
                  <a:srgbClr val="3533CD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28575"/>
              <a:ext cx="3198189" cy="270812"/>
            </a:xfrm>
            <a:prstGeom prst="rect">
              <a:avLst/>
            </a:prstGeom>
          </p:spPr>
          <p:txBody>
            <a:bodyPr anchor="ctr" rtlCol="false" tIns="48892" lIns="48892" bIns="48892" rIns="48892"/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6402893" y="1792222"/>
            <a:ext cx="2426798" cy="2032102"/>
            <a:chOff x="0" y="0"/>
            <a:chExt cx="3235731" cy="2709470"/>
          </a:xfrm>
        </p:grpSpPr>
        <p:sp>
          <p:nvSpPr>
            <p:cNvPr name="AutoShape 35" id="35"/>
            <p:cNvSpPr/>
            <p:nvPr/>
          </p:nvSpPr>
          <p:spPr>
            <a:xfrm>
              <a:off x="1490963" y="835997"/>
              <a:ext cx="225877" cy="130410"/>
            </a:xfrm>
            <a:prstGeom prst="line">
              <a:avLst/>
            </a:prstGeom>
            <a:ln cap="flat" w="1075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36" id="36"/>
            <p:cNvSpPr txBox="true"/>
            <p:nvPr/>
          </p:nvSpPr>
          <p:spPr>
            <a:xfrm rot="0">
              <a:off x="1337625" y="674662"/>
              <a:ext cx="143483" cy="23549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506"/>
                </a:lnSpc>
                <a:spcBef>
                  <a:spcPct val="0"/>
                </a:spcBef>
              </a:pPr>
              <a:r>
                <a:rPr lang="en-US" b="true" sz="1075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C</a:t>
              </a:r>
            </a:p>
          </p:txBody>
        </p:sp>
        <p:sp>
          <p:nvSpPr>
            <p:cNvPr name="TextBox 37" id="37"/>
            <p:cNvSpPr txBox="true"/>
            <p:nvPr/>
          </p:nvSpPr>
          <p:spPr>
            <a:xfrm rot="0">
              <a:off x="1719154" y="891107"/>
              <a:ext cx="143483" cy="23549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506"/>
                </a:lnSpc>
                <a:spcBef>
                  <a:spcPct val="0"/>
                </a:spcBef>
              </a:pPr>
              <a:r>
                <a:rPr lang="en-US" b="true" sz="1075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C</a:t>
              </a:r>
            </a:p>
          </p:txBody>
        </p:sp>
        <p:sp>
          <p:nvSpPr>
            <p:cNvPr name="TextBox 38" id="38"/>
            <p:cNvSpPr txBox="true"/>
            <p:nvPr/>
          </p:nvSpPr>
          <p:spPr>
            <a:xfrm rot="0">
              <a:off x="1716840" y="1350348"/>
              <a:ext cx="143483" cy="23549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506"/>
                </a:lnSpc>
                <a:spcBef>
                  <a:spcPct val="0"/>
                </a:spcBef>
              </a:pPr>
              <a:r>
                <a:rPr lang="en-US" b="true" sz="1075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C</a:t>
              </a:r>
            </a:p>
          </p:txBody>
        </p:sp>
        <p:sp>
          <p:nvSpPr>
            <p:cNvPr name="TextBox 39" id="39"/>
            <p:cNvSpPr txBox="true"/>
            <p:nvPr/>
          </p:nvSpPr>
          <p:spPr>
            <a:xfrm rot="0">
              <a:off x="1347480" y="1566794"/>
              <a:ext cx="143483" cy="23549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506"/>
                </a:lnSpc>
                <a:spcBef>
                  <a:spcPct val="0"/>
                </a:spcBef>
              </a:pPr>
              <a:r>
                <a:rPr lang="en-US" b="true" sz="1075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N</a:t>
              </a:r>
            </a:p>
          </p:txBody>
        </p:sp>
        <p:sp>
          <p:nvSpPr>
            <p:cNvPr name="TextBox 40" id="40"/>
            <p:cNvSpPr txBox="true"/>
            <p:nvPr/>
          </p:nvSpPr>
          <p:spPr>
            <a:xfrm rot="0">
              <a:off x="947733" y="1350348"/>
              <a:ext cx="143483" cy="23549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506"/>
                </a:lnSpc>
                <a:spcBef>
                  <a:spcPct val="0"/>
                </a:spcBef>
              </a:pPr>
              <a:r>
                <a:rPr lang="en-US" b="true" sz="1075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C</a:t>
              </a:r>
            </a:p>
          </p:txBody>
        </p:sp>
        <p:sp>
          <p:nvSpPr>
            <p:cNvPr name="TextBox 41" id="41"/>
            <p:cNvSpPr txBox="true"/>
            <p:nvPr/>
          </p:nvSpPr>
          <p:spPr>
            <a:xfrm rot="0">
              <a:off x="953012" y="891214"/>
              <a:ext cx="143483" cy="23549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506"/>
                </a:lnSpc>
                <a:spcBef>
                  <a:spcPct val="0"/>
                </a:spcBef>
              </a:pPr>
              <a:r>
                <a:rPr lang="en-US" b="true" sz="1075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N</a:t>
              </a:r>
            </a:p>
          </p:txBody>
        </p:sp>
        <p:sp>
          <p:nvSpPr>
            <p:cNvPr name="AutoShape 42" id="42"/>
            <p:cNvSpPr/>
            <p:nvPr/>
          </p:nvSpPr>
          <p:spPr>
            <a:xfrm>
              <a:off x="1808749" y="1120512"/>
              <a:ext cx="0" cy="260821"/>
            </a:xfrm>
            <a:prstGeom prst="line">
              <a:avLst/>
            </a:prstGeom>
            <a:ln cap="flat" w="1075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43" id="43"/>
            <p:cNvSpPr/>
            <p:nvPr/>
          </p:nvSpPr>
          <p:spPr>
            <a:xfrm flipV="true">
              <a:off x="1489941" y="1551775"/>
              <a:ext cx="225877" cy="130410"/>
            </a:xfrm>
            <a:prstGeom prst="line">
              <a:avLst/>
            </a:prstGeom>
            <a:ln cap="flat" w="1075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44" id="44"/>
            <p:cNvSpPr/>
            <p:nvPr/>
          </p:nvSpPr>
          <p:spPr>
            <a:xfrm>
              <a:off x="1096495" y="1544812"/>
              <a:ext cx="225877" cy="130410"/>
            </a:xfrm>
            <a:prstGeom prst="line">
              <a:avLst/>
            </a:prstGeom>
            <a:ln cap="flat" w="1075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45" id="45"/>
            <p:cNvSpPr/>
            <p:nvPr/>
          </p:nvSpPr>
          <p:spPr>
            <a:xfrm>
              <a:off x="1006293" y="1120512"/>
              <a:ext cx="0" cy="260821"/>
            </a:xfrm>
            <a:prstGeom prst="line">
              <a:avLst/>
            </a:prstGeom>
            <a:ln cap="flat" w="1075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46" id="46"/>
            <p:cNvSpPr/>
            <p:nvPr/>
          </p:nvSpPr>
          <p:spPr>
            <a:xfrm flipV="true">
              <a:off x="1106251" y="837164"/>
              <a:ext cx="225877" cy="130410"/>
            </a:xfrm>
            <a:prstGeom prst="line">
              <a:avLst/>
            </a:prstGeom>
            <a:ln cap="flat" w="1075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47" id="47"/>
            <p:cNvSpPr/>
            <p:nvPr/>
          </p:nvSpPr>
          <p:spPr>
            <a:xfrm>
              <a:off x="1840417" y="1120512"/>
              <a:ext cx="0" cy="260821"/>
            </a:xfrm>
            <a:prstGeom prst="line">
              <a:avLst/>
            </a:prstGeom>
            <a:ln cap="flat" w="1075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48" id="48"/>
            <p:cNvSpPr/>
            <p:nvPr/>
          </p:nvSpPr>
          <p:spPr>
            <a:xfrm>
              <a:off x="1399873" y="455079"/>
              <a:ext cx="0" cy="260821"/>
            </a:xfrm>
            <a:prstGeom prst="line">
              <a:avLst/>
            </a:prstGeom>
            <a:ln cap="flat" w="1075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49" id="49"/>
            <p:cNvSpPr txBox="true"/>
            <p:nvPr/>
          </p:nvSpPr>
          <p:spPr>
            <a:xfrm rot="0">
              <a:off x="1328132" y="219583"/>
              <a:ext cx="143483" cy="23549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506"/>
                </a:lnSpc>
                <a:spcBef>
                  <a:spcPct val="0"/>
                </a:spcBef>
              </a:pPr>
              <a:r>
                <a:rPr lang="en-US" b="true" sz="1075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O</a:t>
              </a:r>
            </a:p>
          </p:txBody>
        </p:sp>
        <p:sp>
          <p:nvSpPr>
            <p:cNvPr name="TextBox 50" id="50"/>
            <p:cNvSpPr txBox="true"/>
            <p:nvPr/>
          </p:nvSpPr>
          <p:spPr>
            <a:xfrm rot="5400000">
              <a:off x="1523486" y="191480"/>
              <a:ext cx="131064" cy="31075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963"/>
                </a:lnSpc>
                <a:spcBef>
                  <a:spcPct val="0"/>
                </a:spcBef>
              </a:pPr>
              <a:r>
                <a:rPr lang="en-US" b="true" sz="1402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..</a:t>
              </a:r>
            </a:p>
          </p:txBody>
        </p:sp>
        <p:sp>
          <p:nvSpPr>
            <p:cNvPr name="TextBox 51" id="51"/>
            <p:cNvSpPr txBox="true"/>
            <p:nvPr/>
          </p:nvSpPr>
          <p:spPr>
            <a:xfrm rot="-5400000">
              <a:off x="1152484" y="191480"/>
              <a:ext cx="131064" cy="31075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963"/>
                </a:lnSpc>
                <a:spcBef>
                  <a:spcPct val="0"/>
                </a:spcBef>
              </a:pPr>
              <a:r>
                <a:rPr lang="en-US" b="true" sz="1402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..</a:t>
              </a:r>
            </a:p>
          </p:txBody>
        </p:sp>
        <p:sp>
          <p:nvSpPr>
            <p:cNvPr name="AutoShape 52" id="52"/>
            <p:cNvSpPr/>
            <p:nvPr/>
          </p:nvSpPr>
          <p:spPr>
            <a:xfrm flipH="true" flipV="true">
              <a:off x="635269" y="1025654"/>
              <a:ext cx="312462" cy="107"/>
            </a:xfrm>
            <a:prstGeom prst="line">
              <a:avLst/>
            </a:prstGeom>
            <a:ln cap="flat" w="14334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53" id="53"/>
            <p:cNvSpPr txBox="true"/>
            <p:nvPr/>
          </p:nvSpPr>
          <p:spPr>
            <a:xfrm rot="0">
              <a:off x="484617" y="885017"/>
              <a:ext cx="143483" cy="23549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506"/>
                </a:lnSpc>
                <a:spcBef>
                  <a:spcPct val="0"/>
                </a:spcBef>
              </a:pPr>
              <a:r>
                <a:rPr lang="en-US" b="true" sz="1075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C</a:t>
              </a:r>
            </a:p>
          </p:txBody>
        </p:sp>
        <p:sp>
          <p:nvSpPr>
            <p:cNvPr name="AutoShape 54" id="54"/>
            <p:cNvSpPr/>
            <p:nvPr/>
          </p:nvSpPr>
          <p:spPr>
            <a:xfrm flipH="true" flipV="true">
              <a:off x="164986" y="1019456"/>
              <a:ext cx="312462" cy="107"/>
            </a:xfrm>
            <a:prstGeom prst="line">
              <a:avLst/>
            </a:prstGeom>
            <a:ln cap="flat" w="14334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55" id="55"/>
            <p:cNvSpPr/>
            <p:nvPr/>
          </p:nvSpPr>
          <p:spPr>
            <a:xfrm>
              <a:off x="556358" y="1120512"/>
              <a:ext cx="0" cy="260821"/>
            </a:xfrm>
            <a:prstGeom prst="line">
              <a:avLst/>
            </a:prstGeom>
            <a:ln cap="flat" w="1075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56" id="56"/>
            <p:cNvSpPr/>
            <p:nvPr/>
          </p:nvSpPr>
          <p:spPr>
            <a:xfrm>
              <a:off x="556358" y="660357"/>
              <a:ext cx="0" cy="260821"/>
            </a:xfrm>
            <a:prstGeom prst="line">
              <a:avLst/>
            </a:prstGeom>
            <a:ln cap="flat" w="1075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57" id="57"/>
            <p:cNvSpPr txBox="true"/>
            <p:nvPr/>
          </p:nvSpPr>
          <p:spPr>
            <a:xfrm rot="0">
              <a:off x="477448" y="424862"/>
              <a:ext cx="143483" cy="23549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506"/>
                </a:lnSpc>
                <a:spcBef>
                  <a:spcPct val="0"/>
                </a:spcBef>
              </a:pPr>
              <a:r>
                <a:rPr lang="en-US" b="true" sz="1075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H</a:t>
              </a:r>
            </a:p>
          </p:txBody>
        </p:sp>
        <p:sp>
          <p:nvSpPr>
            <p:cNvPr name="TextBox 58" id="58"/>
            <p:cNvSpPr txBox="true"/>
            <p:nvPr/>
          </p:nvSpPr>
          <p:spPr>
            <a:xfrm rot="0">
              <a:off x="477448" y="1345136"/>
              <a:ext cx="143483" cy="23549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506"/>
                </a:lnSpc>
                <a:spcBef>
                  <a:spcPct val="0"/>
                </a:spcBef>
              </a:pPr>
              <a:r>
                <a:rPr lang="en-US" b="true" sz="1075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H</a:t>
              </a:r>
            </a:p>
          </p:txBody>
        </p:sp>
        <p:sp>
          <p:nvSpPr>
            <p:cNvPr name="AutoShape 59" id="59"/>
            <p:cNvSpPr/>
            <p:nvPr/>
          </p:nvSpPr>
          <p:spPr>
            <a:xfrm flipV="true">
              <a:off x="765567" y="1523485"/>
              <a:ext cx="191302" cy="177288"/>
            </a:xfrm>
            <a:prstGeom prst="line">
              <a:avLst/>
            </a:prstGeom>
            <a:ln cap="flat" w="1075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60" id="60"/>
            <p:cNvSpPr/>
            <p:nvPr/>
          </p:nvSpPr>
          <p:spPr>
            <a:xfrm flipV="true">
              <a:off x="779761" y="1548754"/>
              <a:ext cx="191302" cy="177288"/>
            </a:xfrm>
            <a:prstGeom prst="line">
              <a:avLst/>
            </a:prstGeom>
            <a:ln cap="flat" w="1075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61" id="61"/>
            <p:cNvSpPr txBox="true"/>
            <p:nvPr/>
          </p:nvSpPr>
          <p:spPr>
            <a:xfrm rot="-714483">
              <a:off x="609873" y="1605312"/>
              <a:ext cx="143483" cy="23549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506"/>
                </a:lnSpc>
                <a:spcBef>
                  <a:spcPct val="0"/>
                </a:spcBef>
              </a:pPr>
              <a:r>
                <a:rPr lang="en-US" b="true" sz="1075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O</a:t>
              </a:r>
            </a:p>
          </p:txBody>
        </p:sp>
        <p:sp>
          <p:nvSpPr>
            <p:cNvPr name="TextBox 62" id="62"/>
            <p:cNvSpPr txBox="true"/>
            <p:nvPr/>
          </p:nvSpPr>
          <p:spPr>
            <a:xfrm rot="-10288671">
              <a:off x="594259" y="1768318"/>
              <a:ext cx="131064" cy="31075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963"/>
                </a:lnSpc>
                <a:spcBef>
                  <a:spcPct val="0"/>
                </a:spcBef>
              </a:pPr>
              <a:r>
                <a:rPr lang="en-US" b="true" sz="1402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..</a:t>
              </a:r>
            </a:p>
          </p:txBody>
        </p:sp>
        <p:sp>
          <p:nvSpPr>
            <p:cNvPr name="TextBox 63" id="63"/>
            <p:cNvSpPr txBox="true"/>
            <p:nvPr/>
          </p:nvSpPr>
          <p:spPr>
            <a:xfrm rot="-2163439">
              <a:off x="508714" y="1434556"/>
              <a:ext cx="131064" cy="31075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963"/>
                </a:lnSpc>
                <a:spcBef>
                  <a:spcPct val="0"/>
                </a:spcBef>
              </a:pPr>
              <a:r>
                <a:rPr lang="en-US" b="true" sz="1402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..</a:t>
              </a:r>
            </a:p>
          </p:txBody>
        </p:sp>
        <p:sp>
          <p:nvSpPr>
            <p:cNvPr name="AutoShape 64" id="64"/>
            <p:cNvSpPr/>
            <p:nvPr/>
          </p:nvSpPr>
          <p:spPr>
            <a:xfrm flipV="true">
              <a:off x="1865721" y="834800"/>
              <a:ext cx="272264" cy="187966"/>
            </a:xfrm>
            <a:prstGeom prst="line">
              <a:avLst/>
            </a:prstGeom>
            <a:ln cap="flat" w="1075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65" id="65"/>
            <p:cNvSpPr/>
            <p:nvPr/>
          </p:nvSpPr>
          <p:spPr>
            <a:xfrm>
              <a:off x="1864990" y="1473199"/>
              <a:ext cx="306684" cy="149262"/>
            </a:xfrm>
            <a:prstGeom prst="line">
              <a:avLst/>
            </a:prstGeom>
            <a:ln cap="flat" w="1075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66" id="66"/>
            <p:cNvSpPr txBox="true"/>
            <p:nvPr/>
          </p:nvSpPr>
          <p:spPr>
            <a:xfrm rot="0">
              <a:off x="2137985" y="696849"/>
              <a:ext cx="143483" cy="23549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506"/>
                </a:lnSpc>
                <a:spcBef>
                  <a:spcPct val="0"/>
                </a:spcBef>
              </a:pPr>
              <a:r>
                <a:rPr lang="en-US" b="true" sz="1075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N</a:t>
              </a:r>
            </a:p>
          </p:txBody>
        </p:sp>
        <p:sp>
          <p:nvSpPr>
            <p:cNvPr name="AutoShape 67" id="67"/>
            <p:cNvSpPr/>
            <p:nvPr/>
          </p:nvSpPr>
          <p:spPr>
            <a:xfrm>
              <a:off x="2293928" y="853232"/>
              <a:ext cx="297631" cy="297631"/>
            </a:xfrm>
            <a:prstGeom prst="line">
              <a:avLst/>
            </a:prstGeom>
            <a:ln cap="flat" w="1075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68" id="68"/>
            <p:cNvSpPr txBox="true"/>
            <p:nvPr/>
          </p:nvSpPr>
          <p:spPr>
            <a:xfrm rot="0">
              <a:off x="2547723" y="1107660"/>
              <a:ext cx="143483" cy="23549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506"/>
                </a:lnSpc>
                <a:spcBef>
                  <a:spcPct val="0"/>
                </a:spcBef>
              </a:pPr>
              <a:r>
                <a:rPr lang="en-US" b="true" sz="1075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C</a:t>
              </a:r>
            </a:p>
          </p:txBody>
        </p:sp>
        <p:sp>
          <p:nvSpPr>
            <p:cNvPr name="TextBox 69" id="69"/>
            <p:cNvSpPr txBox="true"/>
            <p:nvPr/>
          </p:nvSpPr>
          <p:spPr>
            <a:xfrm rot="0">
              <a:off x="2184345" y="1495188"/>
              <a:ext cx="143483" cy="23549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506"/>
                </a:lnSpc>
                <a:spcBef>
                  <a:spcPct val="0"/>
                </a:spcBef>
              </a:pPr>
              <a:r>
                <a:rPr lang="en-US" b="true" sz="1075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N</a:t>
              </a:r>
            </a:p>
          </p:txBody>
        </p:sp>
        <p:sp>
          <p:nvSpPr>
            <p:cNvPr name="AutoShape 70" id="70"/>
            <p:cNvSpPr/>
            <p:nvPr/>
          </p:nvSpPr>
          <p:spPr>
            <a:xfrm flipV="true">
              <a:off x="2335397" y="1326775"/>
              <a:ext cx="245194" cy="271100"/>
            </a:xfrm>
            <a:prstGeom prst="line">
              <a:avLst/>
            </a:prstGeom>
            <a:ln cap="flat" w="1075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71" id="71"/>
            <p:cNvSpPr txBox="true"/>
            <p:nvPr/>
          </p:nvSpPr>
          <p:spPr>
            <a:xfrm rot="0">
              <a:off x="2144194" y="478185"/>
              <a:ext cx="131064" cy="31075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963"/>
                </a:lnSpc>
                <a:spcBef>
                  <a:spcPct val="0"/>
                </a:spcBef>
              </a:pPr>
              <a:r>
                <a:rPr lang="en-US" b="true" sz="1402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..</a:t>
              </a:r>
            </a:p>
          </p:txBody>
        </p:sp>
        <p:sp>
          <p:nvSpPr>
            <p:cNvPr name="AutoShape 72" id="72"/>
            <p:cNvSpPr/>
            <p:nvPr/>
          </p:nvSpPr>
          <p:spPr>
            <a:xfrm flipV="true">
              <a:off x="2285698" y="601475"/>
              <a:ext cx="313546" cy="195901"/>
            </a:xfrm>
            <a:prstGeom prst="line">
              <a:avLst/>
            </a:prstGeom>
            <a:ln cap="flat" w="1075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73" id="73"/>
            <p:cNvSpPr txBox="true"/>
            <p:nvPr/>
          </p:nvSpPr>
          <p:spPr>
            <a:xfrm rot="0">
              <a:off x="2609259" y="438664"/>
              <a:ext cx="143483" cy="23549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506"/>
                </a:lnSpc>
                <a:spcBef>
                  <a:spcPct val="0"/>
                </a:spcBef>
              </a:pPr>
              <a:r>
                <a:rPr lang="en-US" b="true" sz="1075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C</a:t>
              </a:r>
            </a:p>
          </p:txBody>
        </p:sp>
        <p:sp>
          <p:nvSpPr>
            <p:cNvPr name="AutoShape 74" id="74"/>
            <p:cNvSpPr/>
            <p:nvPr/>
          </p:nvSpPr>
          <p:spPr>
            <a:xfrm flipH="true">
              <a:off x="2691206" y="216446"/>
              <a:ext cx="0" cy="260821"/>
            </a:xfrm>
            <a:prstGeom prst="line">
              <a:avLst/>
            </a:prstGeom>
            <a:ln cap="flat" w="1075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75" id="75"/>
            <p:cNvSpPr/>
            <p:nvPr/>
          </p:nvSpPr>
          <p:spPr>
            <a:xfrm>
              <a:off x="2696581" y="658526"/>
              <a:ext cx="0" cy="260821"/>
            </a:xfrm>
            <a:prstGeom prst="line">
              <a:avLst/>
            </a:prstGeom>
            <a:ln cap="flat" w="1075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76" id="76"/>
            <p:cNvSpPr/>
            <p:nvPr/>
          </p:nvSpPr>
          <p:spPr>
            <a:xfrm flipH="true" flipV="true">
              <a:off x="2772617" y="565883"/>
              <a:ext cx="312462" cy="107"/>
            </a:xfrm>
            <a:prstGeom prst="line">
              <a:avLst/>
            </a:prstGeom>
            <a:ln cap="flat" w="14334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77" id="77"/>
            <p:cNvSpPr txBox="true"/>
            <p:nvPr/>
          </p:nvSpPr>
          <p:spPr>
            <a:xfrm rot="0">
              <a:off x="2619465" y="-19050"/>
              <a:ext cx="143483" cy="23549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506"/>
                </a:lnSpc>
                <a:spcBef>
                  <a:spcPct val="0"/>
                </a:spcBef>
              </a:pPr>
              <a:r>
                <a:rPr lang="en-US" b="true" sz="1075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H</a:t>
              </a:r>
            </a:p>
          </p:txBody>
        </p:sp>
        <p:sp>
          <p:nvSpPr>
            <p:cNvPr name="TextBox 78" id="78"/>
            <p:cNvSpPr txBox="true"/>
            <p:nvPr/>
          </p:nvSpPr>
          <p:spPr>
            <a:xfrm rot="0">
              <a:off x="3092249" y="424862"/>
              <a:ext cx="143483" cy="23549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506"/>
                </a:lnSpc>
                <a:spcBef>
                  <a:spcPct val="0"/>
                </a:spcBef>
              </a:pPr>
              <a:r>
                <a:rPr lang="en-US" b="true" sz="1075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H</a:t>
              </a:r>
            </a:p>
          </p:txBody>
        </p:sp>
        <p:sp>
          <p:nvSpPr>
            <p:cNvPr name="TextBox 79" id="79"/>
            <p:cNvSpPr txBox="true"/>
            <p:nvPr/>
          </p:nvSpPr>
          <p:spPr>
            <a:xfrm rot="0">
              <a:off x="2624840" y="862051"/>
              <a:ext cx="143483" cy="23549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506"/>
                </a:lnSpc>
                <a:spcBef>
                  <a:spcPct val="0"/>
                </a:spcBef>
              </a:pPr>
              <a:r>
                <a:rPr lang="en-US" b="true" sz="1075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H</a:t>
              </a:r>
            </a:p>
          </p:txBody>
        </p:sp>
        <p:sp>
          <p:nvSpPr>
            <p:cNvPr name="AutoShape 80" id="80"/>
            <p:cNvSpPr/>
            <p:nvPr/>
          </p:nvSpPr>
          <p:spPr>
            <a:xfrm>
              <a:off x="2702971" y="1260858"/>
              <a:ext cx="225877" cy="130410"/>
            </a:xfrm>
            <a:prstGeom prst="line">
              <a:avLst/>
            </a:prstGeom>
            <a:ln cap="flat" w="1075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81" id="81"/>
            <p:cNvSpPr txBox="true"/>
            <p:nvPr/>
          </p:nvSpPr>
          <p:spPr>
            <a:xfrm rot="0">
              <a:off x="2953037" y="1263996"/>
              <a:ext cx="143483" cy="23549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506"/>
                </a:lnSpc>
                <a:spcBef>
                  <a:spcPct val="0"/>
                </a:spcBef>
              </a:pPr>
              <a:r>
                <a:rPr lang="en-US" b="true" sz="1075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H</a:t>
              </a:r>
            </a:p>
          </p:txBody>
        </p:sp>
        <p:sp>
          <p:nvSpPr>
            <p:cNvPr name="TextBox 82" id="82"/>
            <p:cNvSpPr txBox="true"/>
            <p:nvPr/>
          </p:nvSpPr>
          <p:spPr>
            <a:xfrm rot="0">
              <a:off x="959472" y="665137"/>
              <a:ext cx="131064" cy="31075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963"/>
                </a:lnSpc>
                <a:spcBef>
                  <a:spcPct val="0"/>
                </a:spcBef>
              </a:pPr>
              <a:r>
                <a:rPr lang="en-US" b="true" sz="1402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..</a:t>
              </a:r>
            </a:p>
          </p:txBody>
        </p:sp>
        <p:sp>
          <p:nvSpPr>
            <p:cNvPr name="AutoShape 83" id="83"/>
            <p:cNvSpPr/>
            <p:nvPr/>
          </p:nvSpPr>
          <p:spPr>
            <a:xfrm flipV="true">
              <a:off x="2356898" y="1347755"/>
              <a:ext cx="245194" cy="271100"/>
            </a:xfrm>
            <a:prstGeom prst="line">
              <a:avLst/>
            </a:prstGeom>
            <a:ln cap="flat" w="1075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84" id="84"/>
            <p:cNvSpPr txBox="true"/>
            <p:nvPr/>
          </p:nvSpPr>
          <p:spPr>
            <a:xfrm rot="0">
              <a:off x="0" y="891107"/>
              <a:ext cx="143483" cy="23549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506"/>
                </a:lnSpc>
                <a:spcBef>
                  <a:spcPct val="0"/>
                </a:spcBef>
              </a:pPr>
              <a:r>
                <a:rPr lang="en-US" b="true" sz="1075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H</a:t>
              </a:r>
            </a:p>
          </p:txBody>
        </p:sp>
        <p:sp>
          <p:nvSpPr>
            <p:cNvPr name="TextBox 85" id="85"/>
            <p:cNvSpPr txBox="true"/>
            <p:nvPr/>
          </p:nvSpPr>
          <p:spPr>
            <a:xfrm rot="0">
              <a:off x="1353689" y="1344575"/>
              <a:ext cx="131064" cy="31075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963"/>
                </a:lnSpc>
                <a:spcBef>
                  <a:spcPct val="0"/>
                </a:spcBef>
              </a:pPr>
              <a:r>
                <a:rPr lang="en-US" b="true" sz="1402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..</a:t>
              </a:r>
            </a:p>
          </p:txBody>
        </p:sp>
        <p:sp>
          <p:nvSpPr>
            <p:cNvPr name="AutoShape 86" id="86"/>
            <p:cNvSpPr/>
            <p:nvPr/>
          </p:nvSpPr>
          <p:spPr>
            <a:xfrm>
              <a:off x="1428268" y="1797985"/>
              <a:ext cx="0" cy="260821"/>
            </a:xfrm>
            <a:prstGeom prst="line">
              <a:avLst/>
            </a:prstGeom>
            <a:ln cap="flat" w="1075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87" id="87"/>
            <p:cNvSpPr txBox="true"/>
            <p:nvPr/>
          </p:nvSpPr>
          <p:spPr>
            <a:xfrm rot="0">
              <a:off x="1347480" y="2021564"/>
              <a:ext cx="143483" cy="23549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506"/>
                </a:lnSpc>
                <a:spcBef>
                  <a:spcPct val="0"/>
                </a:spcBef>
              </a:pPr>
              <a:r>
                <a:rPr lang="en-US" b="true" sz="1075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C</a:t>
              </a:r>
            </a:p>
          </p:txBody>
        </p:sp>
        <p:sp>
          <p:nvSpPr>
            <p:cNvPr name="AutoShape 88" id="88"/>
            <p:cNvSpPr/>
            <p:nvPr/>
          </p:nvSpPr>
          <p:spPr>
            <a:xfrm flipH="true" flipV="true">
              <a:off x="1501715" y="2148784"/>
              <a:ext cx="312462" cy="107"/>
            </a:xfrm>
            <a:prstGeom prst="line">
              <a:avLst/>
            </a:prstGeom>
            <a:ln cap="flat" w="14334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89" id="89"/>
            <p:cNvSpPr/>
            <p:nvPr/>
          </p:nvSpPr>
          <p:spPr>
            <a:xfrm flipH="true" flipV="true">
              <a:off x="1024756" y="2148730"/>
              <a:ext cx="312462" cy="107"/>
            </a:xfrm>
            <a:prstGeom prst="line">
              <a:avLst/>
            </a:prstGeom>
            <a:ln cap="flat" w="14334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90" id="90"/>
            <p:cNvSpPr/>
            <p:nvPr/>
          </p:nvSpPr>
          <p:spPr>
            <a:xfrm>
              <a:off x="1428268" y="2257060"/>
              <a:ext cx="0" cy="260821"/>
            </a:xfrm>
            <a:prstGeom prst="line">
              <a:avLst/>
            </a:prstGeom>
            <a:ln cap="flat" w="1075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91" id="91"/>
            <p:cNvSpPr txBox="true"/>
            <p:nvPr/>
          </p:nvSpPr>
          <p:spPr>
            <a:xfrm rot="0">
              <a:off x="870521" y="2021618"/>
              <a:ext cx="143483" cy="23549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506"/>
                </a:lnSpc>
                <a:spcBef>
                  <a:spcPct val="0"/>
                </a:spcBef>
              </a:pPr>
              <a:r>
                <a:rPr lang="en-US" b="true" sz="1075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H</a:t>
              </a:r>
            </a:p>
          </p:txBody>
        </p:sp>
        <p:sp>
          <p:nvSpPr>
            <p:cNvPr name="TextBox 92" id="92"/>
            <p:cNvSpPr txBox="true"/>
            <p:nvPr/>
          </p:nvSpPr>
          <p:spPr>
            <a:xfrm rot="0">
              <a:off x="1840417" y="2021457"/>
              <a:ext cx="143483" cy="23549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506"/>
                </a:lnSpc>
                <a:spcBef>
                  <a:spcPct val="0"/>
                </a:spcBef>
              </a:pPr>
              <a:r>
                <a:rPr lang="en-US" b="true" sz="1075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H</a:t>
              </a:r>
            </a:p>
          </p:txBody>
        </p:sp>
        <p:sp>
          <p:nvSpPr>
            <p:cNvPr name="TextBox 93" id="93"/>
            <p:cNvSpPr txBox="true"/>
            <p:nvPr/>
          </p:nvSpPr>
          <p:spPr>
            <a:xfrm rot="0">
              <a:off x="1356526" y="2473974"/>
              <a:ext cx="143483" cy="23549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506"/>
                </a:lnSpc>
                <a:spcBef>
                  <a:spcPct val="0"/>
                </a:spcBef>
              </a:pPr>
              <a:r>
                <a:rPr lang="en-US" b="true" sz="1075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H</a:t>
              </a:r>
            </a:p>
          </p:txBody>
        </p:sp>
        <p:sp>
          <p:nvSpPr>
            <p:cNvPr name="TextBox 94" id="94"/>
            <p:cNvSpPr txBox="true"/>
            <p:nvPr/>
          </p:nvSpPr>
          <p:spPr>
            <a:xfrm rot="0">
              <a:off x="2188359" y="1491539"/>
              <a:ext cx="131064" cy="31075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963"/>
                </a:lnSpc>
                <a:spcBef>
                  <a:spcPct val="0"/>
                </a:spcBef>
              </a:pPr>
              <a:r>
                <a:rPr lang="en-US" b="true" sz="1402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..</a:t>
              </a:r>
            </a:p>
          </p:txBody>
        </p:sp>
      </p:grpSp>
      <p:sp>
        <p:nvSpPr>
          <p:cNvPr name="Freeform 95" id="95"/>
          <p:cNvSpPr/>
          <p:nvPr/>
        </p:nvSpPr>
        <p:spPr>
          <a:xfrm flipH="false" flipV="false" rot="0">
            <a:off x="6687993" y="4772977"/>
            <a:ext cx="1856599" cy="1856599"/>
          </a:xfrm>
          <a:custGeom>
            <a:avLst/>
            <a:gdLst/>
            <a:ahLst/>
            <a:cxnLst/>
            <a:rect r="r" b="b" t="t" l="l"/>
            <a:pathLst>
              <a:path h="1856599" w="1856599">
                <a:moveTo>
                  <a:pt x="0" y="0"/>
                </a:moveTo>
                <a:lnTo>
                  <a:pt x="1856599" y="0"/>
                </a:lnTo>
                <a:lnTo>
                  <a:pt x="1856599" y="1856599"/>
                </a:lnTo>
                <a:lnTo>
                  <a:pt x="0" y="185659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96" id="96"/>
          <p:cNvSpPr txBox="true"/>
          <p:nvPr/>
        </p:nvSpPr>
        <p:spPr>
          <a:xfrm rot="0">
            <a:off x="2293737" y="362256"/>
            <a:ext cx="6292932" cy="5629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61"/>
              </a:lnSpc>
              <a:spcBef>
                <a:spcPct val="0"/>
              </a:spcBef>
            </a:pPr>
            <a:r>
              <a:rPr lang="en-US" sz="3115">
                <a:solidFill>
                  <a:srgbClr val="FFFFFF"/>
                </a:solidFill>
                <a:latin typeface="Horizon"/>
                <a:ea typeface="Horizon"/>
                <a:cs typeface="Horizon"/>
                <a:sym typeface="Horizon"/>
              </a:rPr>
              <a:t>Card 10 - CAFFEINE</a:t>
            </a:r>
          </a:p>
        </p:txBody>
      </p:sp>
      <p:grpSp>
        <p:nvGrpSpPr>
          <p:cNvPr name="Group 97" id="97"/>
          <p:cNvGrpSpPr/>
          <p:nvPr/>
        </p:nvGrpSpPr>
        <p:grpSpPr>
          <a:xfrm rot="0">
            <a:off x="1268495" y="2358805"/>
            <a:ext cx="3806808" cy="898937"/>
            <a:chOff x="0" y="0"/>
            <a:chExt cx="5075743" cy="1198583"/>
          </a:xfrm>
        </p:grpSpPr>
        <p:sp>
          <p:nvSpPr>
            <p:cNvPr name="TextBox 98" id="98"/>
            <p:cNvSpPr txBox="true"/>
            <p:nvPr/>
          </p:nvSpPr>
          <p:spPr>
            <a:xfrm rot="0">
              <a:off x="0" y="-114300"/>
              <a:ext cx="4650032" cy="131288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8296"/>
                </a:lnSpc>
                <a:spcBef>
                  <a:spcPct val="0"/>
                </a:spcBef>
              </a:pPr>
              <a:r>
                <a:rPr lang="en-US" sz="5926">
                  <a:solidFill>
                    <a:srgbClr val="000000"/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C H  N O</a:t>
              </a:r>
            </a:p>
          </p:txBody>
        </p:sp>
        <p:sp>
          <p:nvSpPr>
            <p:cNvPr name="TextBox 99" id="99"/>
            <p:cNvSpPr txBox="true"/>
            <p:nvPr/>
          </p:nvSpPr>
          <p:spPr>
            <a:xfrm rot="0">
              <a:off x="672800" y="436797"/>
              <a:ext cx="579042" cy="76178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745"/>
                </a:lnSpc>
                <a:spcBef>
                  <a:spcPct val="0"/>
                </a:spcBef>
              </a:pPr>
              <a:r>
                <a:rPr lang="en-US" sz="3389">
                  <a:solidFill>
                    <a:srgbClr val="000000"/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8</a:t>
              </a:r>
            </a:p>
          </p:txBody>
        </p:sp>
        <p:sp>
          <p:nvSpPr>
            <p:cNvPr name="TextBox 100" id="100"/>
            <p:cNvSpPr txBox="true"/>
            <p:nvPr/>
          </p:nvSpPr>
          <p:spPr>
            <a:xfrm rot="0">
              <a:off x="1604730" y="436797"/>
              <a:ext cx="1330866" cy="76178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745"/>
                </a:lnSpc>
                <a:spcBef>
                  <a:spcPct val="0"/>
                </a:spcBef>
              </a:pPr>
              <a:r>
                <a:rPr lang="en-US" sz="3389">
                  <a:solidFill>
                    <a:srgbClr val="000000"/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10</a:t>
              </a:r>
            </a:p>
          </p:txBody>
        </p:sp>
        <p:sp>
          <p:nvSpPr>
            <p:cNvPr name="TextBox 101" id="101"/>
            <p:cNvSpPr txBox="true"/>
            <p:nvPr/>
          </p:nvSpPr>
          <p:spPr>
            <a:xfrm rot="0">
              <a:off x="4496701" y="418172"/>
              <a:ext cx="579042" cy="76178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745"/>
                </a:lnSpc>
                <a:spcBef>
                  <a:spcPct val="0"/>
                </a:spcBef>
              </a:pPr>
              <a:r>
                <a:rPr lang="en-US" sz="3389">
                  <a:solidFill>
                    <a:srgbClr val="000000"/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2</a:t>
              </a:r>
            </a:p>
          </p:txBody>
        </p:sp>
        <p:sp>
          <p:nvSpPr>
            <p:cNvPr name="TextBox 102" id="102"/>
            <p:cNvSpPr txBox="true"/>
            <p:nvPr/>
          </p:nvSpPr>
          <p:spPr>
            <a:xfrm rot="0">
              <a:off x="3349138" y="436797"/>
              <a:ext cx="579042" cy="76178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745"/>
                </a:lnSpc>
                <a:spcBef>
                  <a:spcPct val="0"/>
                </a:spcBef>
              </a:pPr>
              <a:r>
                <a:rPr lang="en-US" sz="3389">
                  <a:solidFill>
                    <a:srgbClr val="000000"/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4</a:t>
              </a:r>
            </a:p>
          </p:txBody>
        </p:sp>
      </p:grpSp>
      <p:grpSp>
        <p:nvGrpSpPr>
          <p:cNvPr name="Group 103" id="103"/>
          <p:cNvGrpSpPr/>
          <p:nvPr/>
        </p:nvGrpSpPr>
        <p:grpSpPr>
          <a:xfrm rot="0">
            <a:off x="645736" y="5122039"/>
            <a:ext cx="5052327" cy="1158475"/>
            <a:chOff x="0" y="0"/>
            <a:chExt cx="6736436" cy="1544634"/>
          </a:xfrm>
        </p:grpSpPr>
        <p:sp>
          <p:nvSpPr>
            <p:cNvPr name="TextBox 104" id="104"/>
            <p:cNvSpPr txBox="true"/>
            <p:nvPr/>
          </p:nvSpPr>
          <p:spPr>
            <a:xfrm rot="0">
              <a:off x="0" y="-133350"/>
              <a:ext cx="6736436" cy="167798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922"/>
                </a:lnSpc>
              </a:pPr>
              <a:r>
                <a:rPr lang="en-US" sz="3515">
                  <a:solidFill>
                    <a:srgbClr val="000000"/>
                  </a:solidFill>
                  <a:latin typeface="Impact"/>
                  <a:ea typeface="Impact"/>
                  <a:cs typeface="Impact"/>
                  <a:sym typeface="Impact"/>
                </a:rPr>
                <a:t>CH N(C=O)N(CH )</a:t>
              </a:r>
            </a:p>
            <a:p>
              <a:pPr algn="ctr">
                <a:lnSpc>
                  <a:spcPts val="4922"/>
                </a:lnSpc>
                <a:spcBef>
                  <a:spcPct val="0"/>
                </a:spcBef>
              </a:pPr>
              <a:r>
                <a:rPr lang="en-US" sz="3515">
                  <a:solidFill>
                    <a:srgbClr val="000000"/>
                  </a:solidFill>
                  <a:latin typeface="Impact"/>
                  <a:ea typeface="Impact"/>
                  <a:cs typeface="Impact"/>
                  <a:sym typeface="Impact"/>
                </a:rPr>
                <a:t>C(=O)C=CN(CH )C=N</a:t>
              </a:r>
            </a:p>
          </p:txBody>
        </p:sp>
        <p:sp>
          <p:nvSpPr>
            <p:cNvPr name="TextBox 105" id="105"/>
            <p:cNvSpPr txBox="true"/>
            <p:nvPr/>
          </p:nvSpPr>
          <p:spPr>
            <a:xfrm rot="0">
              <a:off x="2021577" y="206545"/>
              <a:ext cx="421330" cy="47867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719"/>
                </a:lnSpc>
                <a:spcBef>
                  <a:spcPct val="0"/>
                </a:spcBef>
              </a:pPr>
              <a:r>
                <a:rPr lang="en-US" sz="1942">
                  <a:solidFill>
                    <a:srgbClr val="000000"/>
                  </a:solidFill>
                  <a:latin typeface="Impact"/>
                  <a:ea typeface="Impact"/>
                  <a:cs typeface="Impact"/>
                  <a:sym typeface="Impact"/>
                </a:rPr>
                <a:t>3</a:t>
              </a:r>
            </a:p>
          </p:txBody>
        </p:sp>
        <p:sp>
          <p:nvSpPr>
            <p:cNvPr name="TextBox 106" id="106"/>
            <p:cNvSpPr txBox="true"/>
            <p:nvPr/>
          </p:nvSpPr>
          <p:spPr>
            <a:xfrm rot="0">
              <a:off x="4690361" y="216070"/>
              <a:ext cx="404615" cy="46298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71"/>
                </a:lnSpc>
                <a:spcBef>
                  <a:spcPct val="0"/>
                </a:spcBef>
              </a:pPr>
              <a:r>
                <a:rPr lang="en-US" sz="1908">
                  <a:solidFill>
                    <a:srgbClr val="000000"/>
                  </a:solidFill>
                  <a:latin typeface="Impact"/>
                  <a:ea typeface="Impact"/>
                  <a:cs typeface="Impact"/>
                  <a:sym typeface="Impact"/>
                </a:rPr>
                <a:t>3</a:t>
              </a:r>
            </a:p>
          </p:txBody>
        </p:sp>
        <p:sp>
          <p:nvSpPr>
            <p:cNvPr name="TextBox 107" id="107"/>
            <p:cNvSpPr txBox="true"/>
            <p:nvPr/>
          </p:nvSpPr>
          <p:spPr>
            <a:xfrm rot="0">
              <a:off x="4202705" y="1081645"/>
              <a:ext cx="404615" cy="46298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71"/>
                </a:lnSpc>
                <a:spcBef>
                  <a:spcPct val="0"/>
                </a:spcBef>
              </a:pPr>
              <a:r>
                <a:rPr lang="en-US" sz="1908">
                  <a:solidFill>
                    <a:srgbClr val="000000"/>
                  </a:solidFill>
                  <a:latin typeface="Impact"/>
                  <a:ea typeface="Impact"/>
                  <a:cs typeface="Impact"/>
                  <a:sym typeface="Impact"/>
                </a:rPr>
                <a:t>3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DAHX3JMUmHg</dc:identifier>
  <dcterms:modified xsi:type="dcterms:W3CDTF">2011-08-01T06:04:30Z</dcterms:modified>
  <cp:revision>1</cp:revision>
  <dc:title>002_molecule_representation_portfolio_himor</dc:title>
</cp:coreProperties>
</file>